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56" r:id="rId2"/>
    <p:sldId id="355" r:id="rId3"/>
    <p:sldId id="357" r:id="rId4"/>
    <p:sldId id="358" r:id="rId5"/>
    <p:sldId id="359" r:id="rId6"/>
    <p:sldId id="360" r:id="rId7"/>
    <p:sldId id="403" r:id="rId8"/>
    <p:sldId id="404" r:id="rId9"/>
    <p:sldId id="406" r:id="rId10"/>
    <p:sldId id="407" r:id="rId11"/>
    <p:sldId id="256" r:id="rId12"/>
    <p:sldId id="257" r:id="rId13"/>
    <p:sldId id="258" r:id="rId14"/>
    <p:sldId id="259" r:id="rId15"/>
    <p:sldId id="260" r:id="rId16"/>
    <p:sldId id="261" r:id="rId17"/>
    <p:sldId id="263" r:id="rId18"/>
    <p:sldId id="272" r:id="rId19"/>
    <p:sldId id="273" r:id="rId20"/>
    <p:sldId id="276" r:id="rId21"/>
    <p:sldId id="278" r:id="rId22"/>
    <p:sldId id="279" r:id="rId23"/>
    <p:sldId id="395" r:id="rId24"/>
    <p:sldId id="284" r:id="rId25"/>
    <p:sldId id="285" r:id="rId26"/>
    <p:sldId id="308" r:id="rId27"/>
    <p:sldId id="362" r:id="rId28"/>
    <p:sldId id="363" r:id="rId29"/>
    <p:sldId id="364" r:id="rId30"/>
    <p:sldId id="365" r:id="rId31"/>
    <p:sldId id="366" r:id="rId32"/>
    <p:sldId id="398" r:id="rId33"/>
    <p:sldId id="367" r:id="rId34"/>
    <p:sldId id="369" r:id="rId35"/>
    <p:sldId id="370" r:id="rId36"/>
    <p:sldId id="402" r:id="rId37"/>
    <p:sldId id="371" r:id="rId38"/>
    <p:sldId id="372" r:id="rId39"/>
    <p:sldId id="373" r:id="rId40"/>
    <p:sldId id="374" r:id="rId41"/>
    <p:sldId id="375" r:id="rId42"/>
    <p:sldId id="399" r:id="rId43"/>
    <p:sldId id="396" r:id="rId44"/>
    <p:sldId id="376" r:id="rId45"/>
    <p:sldId id="377" r:id="rId46"/>
    <p:sldId id="378" r:id="rId47"/>
    <p:sldId id="380" r:id="rId48"/>
    <p:sldId id="379" r:id="rId49"/>
    <p:sldId id="381" r:id="rId50"/>
    <p:sldId id="382" r:id="rId51"/>
    <p:sldId id="383" r:id="rId52"/>
    <p:sldId id="384" r:id="rId53"/>
    <p:sldId id="385" r:id="rId54"/>
    <p:sldId id="386" r:id="rId55"/>
    <p:sldId id="400" r:id="rId56"/>
    <p:sldId id="387" r:id="rId57"/>
    <p:sldId id="388" r:id="rId58"/>
    <p:sldId id="389" r:id="rId59"/>
    <p:sldId id="390" r:id="rId60"/>
    <p:sldId id="401" r:id="rId61"/>
    <p:sldId id="391" r:id="rId62"/>
    <p:sldId id="392" r:id="rId63"/>
    <p:sldId id="393" r:id="rId64"/>
    <p:sldId id="394" r:id="rId65"/>
    <p:sldId id="397" r:id="rId66"/>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648" y="5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74395" y="4699"/>
            <a:ext cx="7680325" cy="696595"/>
          </a:xfrm>
          <a:prstGeom prst="rect">
            <a:avLst/>
          </a:prstGeom>
        </p:spPr>
        <p:txBody>
          <a:bodyPr wrap="square" lIns="0" tIns="0" rIns="0" bIns="0">
            <a:spAutoFit/>
          </a:bodyPr>
          <a:lstStyle>
            <a:lvl1pPr>
              <a:defRPr sz="4400" b="0" i="0">
                <a:solidFill>
                  <a:srgbClr val="44526A"/>
                </a:solidFill>
                <a:latin typeface="Calibri Light"/>
                <a:cs typeface="Calibri Light"/>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44526A"/>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44526A"/>
                </a:solidFill>
                <a:latin typeface="Calibri Light"/>
                <a:cs typeface="Calibri Light"/>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12/17/2025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44526A"/>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12/17/2025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12/17/2025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689190" cy="6857999"/>
          </a:xfrm>
          <a:prstGeom prst="rect">
            <a:avLst/>
          </a:prstGeom>
        </p:spPr>
      </p:pic>
      <p:sp>
        <p:nvSpPr>
          <p:cNvPr id="17" name="bg object 17"/>
          <p:cNvSpPr/>
          <p:nvPr/>
        </p:nvSpPr>
        <p:spPr>
          <a:xfrm>
            <a:off x="0" y="0"/>
            <a:ext cx="11922760" cy="6858000"/>
          </a:xfrm>
          <a:custGeom>
            <a:avLst/>
            <a:gdLst/>
            <a:ahLst/>
            <a:cxnLst/>
            <a:rect l="l" t="t" r="r" b="b"/>
            <a:pathLst>
              <a:path w="11922760" h="6858000">
                <a:moveTo>
                  <a:pt x="11922760" y="0"/>
                </a:moveTo>
                <a:lnTo>
                  <a:pt x="0" y="0"/>
                </a:lnTo>
                <a:lnTo>
                  <a:pt x="0" y="6857998"/>
                </a:lnTo>
                <a:lnTo>
                  <a:pt x="11922760" y="6857999"/>
                </a:lnTo>
                <a:lnTo>
                  <a:pt x="11922760" y="0"/>
                </a:lnTo>
                <a:close/>
              </a:path>
            </a:pathLst>
          </a:custGeom>
          <a:solidFill>
            <a:srgbClr val="FFFFFF"/>
          </a:solidFill>
        </p:spPr>
        <p:txBody>
          <a:bodyPr wrap="square" lIns="0" tIns="0" rIns="0" bIns="0" rtlCol="0"/>
          <a:lstStyle/>
          <a:p>
            <a:endParaRPr/>
          </a:p>
        </p:txBody>
      </p:sp>
      <p:sp>
        <p:nvSpPr>
          <p:cNvPr id="18" name="bg object 18"/>
          <p:cNvSpPr/>
          <p:nvPr/>
        </p:nvSpPr>
        <p:spPr>
          <a:xfrm>
            <a:off x="0" y="4571999"/>
            <a:ext cx="279400" cy="2286000"/>
          </a:xfrm>
          <a:custGeom>
            <a:avLst/>
            <a:gdLst/>
            <a:ahLst/>
            <a:cxnLst/>
            <a:rect l="l" t="t" r="r" b="b"/>
            <a:pathLst>
              <a:path w="279400" h="2286000">
                <a:moveTo>
                  <a:pt x="279400" y="0"/>
                </a:moveTo>
                <a:lnTo>
                  <a:pt x="0" y="0"/>
                </a:lnTo>
                <a:lnTo>
                  <a:pt x="0" y="2286000"/>
                </a:lnTo>
                <a:lnTo>
                  <a:pt x="279400" y="2286000"/>
                </a:lnTo>
                <a:lnTo>
                  <a:pt x="279400" y="0"/>
                </a:lnTo>
                <a:close/>
              </a:path>
            </a:pathLst>
          </a:custGeom>
          <a:solidFill>
            <a:srgbClr val="6EAC46"/>
          </a:solidFill>
        </p:spPr>
        <p:txBody>
          <a:bodyPr wrap="square" lIns="0" tIns="0" rIns="0" bIns="0" rtlCol="0"/>
          <a:lstStyle/>
          <a:p>
            <a:endParaRPr/>
          </a:p>
        </p:txBody>
      </p:sp>
      <p:sp>
        <p:nvSpPr>
          <p:cNvPr id="19" name="bg object 19"/>
          <p:cNvSpPr/>
          <p:nvPr/>
        </p:nvSpPr>
        <p:spPr>
          <a:xfrm>
            <a:off x="0" y="2286000"/>
            <a:ext cx="279400" cy="2286000"/>
          </a:xfrm>
          <a:custGeom>
            <a:avLst/>
            <a:gdLst/>
            <a:ahLst/>
            <a:cxnLst/>
            <a:rect l="l" t="t" r="r" b="b"/>
            <a:pathLst>
              <a:path w="279400" h="2286000">
                <a:moveTo>
                  <a:pt x="279400" y="0"/>
                </a:moveTo>
                <a:lnTo>
                  <a:pt x="0" y="0"/>
                </a:lnTo>
                <a:lnTo>
                  <a:pt x="0" y="2286000"/>
                </a:lnTo>
                <a:lnTo>
                  <a:pt x="279400" y="2286000"/>
                </a:lnTo>
                <a:lnTo>
                  <a:pt x="279400" y="0"/>
                </a:lnTo>
                <a:close/>
              </a:path>
            </a:pathLst>
          </a:custGeom>
          <a:solidFill>
            <a:srgbClr val="FFC000"/>
          </a:solidFill>
        </p:spPr>
        <p:txBody>
          <a:bodyPr wrap="square" lIns="0" tIns="0" rIns="0" bIns="0" rtlCol="0"/>
          <a:lstStyle/>
          <a:p>
            <a:endParaRPr/>
          </a:p>
        </p:txBody>
      </p:sp>
      <p:sp>
        <p:nvSpPr>
          <p:cNvPr id="20" name="bg object 20"/>
          <p:cNvSpPr/>
          <p:nvPr/>
        </p:nvSpPr>
        <p:spPr>
          <a:xfrm>
            <a:off x="0" y="0"/>
            <a:ext cx="279400" cy="2286000"/>
          </a:xfrm>
          <a:custGeom>
            <a:avLst/>
            <a:gdLst/>
            <a:ahLst/>
            <a:cxnLst/>
            <a:rect l="l" t="t" r="r" b="b"/>
            <a:pathLst>
              <a:path w="279400" h="2286000">
                <a:moveTo>
                  <a:pt x="279400" y="0"/>
                </a:moveTo>
                <a:lnTo>
                  <a:pt x="0" y="0"/>
                </a:lnTo>
                <a:lnTo>
                  <a:pt x="0" y="2286000"/>
                </a:lnTo>
                <a:lnTo>
                  <a:pt x="279400" y="2286000"/>
                </a:lnTo>
                <a:lnTo>
                  <a:pt x="279400" y="0"/>
                </a:lnTo>
                <a:close/>
              </a:path>
            </a:pathLst>
          </a:custGeom>
          <a:solidFill>
            <a:srgbClr val="5B9BD3"/>
          </a:solidFill>
        </p:spPr>
        <p:txBody>
          <a:bodyPr wrap="square" lIns="0" tIns="0" rIns="0" bIns="0" rtlCol="0"/>
          <a:lstStyle/>
          <a:p>
            <a:endParaRPr/>
          </a:p>
        </p:txBody>
      </p:sp>
      <p:pic>
        <p:nvPicPr>
          <p:cNvPr id="21" name="bg object 21"/>
          <p:cNvPicPr/>
          <p:nvPr/>
        </p:nvPicPr>
        <p:blipFill>
          <a:blip r:embed="rId8" cstate="print"/>
          <a:stretch>
            <a:fillRect/>
          </a:stretch>
        </p:blipFill>
        <p:spPr>
          <a:xfrm>
            <a:off x="304800" y="0"/>
            <a:ext cx="147320" cy="6857997"/>
          </a:xfrm>
          <a:prstGeom prst="rect">
            <a:avLst/>
          </a:prstGeom>
        </p:spPr>
      </p:pic>
      <p:sp>
        <p:nvSpPr>
          <p:cNvPr id="2" name="Holder 2"/>
          <p:cNvSpPr>
            <a:spLocks noGrp="1"/>
          </p:cNvSpPr>
          <p:nvPr>
            <p:ph type="title"/>
          </p:nvPr>
        </p:nvSpPr>
        <p:spPr>
          <a:xfrm>
            <a:off x="361695" y="-36753"/>
            <a:ext cx="11337925" cy="750824"/>
          </a:xfrm>
          <a:prstGeom prst="rect">
            <a:avLst/>
          </a:prstGeom>
        </p:spPr>
        <p:txBody>
          <a:bodyPr wrap="square" lIns="0" tIns="0" rIns="0" bIns="0">
            <a:spAutoFit/>
          </a:bodyPr>
          <a:lstStyle>
            <a:lvl1pPr>
              <a:defRPr sz="4400" b="0" i="0">
                <a:solidFill>
                  <a:srgbClr val="44526A"/>
                </a:solidFill>
                <a:latin typeface="Calibri Light"/>
                <a:cs typeface="Calibri Light"/>
              </a:defRPr>
            </a:lvl1pPr>
          </a:lstStyle>
          <a:p>
            <a:endParaRPr/>
          </a:p>
        </p:txBody>
      </p:sp>
      <p:sp>
        <p:nvSpPr>
          <p:cNvPr id="3" name="Holder 3"/>
          <p:cNvSpPr>
            <a:spLocks noGrp="1"/>
          </p:cNvSpPr>
          <p:nvPr>
            <p:ph type="body" idx="1"/>
          </p:nvPr>
        </p:nvSpPr>
        <p:spPr>
          <a:xfrm>
            <a:off x="584403" y="1186941"/>
            <a:ext cx="11141710" cy="2586354"/>
          </a:xfrm>
          <a:prstGeom prst="rect">
            <a:avLst/>
          </a:prstGeom>
        </p:spPr>
        <p:txBody>
          <a:bodyPr wrap="square" lIns="0" tIns="0" rIns="0" bIns="0">
            <a:spAutoFit/>
          </a:bodyPr>
          <a:lstStyle>
            <a:lvl1pPr>
              <a:defRPr sz="24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12/17/2025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5.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569209" y="3538220"/>
            <a:ext cx="9157970" cy="300355"/>
            <a:chOff x="1569209" y="3538220"/>
            <a:chExt cx="9157970" cy="300355"/>
          </a:xfrm>
        </p:grpSpPr>
        <p:sp>
          <p:nvSpPr>
            <p:cNvPr id="3" name="object 3"/>
            <p:cNvSpPr/>
            <p:nvPr/>
          </p:nvSpPr>
          <p:spPr>
            <a:xfrm>
              <a:off x="1574799" y="3538220"/>
              <a:ext cx="3048000" cy="195580"/>
            </a:xfrm>
            <a:custGeom>
              <a:avLst/>
              <a:gdLst/>
              <a:ahLst/>
              <a:cxnLst/>
              <a:rect l="l" t="t" r="r" b="b"/>
              <a:pathLst>
                <a:path w="3048000" h="195579">
                  <a:moveTo>
                    <a:pt x="3048000" y="0"/>
                  </a:moveTo>
                  <a:lnTo>
                    <a:pt x="0" y="0"/>
                  </a:lnTo>
                  <a:lnTo>
                    <a:pt x="0" y="195579"/>
                  </a:lnTo>
                  <a:lnTo>
                    <a:pt x="3048000" y="195579"/>
                  </a:lnTo>
                  <a:lnTo>
                    <a:pt x="3048000" y="0"/>
                  </a:lnTo>
                  <a:close/>
                </a:path>
              </a:pathLst>
            </a:custGeom>
            <a:solidFill>
              <a:srgbClr val="5B9BD3"/>
            </a:solidFill>
          </p:spPr>
          <p:txBody>
            <a:bodyPr wrap="square" lIns="0" tIns="0" rIns="0" bIns="0" rtlCol="0"/>
            <a:lstStyle/>
            <a:p>
              <a:endParaRPr/>
            </a:p>
          </p:txBody>
        </p:sp>
        <p:pic>
          <p:nvPicPr>
            <p:cNvPr id="4" name="object 4"/>
            <p:cNvPicPr/>
            <p:nvPr/>
          </p:nvPicPr>
          <p:blipFill>
            <a:blip r:embed="rId2" cstate="print"/>
            <a:stretch>
              <a:fillRect/>
            </a:stretch>
          </p:blipFill>
          <p:spPr>
            <a:xfrm>
              <a:off x="1569209" y="3774452"/>
              <a:ext cx="9157464" cy="63625"/>
            </a:xfrm>
            <a:prstGeom prst="rect">
              <a:avLst/>
            </a:prstGeom>
          </p:spPr>
        </p:pic>
        <p:sp>
          <p:nvSpPr>
            <p:cNvPr id="5" name="object 5"/>
            <p:cNvSpPr/>
            <p:nvPr/>
          </p:nvSpPr>
          <p:spPr>
            <a:xfrm>
              <a:off x="4622799" y="3538220"/>
              <a:ext cx="3048000" cy="195580"/>
            </a:xfrm>
            <a:custGeom>
              <a:avLst/>
              <a:gdLst/>
              <a:ahLst/>
              <a:cxnLst/>
              <a:rect l="l" t="t" r="r" b="b"/>
              <a:pathLst>
                <a:path w="3048000" h="195579">
                  <a:moveTo>
                    <a:pt x="3048000" y="0"/>
                  </a:moveTo>
                  <a:lnTo>
                    <a:pt x="0" y="0"/>
                  </a:lnTo>
                  <a:lnTo>
                    <a:pt x="0" y="195579"/>
                  </a:lnTo>
                  <a:lnTo>
                    <a:pt x="3048000" y="195579"/>
                  </a:lnTo>
                  <a:lnTo>
                    <a:pt x="3048000" y="0"/>
                  </a:lnTo>
                  <a:close/>
                </a:path>
              </a:pathLst>
            </a:custGeom>
            <a:solidFill>
              <a:srgbClr val="FFC000"/>
            </a:solidFill>
          </p:spPr>
          <p:txBody>
            <a:bodyPr wrap="square" lIns="0" tIns="0" rIns="0" bIns="0" rtlCol="0"/>
            <a:lstStyle/>
            <a:p>
              <a:endParaRPr/>
            </a:p>
          </p:txBody>
        </p:sp>
        <p:sp>
          <p:nvSpPr>
            <p:cNvPr id="6" name="object 6"/>
            <p:cNvSpPr/>
            <p:nvPr/>
          </p:nvSpPr>
          <p:spPr>
            <a:xfrm>
              <a:off x="7670799" y="3538220"/>
              <a:ext cx="3048000" cy="195580"/>
            </a:xfrm>
            <a:custGeom>
              <a:avLst/>
              <a:gdLst/>
              <a:ahLst/>
              <a:cxnLst/>
              <a:rect l="l" t="t" r="r" b="b"/>
              <a:pathLst>
                <a:path w="3048000" h="195579">
                  <a:moveTo>
                    <a:pt x="3048000" y="0"/>
                  </a:moveTo>
                  <a:lnTo>
                    <a:pt x="0" y="0"/>
                  </a:lnTo>
                  <a:lnTo>
                    <a:pt x="0" y="195579"/>
                  </a:lnTo>
                  <a:lnTo>
                    <a:pt x="3048000" y="195579"/>
                  </a:lnTo>
                  <a:lnTo>
                    <a:pt x="3048000" y="0"/>
                  </a:lnTo>
                  <a:close/>
                </a:path>
              </a:pathLst>
            </a:custGeom>
            <a:solidFill>
              <a:srgbClr val="6EAC46"/>
            </a:solidFill>
          </p:spPr>
          <p:txBody>
            <a:bodyPr wrap="square" lIns="0" tIns="0" rIns="0" bIns="0" rtlCol="0"/>
            <a:lstStyle/>
            <a:p>
              <a:endParaRPr/>
            </a:p>
          </p:txBody>
        </p:sp>
      </p:grpSp>
      <p:sp>
        <p:nvSpPr>
          <p:cNvPr id="7" name="object 7"/>
          <p:cNvSpPr txBox="1"/>
          <p:nvPr/>
        </p:nvSpPr>
        <p:spPr>
          <a:xfrm>
            <a:off x="4357242" y="3761943"/>
            <a:ext cx="3185795" cy="940435"/>
          </a:xfrm>
          <a:prstGeom prst="rect">
            <a:avLst/>
          </a:prstGeom>
        </p:spPr>
        <p:txBody>
          <a:bodyPr vert="horz" wrap="square" lIns="0" tIns="12700" rIns="0" bIns="0" rtlCol="0">
            <a:spAutoFit/>
          </a:bodyPr>
          <a:lstStyle/>
          <a:p>
            <a:pPr marL="12700">
              <a:lnSpc>
                <a:spcPct val="100000"/>
              </a:lnSpc>
              <a:spcBef>
                <a:spcPts val="100"/>
              </a:spcBef>
            </a:pPr>
            <a:r>
              <a:rPr sz="6000" dirty="0" err="1">
                <a:solidFill>
                  <a:srgbClr val="44526A"/>
                </a:solidFill>
                <a:latin typeface="Calibri Light"/>
                <a:cs typeface="Calibri Light"/>
              </a:rPr>
              <a:t>Chapitre</a:t>
            </a:r>
            <a:r>
              <a:rPr sz="6000" spc="-145" dirty="0">
                <a:solidFill>
                  <a:srgbClr val="44526A"/>
                </a:solidFill>
                <a:latin typeface="Calibri Light"/>
                <a:cs typeface="Calibri Light"/>
              </a:rPr>
              <a:t> </a:t>
            </a:r>
            <a:r>
              <a:rPr lang="fr-FR" sz="6000" spc="-50" dirty="0">
                <a:solidFill>
                  <a:srgbClr val="44526A"/>
                </a:solidFill>
                <a:latin typeface="Calibri Light"/>
                <a:cs typeface="Calibri Light"/>
              </a:rPr>
              <a:t>1</a:t>
            </a:r>
            <a:endParaRPr sz="6000" dirty="0">
              <a:latin typeface="Calibri Light"/>
              <a:cs typeface="Calibri Light"/>
            </a:endParaRPr>
          </a:p>
        </p:txBody>
      </p:sp>
      <p:sp>
        <p:nvSpPr>
          <p:cNvPr id="8" name="object 8"/>
          <p:cNvSpPr txBox="1"/>
          <p:nvPr/>
        </p:nvSpPr>
        <p:spPr>
          <a:xfrm>
            <a:off x="1606041" y="4689094"/>
            <a:ext cx="10267315" cy="689932"/>
          </a:xfrm>
          <a:prstGeom prst="rect">
            <a:avLst/>
          </a:prstGeom>
        </p:spPr>
        <p:txBody>
          <a:bodyPr vert="horz" wrap="square" lIns="0" tIns="12700" rIns="0" bIns="0" rtlCol="0">
            <a:spAutoFit/>
          </a:bodyPr>
          <a:lstStyle/>
          <a:p>
            <a:pPr marL="12700" algn="l">
              <a:lnSpc>
                <a:spcPct val="100000"/>
              </a:lnSpc>
              <a:spcBef>
                <a:spcPts val="100"/>
              </a:spcBef>
            </a:pPr>
            <a:r>
              <a:rPr lang="fr-FR" sz="4400" dirty="0" smtClean="0">
                <a:solidFill>
                  <a:srgbClr val="44526A"/>
                </a:solidFill>
                <a:latin typeface="Calibri Light"/>
                <a:cs typeface="Calibri Light"/>
              </a:rPr>
              <a:t>		</a:t>
            </a:r>
            <a:r>
              <a:rPr lang="fr-FR" sz="4400" dirty="0" smtClean="0">
                <a:solidFill>
                  <a:srgbClr val="44526A"/>
                </a:solidFill>
                <a:latin typeface="Calibri Light" panose="020F0302020204030204" pitchFamily="34" charset="0"/>
                <a:cs typeface="Calibri Light" panose="020F0302020204030204" pitchFamily="34" charset="0"/>
              </a:rPr>
              <a:t>Introduction au </a:t>
            </a:r>
            <a:r>
              <a:rPr lang="fr-FR" sz="4400" dirty="0" err="1" smtClean="0">
                <a:solidFill>
                  <a:srgbClr val="44526A"/>
                </a:solidFill>
                <a:latin typeface="Calibri Light" panose="020F0302020204030204" pitchFamily="34" charset="0"/>
                <a:cs typeface="Calibri Light" panose="020F0302020204030204" pitchFamily="34" charset="0"/>
              </a:rPr>
              <a:t>DevOps</a:t>
            </a:r>
            <a:endParaRPr sz="4400" dirty="0">
              <a:latin typeface="Calibri Light" panose="020F0302020204030204" pitchFamily="34" charset="0"/>
              <a:cs typeface="Calibri Light" panose="020F0302020204030204" pitchFamily="34" charset="0"/>
            </a:endParaRPr>
          </a:p>
        </p:txBody>
      </p:sp>
      <p:pic>
        <p:nvPicPr>
          <p:cNvPr id="10" name="object 10"/>
          <p:cNvPicPr/>
          <p:nvPr/>
        </p:nvPicPr>
        <p:blipFill>
          <a:blip r:embed="rId3" cstate="print"/>
          <a:stretch>
            <a:fillRect/>
          </a:stretch>
        </p:blipFill>
        <p:spPr>
          <a:xfrm>
            <a:off x="4692585" y="5404403"/>
            <a:ext cx="2515107" cy="1264373"/>
          </a:xfrm>
          <a:prstGeom prst="rect">
            <a:avLst/>
          </a:prstGeom>
        </p:spPr>
      </p:pic>
      <p:pic>
        <p:nvPicPr>
          <p:cNvPr id="11" name="Image 10"/>
          <p:cNvPicPr>
            <a:picLocks noChangeAspect="1"/>
          </p:cNvPicPr>
          <p:nvPr/>
        </p:nvPicPr>
        <p:blipFill>
          <a:blip r:embed="rId4"/>
          <a:stretch>
            <a:fillRect/>
          </a:stretch>
        </p:blipFill>
        <p:spPr>
          <a:xfrm>
            <a:off x="2958612" y="142364"/>
            <a:ext cx="5983054" cy="2914650"/>
          </a:xfrm>
          <a:prstGeom prst="rect">
            <a:avLst/>
          </a:prstGeom>
        </p:spPr>
      </p:pic>
      <p:pic>
        <p:nvPicPr>
          <p:cNvPr id="12" name="Image 11"/>
          <p:cNvPicPr>
            <a:picLocks noChangeAspect="1"/>
          </p:cNvPicPr>
          <p:nvPr/>
        </p:nvPicPr>
        <p:blipFill>
          <a:blip r:embed="rId5"/>
          <a:stretch>
            <a:fillRect/>
          </a:stretch>
        </p:blipFill>
        <p:spPr>
          <a:xfrm>
            <a:off x="1569209" y="5553044"/>
            <a:ext cx="2294783" cy="917913"/>
          </a:xfrm>
          <a:prstGeom prst="rect">
            <a:avLst/>
          </a:prstGeom>
        </p:spPr>
      </p:pic>
      <p:pic>
        <p:nvPicPr>
          <p:cNvPr id="13" name="Image 12"/>
          <p:cNvPicPr>
            <a:picLocks noChangeAspect="1"/>
          </p:cNvPicPr>
          <p:nvPr/>
        </p:nvPicPr>
        <p:blipFill>
          <a:blip r:embed="rId6"/>
          <a:stretch>
            <a:fillRect/>
          </a:stretch>
        </p:blipFill>
        <p:spPr>
          <a:xfrm>
            <a:off x="8941666" y="5450801"/>
            <a:ext cx="1228725" cy="1171575"/>
          </a:xfrm>
          <a:prstGeom prst="rect">
            <a:avLst/>
          </a:prstGeom>
        </p:spPr>
      </p:pic>
    </p:spTree>
    <p:extLst>
      <p:ext uri="{BB962C8B-B14F-4D97-AF65-F5344CB8AC3E}">
        <p14:creationId xmlns:p14="http://schemas.microsoft.com/office/powerpoint/2010/main" val="370795898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lang="fr-FR" dirty="0" smtClean="0"/>
              <a:t>Effet Tunnel</a:t>
            </a:r>
            <a:endParaRPr spc="-10" dirty="0"/>
          </a:p>
        </p:txBody>
      </p:sp>
      <p:sp>
        <p:nvSpPr>
          <p:cNvPr id="3" name="object 3"/>
          <p:cNvSpPr txBox="1"/>
          <p:nvPr/>
        </p:nvSpPr>
        <p:spPr>
          <a:xfrm>
            <a:off x="520700" y="1034541"/>
            <a:ext cx="11410950" cy="1859483"/>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dirty="0" smtClean="0"/>
              <a:t>Au début des années 2000, les méthodes de développement traditionnelles, comme le cycle en V, souffraient d'un problème majeur : l'effet tunnel. Pendant des mois, les développeurs travaillaient sur un produit sans retour concret des clients, aboutissant souvent à des livrables qui ne correspondaient pas aux attentes réelles.</a:t>
            </a:r>
            <a:endParaRPr sz="2400" dirty="0">
              <a:latin typeface="Calibri"/>
              <a:cs typeface="Calibri"/>
            </a:endParaRPr>
          </a:p>
        </p:txBody>
      </p:sp>
      <p:pic>
        <p:nvPicPr>
          <p:cNvPr id="6" name="Image 5"/>
          <p:cNvPicPr>
            <a:picLocks noChangeAspect="1"/>
          </p:cNvPicPr>
          <p:nvPr/>
        </p:nvPicPr>
        <p:blipFill>
          <a:blip r:embed="rId2"/>
          <a:stretch>
            <a:fillRect/>
          </a:stretch>
        </p:blipFill>
        <p:spPr>
          <a:xfrm>
            <a:off x="685800" y="3228634"/>
            <a:ext cx="6094785" cy="2819400"/>
          </a:xfrm>
          <a:prstGeom prst="rect">
            <a:avLst/>
          </a:prstGeom>
        </p:spPr>
      </p:pic>
      <p:pic>
        <p:nvPicPr>
          <p:cNvPr id="7" name="Image 6"/>
          <p:cNvPicPr>
            <a:picLocks noChangeAspect="1"/>
          </p:cNvPicPr>
          <p:nvPr/>
        </p:nvPicPr>
        <p:blipFill>
          <a:blip r:embed="rId3"/>
          <a:stretch>
            <a:fillRect/>
          </a:stretch>
        </p:blipFill>
        <p:spPr>
          <a:xfrm>
            <a:off x="6934200" y="3066314"/>
            <a:ext cx="4441125" cy="3081195"/>
          </a:xfrm>
          <a:prstGeom prst="rect">
            <a:avLst/>
          </a:prstGeom>
        </p:spPr>
      </p:pic>
      <p:sp>
        <p:nvSpPr>
          <p:cNvPr id="8" name="ZoneTexte 7"/>
          <p:cNvSpPr txBox="1"/>
          <p:nvPr/>
        </p:nvSpPr>
        <p:spPr>
          <a:xfrm flipH="1">
            <a:off x="2247291" y="6278406"/>
            <a:ext cx="2971801" cy="461665"/>
          </a:xfrm>
          <a:prstGeom prst="rect">
            <a:avLst/>
          </a:prstGeom>
          <a:noFill/>
        </p:spPr>
        <p:txBody>
          <a:bodyPr wrap="square" rtlCol="0">
            <a:spAutoFit/>
          </a:bodyPr>
          <a:lstStyle/>
          <a:p>
            <a:r>
              <a:rPr lang="fr-FR" sz="2400" dirty="0" smtClean="0"/>
              <a:t>Modèle en cascade</a:t>
            </a:r>
            <a:endParaRPr lang="fr-FR" sz="2400" dirty="0"/>
          </a:p>
        </p:txBody>
      </p:sp>
      <p:sp>
        <p:nvSpPr>
          <p:cNvPr id="9" name="ZoneTexte 8"/>
          <p:cNvSpPr txBox="1"/>
          <p:nvPr/>
        </p:nvSpPr>
        <p:spPr>
          <a:xfrm flipH="1">
            <a:off x="8305800" y="6278407"/>
            <a:ext cx="2362200" cy="461665"/>
          </a:xfrm>
          <a:prstGeom prst="rect">
            <a:avLst/>
          </a:prstGeom>
          <a:noFill/>
        </p:spPr>
        <p:txBody>
          <a:bodyPr wrap="square" rtlCol="0">
            <a:spAutoFit/>
          </a:bodyPr>
          <a:lstStyle/>
          <a:p>
            <a:r>
              <a:rPr lang="fr-FR" sz="2400" dirty="0" smtClean="0"/>
              <a:t>Modèle en V</a:t>
            </a:r>
            <a:endParaRPr lang="fr-FR" sz="2400" dirty="0"/>
          </a:p>
        </p:txBody>
      </p:sp>
    </p:spTree>
    <p:extLst>
      <p:ext uri="{BB962C8B-B14F-4D97-AF65-F5344CB8AC3E}">
        <p14:creationId xmlns:p14="http://schemas.microsoft.com/office/powerpoint/2010/main" val="311862837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lang="fr-FR" dirty="0" smtClean="0"/>
              <a:t>Le Mouvement Agile</a:t>
            </a:r>
            <a:endParaRPr spc="-10" dirty="0"/>
          </a:p>
        </p:txBody>
      </p:sp>
      <p:sp>
        <p:nvSpPr>
          <p:cNvPr id="3" name="object 3"/>
          <p:cNvSpPr txBox="1"/>
          <p:nvPr/>
        </p:nvSpPr>
        <p:spPr>
          <a:xfrm>
            <a:off x="520700" y="1034541"/>
            <a:ext cx="11410950" cy="1490152"/>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dirty="0" smtClean="0"/>
              <a:t>Pour répondre à cette problématique, le mouvement Agile est apparu, notamment avec des méthodes comme </a:t>
            </a:r>
            <a:r>
              <a:rPr lang="fr-FR" sz="2400" dirty="0" err="1" smtClean="0"/>
              <a:t>Scrum</a:t>
            </a:r>
            <a:r>
              <a:rPr lang="fr-FR" sz="2400" dirty="0" smtClean="0"/>
              <a:t>, apportant des cycles de développement courts (sprints), des revues régulières et une meilleure collaboration entre les équipes métier et techniques.</a:t>
            </a:r>
            <a:endParaRPr sz="2400" dirty="0">
              <a:latin typeface="Calibri"/>
              <a:cs typeface="Calibri"/>
            </a:endParaRPr>
          </a:p>
        </p:txBody>
      </p:sp>
      <p:pic>
        <p:nvPicPr>
          <p:cNvPr id="4" name="Image 3"/>
          <p:cNvPicPr>
            <a:picLocks noChangeAspect="1"/>
          </p:cNvPicPr>
          <p:nvPr/>
        </p:nvPicPr>
        <p:blipFill>
          <a:blip r:embed="rId2"/>
          <a:stretch>
            <a:fillRect/>
          </a:stretch>
        </p:blipFill>
        <p:spPr>
          <a:xfrm>
            <a:off x="2057400" y="2667000"/>
            <a:ext cx="8470900" cy="3945449"/>
          </a:xfrm>
          <a:prstGeom prst="rect">
            <a:avLst/>
          </a:prstGeom>
        </p:spPr>
      </p:pic>
    </p:spTree>
    <p:extLst>
      <p:ext uri="{BB962C8B-B14F-4D97-AF65-F5344CB8AC3E}">
        <p14:creationId xmlns:p14="http://schemas.microsoft.com/office/powerpoint/2010/main" val="7914362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lang="fr-FR" dirty="0"/>
              <a:t>De l'Agile vers le </a:t>
            </a:r>
            <a:r>
              <a:rPr lang="fr-FR" dirty="0" err="1"/>
              <a:t>DevOps</a:t>
            </a:r>
            <a:endParaRPr spc="-10" dirty="0"/>
          </a:p>
        </p:txBody>
      </p:sp>
      <p:sp>
        <p:nvSpPr>
          <p:cNvPr id="3" name="object 3"/>
          <p:cNvSpPr txBox="1"/>
          <p:nvPr/>
        </p:nvSpPr>
        <p:spPr>
          <a:xfrm>
            <a:off x="520700" y="1034541"/>
            <a:ext cx="11410950" cy="1490152"/>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dirty="0" smtClean="0"/>
              <a:t>Cependant, même avec Agile, un fossé subsistait entre le développement (qui livrait rapidement des fonctionnalités) et les opérations (chargées du déploiement en production, souvent plus lentes pour garantir la stabilité). Ce désalignement ralentissait encore l'innovation.</a:t>
            </a:r>
            <a:endParaRPr sz="2400" dirty="0">
              <a:latin typeface="Calibri"/>
              <a:cs typeface="Calibri"/>
            </a:endParaRPr>
          </a:p>
        </p:txBody>
      </p:sp>
      <p:pic>
        <p:nvPicPr>
          <p:cNvPr id="5" name="Image 4"/>
          <p:cNvPicPr>
            <a:picLocks noChangeAspect="1"/>
          </p:cNvPicPr>
          <p:nvPr/>
        </p:nvPicPr>
        <p:blipFill>
          <a:blip r:embed="rId2"/>
          <a:stretch>
            <a:fillRect/>
          </a:stretch>
        </p:blipFill>
        <p:spPr>
          <a:xfrm>
            <a:off x="2989262" y="2743200"/>
            <a:ext cx="6473825" cy="3890374"/>
          </a:xfrm>
          <a:prstGeom prst="rect">
            <a:avLst/>
          </a:prstGeom>
        </p:spPr>
      </p:pic>
    </p:spTree>
    <p:extLst>
      <p:ext uri="{BB962C8B-B14F-4D97-AF65-F5344CB8AC3E}">
        <p14:creationId xmlns:p14="http://schemas.microsoft.com/office/powerpoint/2010/main" val="3657973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lang="fr-FR" dirty="0" smtClean="0"/>
              <a:t>La culture </a:t>
            </a:r>
            <a:r>
              <a:rPr lang="fr-FR" dirty="0" err="1" smtClean="0"/>
              <a:t>DevOps</a:t>
            </a:r>
            <a:endParaRPr spc="-10" dirty="0"/>
          </a:p>
        </p:txBody>
      </p:sp>
      <p:sp>
        <p:nvSpPr>
          <p:cNvPr id="3" name="object 3"/>
          <p:cNvSpPr txBox="1"/>
          <p:nvPr/>
        </p:nvSpPr>
        <p:spPr>
          <a:xfrm>
            <a:off x="520700" y="1034541"/>
            <a:ext cx="11410950" cy="1490152"/>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dirty="0" smtClean="0"/>
              <a:t>C'est dans ce contexte qu'est né </a:t>
            </a:r>
            <a:r>
              <a:rPr lang="fr-FR" sz="2400" dirty="0" err="1" smtClean="0"/>
              <a:t>DevOps</a:t>
            </a:r>
            <a:r>
              <a:rPr lang="fr-FR" sz="2400" dirty="0" smtClean="0"/>
              <a:t> : </a:t>
            </a:r>
            <a:r>
              <a:rPr lang="fr-FR" sz="2400" dirty="0" err="1" smtClean="0"/>
              <a:t>DevOps</a:t>
            </a:r>
            <a:r>
              <a:rPr lang="fr-FR" sz="2400" dirty="0" smtClean="0"/>
              <a:t> vise à aligner développement et opérations, en favorisant l'automatisation, la collaboration, l'intégration continue et le déploiement continu. L'objectif est clair : livrer plus rapidement des logiciels de qualité, tout en assurant leur fiabilité en production.</a:t>
            </a:r>
            <a:endParaRPr sz="2400" dirty="0">
              <a:latin typeface="Calibri"/>
              <a:cs typeface="Calibri"/>
            </a:endParaRPr>
          </a:p>
        </p:txBody>
      </p:sp>
      <p:pic>
        <p:nvPicPr>
          <p:cNvPr id="4" name="Image 3"/>
          <p:cNvPicPr>
            <a:picLocks noChangeAspect="1"/>
          </p:cNvPicPr>
          <p:nvPr/>
        </p:nvPicPr>
        <p:blipFill>
          <a:blip r:embed="rId2"/>
          <a:stretch>
            <a:fillRect/>
          </a:stretch>
        </p:blipFill>
        <p:spPr>
          <a:xfrm>
            <a:off x="3001707" y="2845163"/>
            <a:ext cx="6057900" cy="3688928"/>
          </a:xfrm>
          <a:prstGeom prst="rect">
            <a:avLst/>
          </a:prstGeom>
        </p:spPr>
      </p:pic>
    </p:spTree>
    <p:extLst>
      <p:ext uri="{BB962C8B-B14F-4D97-AF65-F5344CB8AC3E}">
        <p14:creationId xmlns:p14="http://schemas.microsoft.com/office/powerpoint/2010/main" val="82603840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1695" y="-36753"/>
            <a:ext cx="11337925" cy="731789"/>
          </a:xfrm>
          <a:prstGeom prst="rect">
            <a:avLst/>
          </a:prstGeom>
        </p:spPr>
        <p:txBody>
          <a:bodyPr vert="horz" wrap="square" lIns="0" tIns="54152" rIns="0" bIns="0" rtlCol="0">
            <a:spAutoFit/>
          </a:bodyPr>
          <a:lstStyle/>
          <a:p>
            <a:pPr marL="25400">
              <a:lnSpc>
                <a:spcPct val="100000"/>
              </a:lnSpc>
              <a:spcBef>
                <a:spcPts val="100"/>
              </a:spcBef>
            </a:pPr>
            <a:r>
              <a:rPr lang="fr-FR" dirty="0" smtClean="0"/>
              <a:t>Modèle </a:t>
            </a:r>
            <a:r>
              <a:rPr lang="fr-FR" dirty="0"/>
              <a:t>Cascade / Modèle V vs Agile / </a:t>
            </a:r>
            <a:r>
              <a:rPr lang="fr-FR" dirty="0" err="1"/>
              <a:t>DevOps</a:t>
            </a:r>
            <a:endParaRPr spc="-10" dirty="0"/>
          </a:p>
        </p:txBody>
      </p:sp>
      <p:graphicFrame>
        <p:nvGraphicFramePr>
          <p:cNvPr id="6" name="Tableau 5"/>
          <p:cNvGraphicFramePr>
            <a:graphicFrameLocks noGrp="1"/>
          </p:cNvGraphicFramePr>
          <p:nvPr>
            <p:extLst>
              <p:ext uri="{D42A27DB-BD31-4B8C-83A1-F6EECF244321}">
                <p14:modId xmlns:p14="http://schemas.microsoft.com/office/powerpoint/2010/main" val="583944854"/>
              </p:ext>
            </p:extLst>
          </p:nvPr>
        </p:nvGraphicFramePr>
        <p:xfrm>
          <a:off x="1447800" y="1524000"/>
          <a:ext cx="9525000" cy="4145280"/>
        </p:xfrm>
        <a:graphic>
          <a:graphicData uri="http://schemas.openxmlformats.org/drawingml/2006/table">
            <a:tbl>
              <a:tblPr firstRow="1" bandRow="1">
                <a:tableStyleId>{5C22544A-7EE6-4342-B048-85BDC9FD1C3A}</a:tableStyleId>
              </a:tblPr>
              <a:tblGrid>
                <a:gridCol w="1905000"/>
                <a:gridCol w="1905000"/>
                <a:gridCol w="1905000"/>
                <a:gridCol w="1905000"/>
                <a:gridCol w="1905000"/>
              </a:tblGrid>
              <a:tr h="701040">
                <a:tc>
                  <a:txBody>
                    <a:bodyPr/>
                    <a:lstStyle/>
                    <a:p>
                      <a:pPr algn="ctr"/>
                      <a:r>
                        <a:rPr lang="fr-FR" dirty="0" smtClean="0"/>
                        <a:t>Critère</a:t>
                      </a:r>
                      <a:endParaRPr lang="fr-FR" dirty="0"/>
                    </a:p>
                  </a:txBody>
                  <a:tcPr anchor="ctr"/>
                </a:tc>
                <a:tc>
                  <a:txBody>
                    <a:bodyPr/>
                    <a:lstStyle/>
                    <a:p>
                      <a:pPr algn="ctr"/>
                      <a:r>
                        <a:rPr lang="fr-FR" dirty="0" smtClean="0"/>
                        <a:t>Modèle Cascade</a:t>
                      </a:r>
                      <a:endParaRPr lang="fr-FR" dirty="0"/>
                    </a:p>
                  </a:txBody>
                  <a:tcPr anchor="ctr"/>
                </a:tc>
                <a:tc>
                  <a:txBody>
                    <a:bodyPr/>
                    <a:lstStyle/>
                    <a:p>
                      <a:pPr algn="ctr"/>
                      <a:r>
                        <a:rPr lang="fr-FR" dirty="0" smtClean="0"/>
                        <a:t>Modèle en</a:t>
                      </a:r>
                      <a:r>
                        <a:rPr lang="fr-FR" baseline="0" dirty="0" smtClean="0"/>
                        <a:t> V</a:t>
                      </a:r>
                      <a:endParaRPr lang="fr-FR" dirty="0"/>
                    </a:p>
                  </a:txBody>
                  <a:tcPr anchor="ctr"/>
                </a:tc>
                <a:tc>
                  <a:txBody>
                    <a:bodyPr/>
                    <a:lstStyle/>
                    <a:p>
                      <a:pPr algn="ctr"/>
                      <a:r>
                        <a:rPr lang="fr-FR" dirty="0" smtClean="0"/>
                        <a:t>Agile</a:t>
                      </a:r>
                      <a:endParaRPr lang="fr-FR" dirty="0"/>
                    </a:p>
                  </a:txBody>
                  <a:tcPr anchor="ctr"/>
                </a:tc>
                <a:tc>
                  <a:txBody>
                    <a:bodyPr/>
                    <a:lstStyle/>
                    <a:p>
                      <a:pPr algn="ctr"/>
                      <a:r>
                        <a:rPr lang="fr-FR" dirty="0" err="1" smtClean="0"/>
                        <a:t>DevOps</a:t>
                      </a:r>
                      <a:endParaRPr lang="fr-FR" dirty="0"/>
                    </a:p>
                  </a:txBody>
                  <a:tcPr anchor="ctr"/>
                </a:tc>
              </a:tr>
              <a:tr h="701040">
                <a:tc>
                  <a:txBody>
                    <a:bodyPr/>
                    <a:lstStyle/>
                    <a:p>
                      <a:pPr algn="ctr"/>
                      <a:r>
                        <a:rPr lang="fr-FR" dirty="0" smtClean="0"/>
                        <a:t>Gestion des changements</a:t>
                      </a:r>
                      <a:endParaRPr lang="fr-FR" dirty="0"/>
                    </a:p>
                  </a:txBody>
                  <a:tcPr anchor="ctr"/>
                </a:tc>
                <a:tc>
                  <a:txBody>
                    <a:bodyPr/>
                    <a:lstStyle/>
                    <a:p>
                      <a:r>
                        <a:rPr lang="fr-FR" dirty="0"/>
                        <a:t>Difficile, coûteuse</a:t>
                      </a:r>
                    </a:p>
                  </a:txBody>
                  <a:tcPr anchor="ctr"/>
                </a:tc>
                <a:tc>
                  <a:txBody>
                    <a:bodyPr/>
                    <a:lstStyle/>
                    <a:p>
                      <a:r>
                        <a:rPr lang="fr-FR" dirty="0" smtClean="0"/>
                        <a:t>Difficile</a:t>
                      </a:r>
                      <a:endParaRPr lang="fr-FR" dirty="0"/>
                    </a:p>
                  </a:txBody>
                  <a:tcPr/>
                </a:tc>
                <a:tc>
                  <a:txBody>
                    <a:bodyPr/>
                    <a:lstStyle/>
                    <a:p>
                      <a:r>
                        <a:rPr lang="fr-FR" dirty="0" smtClean="0"/>
                        <a:t>Facile et continue</a:t>
                      </a:r>
                      <a:endParaRPr lang="fr-FR" dirty="0"/>
                    </a:p>
                  </a:txBody>
                  <a:tcPr/>
                </a:tc>
                <a:tc>
                  <a:txBody>
                    <a:bodyPr/>
                    <a:lstStyle/>
                    <a:p>
                      <a:r>
                        <a:rPr lang="fr-FR" dirty="0" smtClean="0"/>
                        <a:t>Facile et automatisée</a:t>
                      </a:r>
                      <a:endParaRPr lang="fr-FR" dirty="0"/>
                    </a:p>
                  </a:txBody>
                  <a:tcPr/>
                </a:tc>
              </a:tr>
              <a:tr h="701040">
                <a:tc>
                  <a:txBody>
                    <a:bodyPr/>
                    <a:lstStyle/>
                    <a:p>
                      <a:pPr algn="ctr"/>
                      <a:r>
                        <a:rPr lang="fr-FR" dirty="0" smtClean="0"/>
                        <a:t>Livraison</a:t>
                      </a:r>
                      <a:endParaRPr lang="fr-FR" dirty="0"/>
                    </a:p>
                  </a:txBody>
                  <a:tcPr anchor="ctr"/>
                </a:tc>
                <a:tc>
                  <a:txBody>
                    <a:bodyPr/>
                    <a:lstStyle/>
                    <a:p>
                      <a:r>
                        <a:rPr lang="fr-FR" dirty="0" smtClean="0"/>
                        <a:t>Une seule livraison finale</a:t>
                      </a:r>
                      <a:endParaRPr lang="fr-FR" dirty="0"/>
                    </a:p>
                  </a:txBody>
                  <a:tcPr/>
                </a:tc>
                <a:tc>
                  <a:txBody>
                    <a:bodyPr/>
                    <a:lstStyle/>
                    <a:p>
                      <a:r>
                        <a:rPr lang="fr-FR" dirty="0" smtClean="0"/>
                        <a:t>Une seule livraison mais mieux testée</a:t>
                      </a:r>
                      <a:endParaRPr lang="fr-FR" dirty="0"/>
                    </a:p>
                  </a:txBody>
                  <a:tcPr/>
                </a:tc>
                <a:tc>
                  <a:txBody>
                    <a:bodyPr/>
                    <a:lstStyle/>
                    <a:p>
                      <a:r>
                        <a:rPr lang="fr-FR" dirty="0" smtClean="0"/>
                        <a:t>Livraisons fréquentes</a:t>
                      </a:r>
                      <a:endParaRPr lang="fr-FR" dirty="0"/>
                    </a:p>
                  </a:txBody>
                  <a:tcPr/>
                </a:tc>
                <a:tc>
                  <a:txBody>
                    <a:bodyPr/>
                    <a:lstStyle/>
                    <a:p>
                      <a:r>
                        <a:rPr lang="fr-FR" dirty="0" smtClean="0"/>
                        <a:t>Livraisons continues (CI/CD)</a:t>
                      </a:r>
                      <a:endParaRPr lang="fr-FR" dirty="0"/>
                    </a:p>
                  </a:txBody>
                  <a:tcPr/>
                </a:tc>
              </a:tr>
              <a:tr h="701040">
                <a:tc>
                  <a:txBody>
                    <a:bodyPr/>
                    <a:lstStyle/>
                    <a:p>
                      <a:pPr algn="ctr"/>
                      <a:r>
                        <a:rPr lang="fr-FR" dirty="0" smtClean="0"/>
                        <a:t>Feedback du client</a:t>
                      </a:r>
                      <a:endParaRPr lang="fr-FR" dirty="0"/>
                    </a:p>
                  </a:txBody>
                  <a:tcPr anchor="ctr"/>
                </a:tc>
                <a:tc>
                  <a:txBody>
                    <a:bodyPr/>
                    <a:lstStyle/>
                    <a:p>
                      <a:r>
                        <a:rPr lang="fr-FR" dirty="0" smtClean="0"/>
                        <a:t>Tardif (fin du projet)</a:t>
                      </a:r>
                      <a:endParaRPr lang="fr-FR" dirty="0"/>
                    </a:p>
                  </a:txBody>
                  <a:tcPr/>
                </a:tc>
                <a:tc>
                  <a:txBody>
                    <a:bodyPr/>
                    <a:lstStyle/>
                    <a:p>
                      <a:r>
                        <a:rPr lang="fr-FR" dirty="0" smtClean="0"/>
                        <a:t>Tardif mais validation par phase</a:t>
                      </a:r>
                      <a:endParaRPr lang="fr-FR" dirty="0"/>
                    </a:p>
                  </a:txBody>
                  <a:tcPr/>
                </a:tc>
                <a:tc>
                  <a:txBody>
                    <a:bodyPr/>
                    <a:lstStyle/>
                    <a:p>
                      <a:r>
                        <a:rPr lang="fr-FR" dirty="0" smtClean="0"/>
                        <a:t>Continu à chaque sprint</a:t>
                      </a:r>
                      <a:endParaRPr lang="fr-FR" dirty="0"/>
                    </a:p>
                  </a:txBody>
                  <a:tcPr/>
                </a:tc>
                <a:tc>
                  <a:txBody>
                    <a:bodyPr/>
                    <a:lstStyle/>
                    <a:p>
                      <a:r>
                        <a:rPr lang="fr-FR" dirty="0" smtClean="0"/>
                        <a:t>Continu via monitoring et releases</a:t>
                      </a:r>
                      <a:endParaRPr lang="fr-FR" dirty="0"/>
                    </a:p>
                  </a:txBody>
                  <a:tcPr/>
                </a:tc>
              </a:tr>
              <a:tr h="701040">
                <a:tc>
                  <a:txBody>
                    <a:bodyPr/>
                    <a:lstStyle/>
                    <a:p>
                      <a:pPr algn="ctr"/>
                      <a:r>
                        <a:rPr lang="fr-FR" dirty="0" smtClean="0"/>
                        <a:t>Collaboration des équipes</a:t>
                      </a:r>
                      <a:endParaRPr lang="fr-FR" dirty="0"/>
                    </a:p>
                  </a:txBody>
                  <a:tcPr anchor="ctr"/>
                </a:tc>
                <a:tc>
                  <a:txBody>
                    <a:bodyPr/>
                    <a:lstStyle/>
                    <a:p>
                      <a:r>
                        <a:rPr lang="fr-FR" dirty="0" smtClean="0"/>
                        <a:t>Équipes en silos</a:t>
                      </a:r>
                      <a:endParaRPr lang="fr-FR" dirty="0"/>
                    </a:p>
                  </a:txBody>
                  <a:tcPr/>
                </a:tc>
                <a:tc>
                  <a:txBody>
                    <a:bodyPr/>
                    <a:lstStyle/>
                    <a:p>
                      <a:r>
                        <a:rPr lang="fr-FR" dirty="0" smtClean="0"/>
                        <a:t>Silos mais synchronisation tests → </a:t>
                      </a:r>
                      <a:r>
                        <a:rPr lang="fr-FR" dirty="0" err="1" smtClean="0"/>
                        <a:t>dev</a:t>
                      </a:r>
                      <a:endParaRPr lang="fr-FR" dirty="0"/>
                    </a:p>
                  </a:txBody>
                  <a:tcPr/>
                </a:tc>
                <a:tc>
                  <a:txBody>
                    <a:bodyPr/>
                    <a:lstStyle/>
                    <a:p>
                      <a:r>
                        <a:rPr lang="fr-FR" dirty="0" smtClean="0"/>
                        <a:t>Collaboration forte</a:t>
                      </a:r>
                      <a:endParaRPr lang="fr-FR" dirty="0"/>
                    </a:p>
                  </a:txBody>
                  <a:tcPr/>
                </a:tc>
                <a:tc>
                  <a:txBody>
                    <a:bodyPr/>
                    <a:lstStyle/>
                    <a:p>
                      <a:r>
                        <a:rPr lang="fr-FR" dirty="0" smtClean="0"/>
                        <a:t>Collaboration Dev + </a:t>
                      </a:r>
                      <a:r>
                        <a:rPr lang="fr-FR" dirty="0" err="1" smtClean="0"/>
                        <a:t>Ops</a:t>
                      </a:r>
                      <a:r>
                        <a:rPr lang="fr-FR" dirty="0" smtClean="0"/>
                        <a:t> + QA</a:t>
                      </a:r>
                      <a:endParaRPr lang="fr-FR" dirty="0"/>
                    </a:p>
                  </a:txBody>
                  <a:tcPr/>
                </a:tc>
              </a:tr>
            </a:tbl>
          </a:graphicData>
        </a:graphic>
      </p:graphicFrame>
      <p:sp>
        <p:nvSpPr>
          <p:cNvPr id="4" name="object 2"/>
          <p:cNvSpPr txBox="1">
            <a:spLocks/>
          </p:cNvSpPr>
          <p:nvPr/>
        </p:nvSpPr>
        <p:spPr>
          <a:xfrm>
            <a:off x="381000" y="0"/>
            <a:ext cx="11337925" cy="731789"/>
          </a:xfrm>
          <a:prstGeom prst="rect">
            <a:avLst/>
          </a:prstGeom>
        </p:spPr>
        <p:txBody>
          <a:bodyPr vert="horz" wrap="square" lIns="0" tIns="54152" rIns="0" bIns="0" rtlCol="0">
            <a:spAutoFit/>
          </a:bodyPr>
          <a:lstStyle>
            <a:lvl1pPr>
              <a:defRPr sz="4400" b="0" i="0">
                <a:solidFill>
                  <a:srgbClr val="44526A"/>
                </a:solidFill>
                <a:latin typeface="Calibri Light"/>
                <a:ea typeface="+mj-ea"/>
                <a:cs typeface="Calibri Light"/>
              </a:defRPr>
            </a:lvl1pPr>
          </a:lstStyle>
          <a:p>
            <a:pPr marL="25400">
              <a:spcBef>
                <a:spcPts val="100"/>
              </a:spcBef>
            </a:pPr>
            <a:r>
              <a:rPr lang="fr-FR" smtClean="0"/>
              <a:t>Modèle Cascade / Modèle V vs Agile / DevOps</a:t>
            </a:r>
            <a:endParaRPr lang="fr-FR" spc="-10" dirty="0"/>
          </a:p>
        </p:txBody>
      </p:sp>
    </p:spTree>
    <p:extLst>
      <p:ext uri="{BB962C8B-B14F-4D97-AF65-F5344CB8AC3E}">
        <p14:creationId xmlns:p14="http://schemas.microsoft.com/office/powerpoint/2010/main" val="304455069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p:cNvPicPr>
            <a:picLocks noChangeAspect="1"/>
          </p:cNvPicPr>
          <p:nvPr/>
        </p:nvPicPr>
        <p:blipFill>
          <a:blip r:embed="rId2"/>
          <a:stretch>
            <a:fillRect/>
          </a:stretch>
        </p:blipFill>
        <p:spPr>
          <a:xfrm>
            <a:off x="3810000" y="99064"/>
            <a:ext cx="4243934" cy="2067436"/>
          </a:xfrm>
          <a:prstGeom prst="rect">
            <a:avLst/>
          </a:prstGeom>
        </p:spPr>
      </p:pic>
      <p:sp>
        <p:nvSpPr>
          <p:cNvPr id="7" name="object 3"/>
          <p:cNvSpPr txBox="1"/>
          <p:nvPr/>
        </p:nvSpPr>
        <p:spPr>
          <a:xfrm>
            <a:off x="554610" y="2192431"/>
            <a:ext cx="11410950" cy="764312"/>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dirty="0" smtClean="0">
                <a:solidFill>
                  <a:schemeClr val="accent1"/>
                </a:solidFill>
              </a:rPr>
              <a:t>Plan:</a:t>
            </a:r>
            <a:r>
              <a:rPr lang="fr-FR" sz="2400" dirty="0" smtClean="0"/>
              <a:t> définir les besoins, fonctionnalités, tâches et roadmap du projet </a:t>
            </a:r>
          </a:p>
          <a:p>
            <a:pPr marL="12700" marR="5080">
              <a:lnSpc>
                <a:spcPct val="100000"/>
              </a:lnSpc>
              <a:spcBef>
                <a:spcPts val="100"/>
              </a:spcBef>
              <a:tabLst>
                <a:tab pos="355600" algn="l"/>
              </a:tabLst>
            </a:pPr>
            <a:r>
              <a:rPr lang="fr-FR" sz="2400" dirty="0" smtClean="0"/>
              <a:t>		   </a:t>
            </a:r>
            <a:r>
              <a:rPr lang="fr-FR" sz="2400" dirty="0" smtClean="0">
                <a:solidFill>
                  <a:schemeClr val="accent2">
                    <a:lumMod val="75000"/>
                  </a:schemeClr>
                </a:solidFill>
              </a:rPr>
              <a:t>outils:</a:t>
            </a:r>
            <a:r>
              <a:rPr lang="fr-FR" sz="2400" dirty="0" smtClean="0"/>
              <a:t> </a:t>
            </a:r>
            <a:r>
              <a:rPr lang="fr-FR" sz="2400" dirty="0" err="1" smtClean="0"/>
              <a:t>Jira,Projets</a:t>
            </a:r>
            <a:r>
              <a:rPr lang="fr-FR" sz="2400" dirty="0" smtClean="0"/>
              <a:t> </a:t>
            </a:r>
            <a:r>
              <a:rPr lang="fr-FR" sz="2400" dirty="0" err="1" smtClean="0"/>
              <a:t>github</a:t>
            </a:r>
            <a:r>
              <a:rPr lang="fr-FR" sz="2400" dirty="0" smtClean="0"/>
              <a:t>.</a:t>
            </a:r>
            <a:endParaRPr sz="2400" dirty="0">
              <a:latin typeface="Calibri"/>
              <a:cs typeface="Calibri"/>
            </a:endParaRPr>
          </a:p>
        </p:txBody>
      </p:sp>
      <p:sp>
        <p:nvSpPr>
          <p:cNvPr id="8" name="object 3"/>
          <p:cNvSpPr txBox="1"/>
          <p:nvPr/>
        </p:nvSpPr>
        <p:spPr>
          <a:xfrm>
            <a:off x="554610" y="3039315"/>
            <a:ext cx="11410950" cy="764312"/>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dirty="0" smtClean="0">
                <a:solidFill>
                  <a:schemeClr val="accent1"/>
                </a:solidFill>
              </a:rPr>
              <a:t>Code:</a:t>
            </a:r>
            <a:r>
              <a:rPr lang="fr-FR" sz="2400" dirty="0" smtClean="0"/>
              <a:t> écrire le code source du projet </a:t>
            </a:r>
          </a:p>
          <a:p>
            <a:pPr marL="12700" marR="5080">
              <a:lnSpc>
                <a:spcPct val="100000"/>
              </a:lnSpc>
              <a:spcBef>
                <a:spcPts val="100"/>
              </a:spcBef>
              <a:tabLst>
                <a:tab pos="355600" algn="l"/>
              </a:tabLst>
            </a:pPr>
            <a:r>
              <a:rPr lang="fr-FR" sz="2400" dirty="0" smtClean="0"/>
              <a:t>		   </a:t>
            </a:r>
            <a:r>
              <a:rPr lang="fr-FR" sz="2400" dirty="0" smtClean="0">
                <a:solidFill>
                  <a:schemeClr val="accent2">
                    <a:lumMod val="75000"/>
                  </a:schemeClr>
                </a:solidFill>
              </a:rPr>
              <a:t>outils:</a:t>
            </a:r>
            <a:r>
              <a:rPr lang="fr-FR" sz="2400" dirty="0" smtClean="0"/>
              <a:t> </a:t>
            </a:r>
            <a:r>
              <a:rPr lang="fr-FR" sz="2400" dirty="0" err="1" smtClean="0"/>
              <a:t>Java,C,C</a:t>
            </a:r>
            <a:r>
              <a:rPr lang="fr-FR" sz="2400" dirty="0" smtClean="0"/>
              <a:t>++...</a:t>
            </a:r>
            <a:endParaRPr sz="2400" dirty="0">
              <a:latin typeface="Calibri"/>
              <a:cs typeface="Calibri"/>
            </a:endParaRPr>
          </a:p>
        </p:txBody>
      </p:sp>
      <p:sp>
        <p:nvSpPr>
          <p:cNvPr id="9" name="object 3"/>
          <p:cNvSpPr txBox="1"/>
          <p:nvPr/>
        </p:nvSpPr>
        <p:spPr>
          <a:xfrm>
            <a:off x="554610" y="3886200"/>
            <a:ext cx="11410950" cy="1133644"/>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dirty="0" err="1" smtClean="0">
                <a:solidFill>
                  <a:schemeClr val="accent1"/>
                </a:solidFill>
              </a:rPr>
              <a:t>Build</a:t>
            </a:r>
            <a:r>
              <a:rPr lang="fr-FR" sz="2400" dirty="0" smtClean="0">
                <a:solidFill>
                  <a:schemeClr val="accent1"/>
                </a:solidFill>
              </a:rPr>
              <a:t>:</a:t>
            </a:r>
            <a:r>
              <a:rPr lang="fr-FR" sz="2400" dirty="0" smtClean="0"/>
              <a:t> générer les fichiers exécutables(</a:t>
            </a:r>
            <a:r>
              <a:rPr lang="fr-FR" sz="2400" dirty="0" err="1" smtClean="0"/>
              <a:t>artifact</a:t>
            </a:r>
            <a:r>
              <a:rPr lang="fr-FR" sz="2400" dirty="0" smtClean="0"/>
              <a:t>) c’est-à-dire packager l’application avec ses dépendances.</a:t>
            </a:r>
          </a:p>
          <a:p>
            <a:pPr marL="12700" marR="5080">
              <a:lnSpc>
                <a:spcPct val="100000"/>
              </a:lnSpc>
              <a:spcBef>
                <a:spcPts val="100"/>
              </a:spcBef>
              <a:tabLst>
                <a:tab pos="355600" algn="l"/>
              </a:tabLst>
            </a:pPr>
            <a:r>
              <a:rPr lang="fr-FR" sz="2400" dirty="0" smtClean="0"/>
              <a:t>              </a:t>
            </a:r>
            <a:r>
              <a:rPr lang="fr-FR" sz="2400" dirty="0" smtClean="0">
                <a:solidFill>
                  <a:schemeClr val="accent2">
                    <a:lumMod val="75000"/>
                  </a:schemeClr>
                </a:solidFill>
              </a:rPr>
              <a:t>outils:</a:t>
            </a:r>
            <a:r>
              <a:rPr lang="fr-FR" sz="2400" dirty="0" smtClean="0"/>
              <a:t> </a:t>
            </a:r>
            <a:r>
              <a:rPr lang="fr-FR" sz="2400" dirty="0" err="1" smtClean="0"/>
              <a:t>maven,gradle</a:t>
            </a:r>
            <a:r>
              <a:rPr lang="fr-FR" sz="2400" dirty="0" smtClean="0"/>
              <a:t>…</a:t>
            </a:r>
            <a:endParaRPr sz="2400" dirty="0">
              <a:latin typeface="Calibri"/>
              <a:cs typeface="Calibri"/>
            </a:endParaRPr>
          </a:p>
        </p:txBody>
      </p:sp>
      <p:sp>
        <p:nvSpPr>
          <p:cNvPr id="10" name="object 3"/>
          <p:cNvSpPr txBox="1"/>
          <p:nvPr/>
        </p:nvSpPr>
        <p:spPr>
          <a:xfrm>
            <a:off x="582104" y="5145611"/>
            <a:ext cx="11609895" cy="764312"/>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dirty="0" smtClean="0">
                <a:solidFill>
                  <a:schemeClr val="accent1"/>
                </a:solidFill>
              </a:rPr>
              <a:t>Test: </a:t>
            </a:r>
            <a:r>
              <a:rPr lang="fr-FR" sz="2400" dirty="0" smtClean="0"/>
              <a:t>valider le code automatiquement pour détecter les erreurs.</a:t>
            </a:r>
          </a:p>
          <a:p>
            <a:pPr marL="12700" marR="5080">
              <a:lnSpc>
                <a:spcPct val="100000"/>
              </a:lnSpc>
              <a:spcBef>
                <a:spcPts val="100"/>
              </a:spcBef>
              <a:tabLst>
                <a:tab pos="355600" algn="l"/>
              </a:tabLst>
            </a:pPr>
            <a:r>
              <a:rPr lang="fr-FR" sz="2400" dirty="0" smtClean="0"/>
              <a:t>	         </a:t>
            </a:r>
            <a:r>
              <a:rPr lang="fr-FR" sz="2400" dirty="0" smtClean="0">
                <a:solidFill>
                  <a:schemeClr val="accent2">
                    <a:lumMod val="75000"/>
                  </a:schemeClr>
                </a:solidFill>
              </a:rPr>
              <a:t>outils:</a:t>
            </a:r>
            <a:r>
              <a:rPr lang="fr-FR" sz="2400" dirty="0" smtClean="0"/>
              <a:t> </a:t>
            </a:r>
            <a:r>
              <a:rPr lang="fr-FR" sz="2400" dirty="0" err="1" smtClean="0"/>
              <a:t>Junit,Sélénium</a:t>
            </a:r>
            <a:r>
              <a:rPr lang="fr-FR" sz="2400" dirty="0" smtClean="0"/>
              <a:t>…</a:t>
            </a:r>
            <a:endParaRPr sz="2400" dirty="0">
              <a:latin typeface="Calibri"/>
              <a:cs typeface="Calibri"/>
            </a:endParaRPr>
          </a:p>
        </p:txBody>
      </p:sp>
      <p:sp>
        <p:nvSpPr>
          <p:cNvPr id="11" name="object 3"/>
          <p:cNvSpPr txBox="1"/>
          <p:nvPr/>
        </p:nvSpPr>
        <p:spPr>
          <a:xfrm>
            <a:off x="566394" y="5909923"/>
            <a:ext cx="11609895" cy="764312"/>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dirty="0" smtClean="0">
                <a:solidFill>
                  <a:schemeClr val="accent1"/>
                </a:solidFill>
              </a:rPr>
              <a:t>Release: </a:t>
            </a:r>
            <a:r>
              <a:rPr lang="fr-FR" sz="2400" dirty="0" smtClean="0"/>
              <a:t>approuver et préparer les artefacts pour la production.</a:t>
            </a:r>
          </a:p>
          <a:p>
            <a:pPr marL="12700" marR="5080">
              <a:lnSpc>
                <a:spcPct val="100000"/>
              </a:lnSpc>
              <a:spcBef>
                <a:spcPts val="100"/>
              </a:spcBef>
              <a:tabLst>
                <a:tab pos="355600" algn="l"/>
              </a:tabLst>
            </a:pPr>
            <a:r>
              <a:rPr lang="fr-FR" sz="2400" dirty="0" smtClean="0"/>
              <a:t>		   </a:t>
            </a:r>
            <a:r>
              <a:rPr lang="fr-FR" sz="2400" dirty="0" smtClean="0">
                <a:solidFill>
                  <a:schemeClr val="accent2">
                    <a:lumMod val="75000"/>
                  </a:schemeClr>
                </a:solidFill>
              </a:rPr>
              <a:t>outils: </a:t>
            </a:r>
            <a:r>
              <a:rPr lang="fr-FR" sz="2400" dirty="0" err="1" smtClean="0"/>
              <a:t>artifactory,nexus</a:t>
            </a:r>
            <a:r>
              <a:rPr lang="fr-FR" sz="2400" dirty="0" smtClean="0"/>
              <a:t>…</a:t>
            </a:r>
            <a:endParaRPr sz="2400" dirty="0">
              <a:latin typeface="Calibri"/>
              <a:cs typeface="Calibri"/>
            </a:endParaRPr>
          </a:p>
        </p:txBody>
      </p:sp>
    </p:spTree>
    <p:extLst>
      <p:ext uri="{BB962C8B-B14F-4D97-AF65-F5344CB8AC3E}">
        <p14:creationId xmlns:p14="http://schemas.microsoft.com/office/powerpoint/2010/main" val="102598617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p:cNvPicPr>
            <a:picLocks noChangeAspect="1"/>
          </p:cNvPicPr>
          <p:nvPr/>
        </p:nvPicPr>
        <p:blipFill>
          <a:blip r:embed="rId2"/>
          <a:stretch>
            <a:fillRect/>
          </a:stretch>
        </p:blipFill>
        <p:spPr>
          <a:xfrm>
            <a:off x="3810000" y="304800"/>
            <a:ext cx="4243934" cy="2067436"/>
          </a:xfrm>
          <a:prstGeom prst="rect">
            <a:avLst/>
          </a:prstGeom>
        </p:spPr>
      </p:pic>
      <p:sp>
        <p:nvSpPr>
          <p:cNvPr id="7" name="object 3"/>
          <p:cNvSpPr txBox="1"/>
          <p:nvPr/>
        </p:nvSpPr>
        <p:spPr>
          <a:xfrm>
            <a:off x="490194" y="4114800"/>
            <a:ext cx="11410950" cy="764312"/>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dirty="0" err="1" smtClean="0">
                <a:solidFill>
                  <a:schemeClr val="accent1"/>
                </a:solidFill>
              </a:rPr>
              <a:t>Operate</a:t>
            </a:r>
            <a:r>
              <a:rPr lang="fr-FR" sz="2400" dirty="0" smtClean="0">
                <a:solidFill>
                  <a:schemeClr val="accent1"/>
                </a:solidFill>
              </a:rPr>
              <a:t>:</a:t>
            </a:r>
            <a:r>
              <a:rPr lang="fr-FR" sz="2400" dirty="0" smtClean="0"/>
              <a:t> faire fonctionner l’application en production et gérer l’infrastructure.</a:t>
            </a:r>
          </a:p>
          <a:p>
            <a:pPr marL="12700" marR="5080">
              <a:lnSpc>
                <a:spcPct val="100000"/>
              </a:lnSpc>
              <a:spcBef>
                <a:spcPts val="100"/>
              </a:spcBef>
              <a:tabLst>
                <a:tab pos="355600" algn="l"/>
              </a:tabLst>
            </a:pPr>
            <a:r>
              <a:rPr lang="fr-FR" sz="2400" dirty="0"/>
              <a:t>	</a:t>
            </a:r>
            <a:r>
              <a:rPr lang="fr-FR" sz="2400" dirty="0" smtClean="0"/>
              <a:t>	      </a:t>
            </a:r>
            <a:r>
              <a:rPr lang="fr-FR" sz="2400" dirty="0" smtClean="0">
                <a:solidFill>
                  <a:schemeClr val="accent2">
                    <a:lumMod val="75000"/>
                  </a:schemeClr>
                </a:solidFill>
              </a:rPr>
              <a:t>outils</a:t>
            </a:r>
            <a:r>
              <a:rPr lang="fr-FR" sz="2400" dirty="0" smtClean="0"/>
              <a:t>: </a:t>
            </a:r>
            <a:r>
              <a:rPr lang="fr-FR" sz="2400" dirty="0" err="1" smtClean="0"/>
              <a:t>Kubernetes</a:t>
            </a:r>
            <a:r>
              <a:rPr lang="fr-FR" sz="2400" dirty="0" smtClean="0"/>
              <a:t>, </a:t>
            </a:r>
            <a:r>
              <a:rPr lang="fr-FR" sz="2400" dirty="0" err="1" smtClean="0"/>
              <a:t>OpenShift</a:t>
            </a:r>
            <a:r>
              <a:rPr lang="fr-FR" sz="2400" dirty="0" smtClean="0"/>
              <a:t>, Docker, </a:t>
            </a:r>
            <a:r>
              <a:rPr lang="fr-FR" sz="2400" dirty="0" err="1" smtClean="0"/>
              <a:t>Terraform</a:t>
            </a:r>
            <a:r>
              <a:rPr lang="fr-FR" sz="2400" dirty="0" smtClean="0"/>
              <a:t>, </a:t>
            </a:r>
            <a:r>
              <a:rPr lang="fr-FR" sz="2400" dirty="0" err="1" smtClean="0"/>
              <a:t>Ansible</a:t>
            </a:r>
            <a:r>
              <a:rPr lang="fr-FR" sz="2400" dirty="0" smtClean="0"/>
              <a:t>.</a:t>
            </a:r>
            <a:endParaRPr sz="2400" dirty="0">
              <a:latin typeface="Calibri"/>
              <a:cs typeface="Calibri"/>
            </a:endParaRPr>
          </a:p>
        </p:txBody>
      </p:sp>
      <p:sp>
        <p:nvSpPr>
          <p:cNvPr id="8" name="object 3"/>
          <p:cNvSpPr txBox="1"/>
          <p:nvPr/>
        </p:nvSpPr>
        <p:spPr>
          <a:xfrm>
            <a:off x="516903" y="5257800"/>
            <a:ext cx="11410950" cy="1133644"/>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dirty="0" smtClean="0">
                <a:solidFill>
                  <a:schemeClr val="accent1"/>
                </a:solidFill>
              </a:rPr>
              <a:t>Monitor:</a:t>
            </a:r>
            <a:r>
              <a:rPr lang="fr-FR" sz="2400" dirty="0" smtClean="0"/>
              <a:t> collecter des métriques, logs et alertes pour garantir le bon fonctionnement du système.</a:t>
            </a:r>
          </a:p>
          <a:p>
            <a:pPr marL="12700" marR="5080">
              <a:lnSpc>
                <a:spcPct val="100000"/>
              </a:lnSpc>
              <a:spcBef>
                <a:spcPts val="100"/>
              </a:spcBef>
              <a:tabLst>
                <a:tab pos="355600" algn="l"/>
              </a:tabLst>
            </a:pPr>
            <a:r>
              <a:rPr lang="fr-FR" sz="2400" dirty="0">
                <a:latin typeface="Calibri"/>
                <a:cs typeface="Calibri"/>
              </a:rPr>
              <a:t>	</a:t>
            </a:r>
            <a:r>
              <a:rPr lang="fr-FR" sz="2400" dirty="0" smtClean="0">
                <a:latin typeface="Calibri"/>
                <a:cs typeface="Calibri"/>
              </a:rPr>
              <a:t>	       </a:t>
            </a:r>
            <a:r>
              <a:rPr lang="fr-FR" sz="2400" dirty="0" smtClean="0">
                <a:solidFill>
                  <a:schemeClr val="accent2">
                    <a:lumMod val="75000"/>
                  </a:schemeClr>
                </a:solidFill>
              </a:rPr>
              <a:t>outils:</a:t>
            </a:r>
            <a:r>
              <a:rPr lang="fr-FR" sz="2400" dirty="0" smtClean="0">
                <a:latin typeface="Calibri"/>
                <a:cs typeface="Calibri"/>
              </a:rPr>
              <a:t> </a:t>
            </a:r>
            <a:r>
              <a:rPr lang="fr-FR" sz="2400" dirty="0" err="1" smtClean="0"/>
              <a:t>Prometheus</a:t>
            </a:r>
            <a:r>
              <a:rPr lang="fr-FR" sz="2400" dirty="0" smtClean="0"/>
              <a:t>, </a:t>
            </a:r>
            <a:r>
              <a:rPr lang="fr-FR" sz="2400" dirty="0" err="1" smtClean="0"/>
              <a:t>Grafana</a:t>
            </a:r>
            <a:r>
              <a:rPr lang="fr-FR" sz="2400" dirty="0" smtClean="0"/>
              <a:t>, </a:t>
            </a:r>
            <a:r>
              <a:rPr lang="fr-FR" sz="2400" dirty="0" err="1" smtClean="0"/>
              <a:t>Loki</a:t>
            </a:r>
            <a:r>
              <a:rPr lang="fr-FR" sz="2400" dirty="0" smtClean="0"/>
              <a:t>, Tempo</a:t>
            </a:r>
            <a:endParaRPr sz="2400" dirty="0">
              <a:latin typeface="Calibri"/>
              <a:cs typeface="Calibri"/>
            </a:endParaRPr>
          </a:p>
        </p:txBody>
      </p:sp>
      <p:sp>
        <p:nvSpPr>
          <p:cNvPr id="13" name="object 3"/>
          <p:cNvSpPr txBox="1"/>
          <p:nvPr/>
        </p:nvSpPr>
        <p:spPr>
          <a:xfrm>
            <a:off x="499621" y="2819400"/>
            <a:ext cx="11609895" cy="1133644"/>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dirty="0" err="1" smtClean="0">
                <a:solidFill>
                  <a:schemeClr val="accent1"/>
                </a:solidFill>
              </a:rPr>
              <a:t>Deploy</a:t>
            </a:r>
            <a:r>
              <a:rPr lang="fr-FR" sz="2400" dirty="0" smtClean="0">
                <a:solidFill>
                  <a:schemeClr val="accent1"/>
                </a:solidFill>
              </a:rPr>
              <a:t>:</a:t>
            </a:r>
            <a:r>
              <a:rPr lang="fr-FR" sz="2400" dirty="0" smtClean="0"/>
              <a:t> déployer automatiquement l’application dans un environnement de Dev, </a:t>
            </a:r>
            <a:r>
              <a:rPr lang="fr-FR" sz="2400" dirty="0" err="1" smtClean="0"/>
              <a:t>Préprod</a:t>
            </a:r>
            <a:r>
              <a:rPr lang="fr-FR" sz="2400" dirty="0" smtClean="0"/>
              <a:t>, </a:t>
            </a:r>
            <a:r>
              <a:rPr lang="fr-FR" sz="2400" dirty="0" err="1" smtClean="0"/>
              <a:t>Prod</a:t>
            </a:r>
            <a:endParaRPr lang="fr-FR" sz="2400" dirty="0" smtClean="0"/>
          </a:p>
          <a:p>
            <a:pPr marL="12700" marR="5080">
              <a:lnSpc>
                <a:spcPct val="100000"/>
              </a:lnSpc>
              <a:spcBef>
                <a:spcPts val="100"/>
              </a:spcBef>
              <a:tabLst>
                <a:tab pos="355600" algn="l"/>
              </a:tabLst>
            </a:pPr>
            <a:r>
              <a:rPr lang="fr-FR" sz="2400" dirty="0"/>
              <a:t> </a:t>
            </a:r>
            <a:r>
              <a:rPr lang="fr-FR" sz="2400" dirty="0" smtClean="0"/>
              <a:t>                </a:t>
            </a:r>
            <a:r>
              <a:rPr lang="fr-FR" sz="2400" dirty="0" smtClean="0">
                <a:solidFill>
                  <a:schemeClr val="accent2">
                    <a:lumMod val="75000"/>
                  </a:schemeClr>
                </a:solidFill>
              </a:rPr>
              <a:t>outils:</a:t>
            </a:r>
            <a:r>
              <a:rPr lang="fr-FR" sz="2400" dirty="0" smtClean="0"/>
              <a:t> </a:t>
            </a:r>
            <a:r>
              <a:rPr lang="fr-FR" sz="2400" dirty="0" err="1" smtClean="0"/>
              <a:t>GitHub</a:t>
            </a:r>
            <a:r>
              <a:rPr lang="fr-FR" sz="2400" dirty="0" smtClean="0"/>
              <a:t> </a:t>
            </a:r>
            <a:r>
              <a:rPr lang="fr-FR" sz="2400" dirty="0" err="1" smtClean="0"/>
              <a:t>Actions,docker</a:t>
            </a:r>
            <a:r>
              <a:rPr lang="fr-FR" sz="2400" dirty="0" smtClean="0"/>
              <a:t>, </a:t>
            </a:r>
            <a:r>
              <a:rPr lang="fr-FR" sz="2400" dirty="0" err="1" smtClean="0"/>
              <a:t>ArgoCD</a:t>
            </a:r>
            <a:r>
              <a:rPr lang="fr-FR" sz="2400" dirty="0" smtClean="0"/>
              <a:t>, </a:t>
            </a:r>
            <a:r>
              <a:rPr lang="fr-FR" sz="2400" dirty="0" err="1" smtClean="0"/>
              <a:t>Kubernetes</a:t>
            </a:r>
            <a:r>
              <a:rPr lang="fr-FR" sz="2400" dirty="0" smtClean="0"/>
              <a:t>, </a:t>
            </a:r>
            <a:r>
              <a:rPr lang="fr-FR" sz="2400" dirty="0" err="1" smtClean="0"/>
              <a:t>OpenShift</a:t>
            </a:r>
            <a:r>
              <a:rPr lang="fr-FR" sz="2400" dirty="0" smtClean="0"/>
              <a:t>.</a:t>
            </a:r>
            <a:endParaRPr sz="2400" dirty="0">
              <a:latin typeface="Calibri"/>
              <a:cs typeface="Calibri"/>
            </a:endParaRPr>
          </a:p>
        </p:txBody>
      </p:sp>
    </p:spTree>
    <p:extLst>
      <p:ext uri="{BB962C8B-B14F-4D97-AF65-F5344CB8AC3E}">
        <p14:creationId xmlns:p14="http://schemas.microsoft.com/office/powerpoint/2010/main" val="263918758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p:cNvPicPr>
            <a:picLocks noChangeAspect="1"/>
          </p:cNvPicPr>
          <p:nvPr/>
        </p:nvPicPr>
        <p:blipFill>
          <a:blip r:embed="rId2"/>
          <a:stretch>
            <a:fillRect/>
          </a:stretch>
        </p:blipFill>
        <p:spPr>
          <a:xfrm>
            <a:off x="2438400" y="1828800"/>
            <a:ext cx="7334250" cy="4010025"/>
          </a:xfrm>
          <a:prstGeom prst="rect">
            <a:avLst/>
          </a:prstGeom>
        </p:spPr>
      </p:pic>
      <p:sp>
        <p:nvSpPr>
          <p:cNvPr id="9" name="object 2"/>
          <p:cNvSpPr txBox="1">
            <a:spLocks/>
          </p:cNvSpPr>
          <p:nvPr/>
        </p:nvSpPr>
        <p:spPr>
          <a:xfrm>
            <a:off x="381000" y="0"/>
            <a:ext cx="11337925" cy="731789"/>
          </a:xfrm>
          <a:prstGeom prst="rect">
            <a:avLst/>
          </a:prstGeom>
        </p:spPr>
        <p:txBody>
          <a:bodyPr vert="horz" wrap="square" lIns="0" tIns="54152" rIns="0" bIns="0" rtlCol="0">
            <a:spAutoFit/>
          </a:bodyPr>
          <a:lstStyle>
            <a:lvl1pPr>
              <a:defRPr sz="4400" b="0" i="0">
                <a:solidFill>
                  <a:srgbClr val="44526A"/>
                </a:solidFill>
                <a:latin typeface="Calibri Light"/>
                <a:ea typeface="+mj-ea"/>
                <a:cs typeface="Calibri Light"/>
              </a:defRPr>
            </a:lvl1pPr>
          </a:lstStyle>
          <a:p>
            <a:pPr marL="25400">
              <a:spcBef>
                <a:spcPts val="100"/>
              </a:spcBef>
            </a:pPr>
            <a:r>
              <a:rPr lang="fr-FR" dirty="0" err="1" smtClean="0"/>
              <a:t>Continuous</a:t>
            </a:r>
            <a:r>
              <a:rPr lang="fr-FR" dirty="0" smtClean="0"/>
              <a:t> Delivery vs </a:t>
            </a:r>
            <a:r>
              <a:rPr lang="fr-FR" dirty="0" err="1" smtClean="0"/>
              <a:t>Continuous</a:t>
            </a:r>
            <a:r>
              <a:rPr lang="fr-FR" dirty="0" smtClean="0"/>
              <a:t> </a:t>
            </a:r>
            <a:r>
              <a:rPr lang="fr-FR" dirty="0" err="1" smtClean="0"/>
              <a:t>Deployment</a:t>
            </a:r>
            <a:endParaRPr lang="fr-FR" spc="-10" dirty="0"/>
          </a:p>
        </p:txBody>
      </p:sp>
    </p:spTree>
    <p:extLst>
      <p:ext uri="{BB962C8B-B14F-4D97-AF65-F5344CB8AC3E}">
        <p14:creationId xmlns:p14="http://schemas.microsoft.com/office/powerpoint/2010/main" val="382167804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p:cNvSpPr txBox="1">
            <a:spLocks/>
          </p:cNvSpPr>
          <p:nvPr/>
        </p:nvSpPr>
        <p:spPr>
          <a:xfrm>
            <a:off x="381000" y="0"/>
            <a:ext cx="11337925" cy="731789"/>
          </a:xfrm>
          <a:prstGeom prst="rect">
            <a:avLst/>
          </a:prstGeom>
        </p:spPr>
        <p:txBody>
          <a:bodyPr vert="horz" wrap="square" lIns="0" tIns="54152" rIns="0" bIns="0" rtlCol="0">
            <a:spAutoFit/>
          </a:bodyPr>
          <a:lstStyle>
            <a:lvl1pPr>
              <a:defRPr sz="4400" b="0" i="0">
                <a:solidFill>
                  <a:srgbClr val="44526A"/>
                </a:solidFill>
                <a:latin typeface="Calibri Light"/>
                <a:ea typeface="+mj-ea"/>
                <a:cs typeface="Calibri Light"/>
              </a:defRPr>
            </a:lvl1pPr>
          </a:lstStyle>
          <a:p>
            <a:pPr marL="25400">
              <a:spcBef>
                <a:spcPts val="100"/>
              </a:spcBef>
            </a:pPr>
            <a:r>
              <a:rPr lang="fr-FR" dirty="0" smtClean="0"/>
              <a:t>Site </a:t>
            </a:r>
            <a:r>
              <a:rPr lang="fr-FR" dirty="0" err="1" smtClean="0"/>
              <a:t>Reliability</a:t>
            </a:r>
            <a:r>
              <a:rPr lang="fr-FR" dirty="0" smtClean="0"/>
              <a:t> Engineering</a:t>
            </a:r>
            <a:endParaRPr lang="fr-FR" spc="-10" dirty="0"/>
          </a:p>
        </p:txBody>
      </p:sp>
      <p:sp>
        <p:nvSpPr>
          <p:cNvPr id="5" name="object 3"/>
          <p:cNvSpPr txBox="1"/>
          <p:nvPr/>
        </p:nvSpPr>
        <p:spPr>
          <a:xfrm>
            <a:off x="685799" y="1534512"/>
            <a:ext cx="11609895" cy="751488"/>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b="1" dirty="0" smtClean="0">
                <a:solidFill>
                  <a:schemeClr val="accent1"/>
                </a:solidFill>
              </a:rPr>
              <a:t>Incident Management</a:t>
            </a:r>
            <a:r>
              <a:rPr lang="fr-FR" sz="2400" dirty="0" smtClean="0">
                <a:solidFill>
                  <a:schemeClr val="accent1"/>
                </a:solidFill>
              </a:rPr>
              <a:t> : </a:t>
            </a:r>
            <a:r>
              <a:rPr lang="fr-FR" sz="2400" dirty="0" smtClean="0"/>
              <a:t>Restaurer rapidement le service après une panne ou anomalie pour minimiser l’impact sur l’utilisateur.</a:t>
            </a:r>
            <a:endParaRPr sz="2400" dirty="0">
              <a:latin typeface="Calibri"/>
              <a:cs typeface="Calibri"/>
            </a:endParaRPr>
          </a:p>
        </p:txBody>
      </p:sp>
      <p:sp>
        <p:nvSpPr>
          <p:cNvPr id="7" name="object 3"/>
          <p:cNvSpPr txBox="1"/>
          <p:nvPr/>
        </p:nvSpPr>
        <p:spPr>
          <a:xfrm>
            <a:off x="685801" y="3352800"/>
            <a:ext cx="11201400" cy="751488"/>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b="1" dirty="0" err="1" smtClean="0">
                <a:solidFill>
                  <a:schemeClr val="accent1"/>
                </a:solidFill>
              </a:rPr>
              <a:t>Problem</a:t>
            </a:r>
            <a:r>
              <a:rPr lang="fr-FR" sz="2400" b="1" dirty="0" smtClean="0">
                <a:solidFill>
                  <a:schemeClr val="accent1"/>
                </a:solidFill>
              </a:rPr>
              <a:t> Management</a:t>
            </a:r>
            <a:r>
              <a:rPr lang="fr-FR" sz="2400" dirty="0" smtClean="0">
                <a:solidFill>
                  <a:schemeClr val="accent1"/>
                </a:solidFill>
              </a:rPr>
              <a:t> : </a:t>
            </a:r>
            <a:r>
              <a:rPr lang="fr-FR" sz="2400" dirty="0" smtClean="0"/>
              <a:t>Identifier la cause profonde des incidents récurrents (RCA) et mettre en place des actions pour éviter qu’ils ne se reproduisent.</a:t>
            </a:r>
            <a:endParaRPr sz="2400" dirty="0">
              <a:latin typeface="Calibri"/>
              <a:cs typeface="Calibri"/>
            </a:endParaRPr>
          </a:p>
        </p:txBody>
      </p:sp>
      <p:sp>
        <p:nvSpPr>
          <p:cNvPr id="8" name="object 3"/>
          <p:cNvSpPr txBox="1"/>
          <p:nvPr/>
        </p:nvSpPr>
        <p:spPr>
          <a:xfrm>
            <a:off x="762001" y="4907011"/>
            <a:ext cx="11353800" cy="751488"/>
          </a:xfrm>
          <a:prstGeom prst="rect">
            <a:avLst/>
          </a:prstGeom>
        </p:spPr>
        <p:txBody>
          <a:bodyPr vert="horz" wrap="square" lIns="0" tIns="12700" rIns="0" bIns="0" rtlCol="0">
            <a:spAutoFit/>
          </a:bodyPr>
          <a:lstStyle/>
          <a:p>
            <a:pPr marL="355600" marR="5080" indent="-342900">
              <a:spcBef>
                <a:spcPts val="100"/>
              </a:spcBef>
              <a:buFont typeface="Arial MT"/>
              <a:buChar char="•"/>
              <a:tabLst>
                <a:tab pos="355600" algn="l"/>
              </a:tabLst>
            </a:pPr>
            <a:r>
              <a:rPr lang="fr-FR" sz="2400" b="1" dirty="0" smtClean="0">
                <a:solidFill>
                  <a:schemeClr val="accent1"/>
                </a:solidFill>
              </a:rPr>
              <a:t>Change Management</a:t>
            </a:r>
            <a:r>
              <a:rPr lang="fr-FR" sz="2400" dirty="0" smtClean="0">
                <a:solidFill>
                  <a:schemeClr val="accent1"/>
                </a:solidFill>
              </a:rPr>
              <a:t> : </a:t>
            </a:r>
            <a:r>
              <a:rPr lang="fr-FR" sz="2400" dirty="0" smtClean="0"/>
              <a:t>Valider les solutions et planifier les déploiements, mises en production afin de réduire les risques et assurer la stabilité.</a:t>
            </a:r>
            <a:endParaRPr sz="2400" dirty="0">
              <a:latin typeface="Calibri"/>
              <a:cs typeface="Calibri"/>
            </a:endParaRPr>
          </a:p>
        </p:txBody>
      </p:sp>
    </p:spTree>
    <p:extLst>
      <p:ext uri="{BB962C8B-B14F-4D97-AF65-F5344CB8AC3E}">
        <p14:creationId xmlns:p14="http://schemas.microsoft.com/office/powerpoint/2010/main" val="9683533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569209" y="3538220"/>
            <a:ext cx="9157970" cy="300355"/>
            <a:chOff x="1569209" y="3538220"/>
            <a:chExt cx="9157970" cy="300355"/>
          </a:xfrm>
        </p:grpSpPr>
        <p:sp>
          <p:nvSpPr>
            <p:cNvPr id="3" name="object 3"/>
            <p:cNvSpPr/>
            <p:nvPr/>
          </p:nvSpPr>
          <p:spPr>
            <a:xfrm>
              <a:off x="1574799" y="3538220"/>
              <a:ext cx="3048000" cy="195580"/>
            </a:xfrm>
            <a:custGeom>
              <a:avLst/>
              <a:gdLst/>
              <a:ahLst/>
              <a:cxnLst/>
              <a:rect l="l" t="t" r="r" b="b"/>
              <a:pathLst>
                <a:path w="3048000" h="195579">
                  <a:moveTo>
                    <a:pt x="3048000" y="0"/>
                  </a:moveTo>
                  <a:lnTo>
                    <a:pt x="0" y="0"/>
                  </a:lnTo>
                  <a:lnTo>
                    <a:pt x="0" y="195579"/>
                  </a:lnTo>
                  <a:lnTo>
                    <a:pt x="3048000" y="195579"/>
                  </a:lnTo>
                  <a:lnTo>
                    <a:pt x="3048000" y="0"/>
                  </a:lnTo>
                  <a:close/>
                </a:path>
              </a:pathLst>
            </a:custGeom>
            <a:solidFill>
              <a:srgbClr val="5B9BD3"/>
            </a:solidFill>
          </p:spPr>
          <p:txBody>
            <a:bodyPr wrap="square" lIns="0" tIns="0" rIns="0" bIns="0" rtlCol="0"/>
            <a:lstStyle/>
            <a:p>
              <a:endParaRPr/>
            </a:p>
          </p:txBody>
        </p:sp>
        <p:pic>
          <p:nvPicPr>
            <p:cNvPr id="4" name="object 4"/>
            <p:cNvPicPr/>
            <p:nvPr/>
          </p:nvPicPr>
          <p:blipFill>
            <a:blip r:embed="rId2" cstate="print"/>
            <a:stretch>
              <a:fillRect/>
            </a:stretch>
          </p:blipFill>
          <p:spPr>
            <a:xfrm>
              <a:off x="1569209" y="3774452"/>
              <a:ext cx="9157464" cy="63625"/>
            </a:xfrm>
            <a:prstGeom prst="rect">
              <a:avLst/>
            </a:prstGeom>
          </p:spPr>
        </p:pic>
        <p:sp>
          <p:nvSpPr>
            <p:cNvPr id="5" name="object 5"/>
            <p:cNvSpPr/>
            <p:nvPr/>
          </p:nvSpPr>
          <p:spPr>
            <a:xfrm>
              <a:off x="4622799" y="3538220"/>
              <a:ext cx="3048000" cy="195580"/>
            </a:xfrm>
            <a:custGeom>
              <a:avLst/>
              <a:gdLst/>
              <a:ahLst/>
              <a:cxnLst/>
              <a:rect l="l" t="t" r="r" b="b"/>
              <a:pathLst>
                <a:path w="3048000" h="195579">
                  <a:moveTo>
                    <a:pt x="3048000" y="0"/>
                  </a:moveTo>
                  <a:lnTo>
                    <a:pt x="0" y="0"/>
                  </a:lnTo>
                  <a:lnTo>
                    <a:pt x="0" y="195579"/>
                  </a:lnTo>
                  <a:lnTo>
                    <a:pt x="3048000" y="195579"/>
                  </a:lnTo>
                  <a:lnTo>
                    <a:pt x="3048000" y="0"/>
                  </a:lnTo>
                  <a:close/>
                </a:path>
              </a:pathLst>
            </a:custGeom>
            <a:solidFill>
              <a:srgbClr val="FFC000"/>
            </a:solidFill>
          </p:spPr>
          <p:txBody>
            <a:bodyPr wrap="square" lIns="0" tIns="0" rIns="0" bIns="0" rtlCol="0"/>
            <a:lstStyle/>
            <a:p>
              <a:endParaRPr/>
            </a:p>
          </p:txBody>
        </p:sp>
        <p:sp>
          <p:nvSpPr>
            <p:cNvPr id="6" name="object 6"/>
            <p:cNvSpPr/>
            <p:nvPr/>
          </p:nvSpPr>
          <p:spPr>
            <a:xfrm>
              <a:off x="7670799" y="3538220"/>
              <a:ext cx="3048000" cy="195580"/>
            </a:xfrm>
            <a:custGeom>
              <a:avLst/>
              <a:gdLst/>
              <a:ahLst/>
              <a:cxnLst/>
              <a:rect l="l" t="t" r="r" b="b"/>
              <a:pathLst>
                <a:path w="3048000" h="195579">
                  <a:moveTo>
                    <a:pt x="3048000" y="0"/>
                  </a:moveTo>
                  <a:lnTo>
                    <a:pt x="0" y="0"/>
                  </a:lnTo>
                  <a:lnTo>
                    <a:pt x="0" y="195579"/>
                  </a:lnTo>
                  <a:lnTo>
                    <a:pt x="3048000" y="195579"/>
                  </a:lnTo>
                  <a:lnTo>
                    <a:pt x="3048000" y="0"/>
                  </a:lnTo>
                  <a:close/>
                </a:path>
              </a:pathLst>
            </a:custGeom>
            <a:solidFill>
              <a:srgbClr val="6EAC46"/>
            </a:solidFill>
          </p:spPr>
          <p:txBody>
            <a:bodyPr wrap="square" lIns="0" tIns="0" rIns="0" bIns="0" rtlCol="0"/>
            <a:lstStyle/>
            <a:p>
              <a:endParaRPr/>
            </a:p>
          </p:txBody>
        </p:sp>
      </p:grpSp>
      <p:sp>
        <p:nvSpPr>
          <p:cNvPr id="7" name="object 7"/>
          <p:cNvSpPr txBox="1"/>
          <p:nvPr/>
        </p:nvSpPr>
        <p:spPr>
          <a:xfrm>
            <a:off x="4357242" y="3761943"/>
            <a:ext cx="3185795" cy="940435"/>
          </a:xfrm>
          <a:prstGeom prst="rect">
            <a:avLst/>
          </a:prstGeom>
        </p:spPr>
        <p:txBody>
          <a:bodyPr vert="horz" wrap="square" lIns="0" tIns="12700" rIns="0" bIns="0" rtlCol="0">
            <a:spAutoFit/>
          </a:bodyPr>
          <a:lstStyle/>
          <a:p>
            <a:pPr marL="12700">
              <a:lnSpc>
                <a:spcPct val="100000"/>
              </a:lnSpc>
              <a:spcBef>
                <a:spcPts val="100"/>
              </a:spcBef>
            </a:pPr>
            <a:r>
              <a:rPr sz="6000" dirty="0">
                <a:solidFill>
                  <a:srgbClr val="44526A"/>
                </a:solidFill>
                <a:latin typeface="Calibri Light"/>
                <a:cs typeface="Calibri Light"/>
              </a:rPr>
              <a:t>Chapitre</a:t>
            </a:r>
            <a:r>
              <a:rPr sz="6000" spc="-145" dirty="0">
                <a:solidFill>
                  <a:srgbClr val="44526A"/>
                </a:solidFill>
                <a:latin typeface="Calibri Light"/>
                <a:cs typeface="Calibri Light"/>
              </a:rPr>
              <a:t> </a:t>
            </a:r>
            <a:r>
              <a:rPr sz="6000" spc="-50" dirty="0">
                <a:solidFill>
                  <a:srgbClr val="44526A"/>
                </a:solidFill>
                <a:latin typeface="Calibri Light"/>
                <a:cs typeface="Calibri Light"/>
              </a:rPr>
              <a:t>2</a:t>
            </a:r>
            <a:endParaRPr sz="6000">
              <a:latin typeface="Calibri Light"/>
              <a:cs typeface="Calibri Light"/>
            </a:endParaRPr>
          </a:p>
        </p:txBody>
      </p:sp>
      <p:sp>
        <p:nvSpPr>
          <p:cNvPr id="8" name="object 8"/>
          <p:cNvSpPr txBox="1"/>
          <p:nvPr/>
        </p:nvSpPr>
        <p:spPr>
          <a:xfrm>
            <a:off x="1606041" y="4689094"/>
            <a:ext cx="10267315" cy="689932"/>
          </a:xfrm>
          <a:prstGeom prst="rect">
            <a:avLst/>
          </a:prstGeom>
        </p:spPr>
        <p:txBody>
          <a:bodyPr vert="horz" wrap="square" lIns="0" tIns="12700" rIns="0" bIns="0" rtlCol="0">
            <a:spAutoFit/>
          </a:bodyPr>
          <a:lstStyle/>
          <a:p>
            <a:pPr marL="12700">
              <a:lnSpc>
                <a:spcPct val="100000"/>
              </a:lnSpc>
              <a:spcBef>
                <a:spcPts val="100"/>
              </a:spcBef>
            </a:pPr>
            <a:r>
              <a:rPr sz="4400" dirty="0">
                <a:solidFill>
                  <a:srgbClr val="44526A"/>
                </a:solidFill>
                <a:latin typeface="Calibri Light"/>
                <a:cs typeface="Calibri Light"/>
              </a:rPr>
              <a:t>La</a:t>
            </a:r>
            <a:r>
              <a:rPr sz="4400" spc="-55" dirty="0">
                <a:solidFill>
                  <a:srgbClr val="44526A"/>
                </a:solidFill>
                <a:latin typeface="Calibri Light"/>
                <a:cs typeface="Calibri Light"/>
              </a:rPr>
              <a:t> </a:t>
            </a:r>
            <a:r>
              <a:rPr sz="4400" dirty="0">
                <a:solidFill>
                  <a:srgbClr val="44526A"/>
                </a:solidFill>
                <a:latin typeface="Calibri Light"/>
                <a:cs typeface="Calibri Light"/>
              </a:rPr>
              <a:t>gestion</a:t>
            </a:r>
            <a:r>
              <a:rPr sz="4400" spc="-55" dirty="0">
                <a:solidFill>
                  <a:srgbClr val="44526A"/>
                </a:solidFill>
                <a:latin typeface="Calibri Light"/>
                <a:cs typeface="Calibri Light"/>
              </a:rPr>
              <a:t> </a:t>
            </a:r>
            <a:r>
              <a:rPr sz="4400" dirty="0">
                <a:solidFill>
                  <a:srgbClr val="44526A"/>
                </a:solidFill>
                <a:latin typeface="Calibri Light"/>
                <a:cs typeface="Calibri Light"/>
              </a:rPr>
              <a:t>de</a:t>
            </a:r>
            <a:r>
              <a:rPr sz="4400" spc="-55" dirty="0">
                <a:solidFill>
                  <a:srgbClr val="44526A"/>
                </a:solidFill>
                <a:latin typeface="Calibri Light"/>
                <a:cs typeface="Calibri Light"/>
              </a:rPr>
              <a:t> </a:t>
            </a:r>
            <a:r>
              <a:rPr sz="4400" dirty="0">
                <a:solidFill>
                  <a:srgbClr val="44526A"/>
                </a:solidFill>
                <a:latin typeface="Calibri Light"/>
                <a:cs typeface="Calibri Light"/>
              </a:rPr>
              <a:t>contrôle</a:t>
            </a:r>
            <a:r>
              <a:rPr sz="4400" spc="-50" dirty="0">
                <a:solidFill>
                  <a:srgbClr val="44526A"/>
                </a:solidFill>
                <a:latin typeface="Calibri Light"/>
                <a:cs typeface="Calibri Light"/>
              </a:rPr>
              <a:t> </a:t>
            </a:r>
            <a:r>
              <a:rPr sz="4400" dirty="0">
                <a:solidFill>
                  <a:srgbClr val="44526A"/>
                </a:solidFill>
                <a:latin typeface="Calibri Light"/>
                <a:cs typeface="Calibri Light"/>
              </a:rPr>
              <a:t>de</a:t>
            </a:r>
            <a:r>
              <a:rPr sz="4400" spc="-50" dirty="0">
                <a:solidFill>
                  <a:srgbClr val="44526A"/>
                </a:solidFill>
                <a:latin typeface="Calibri Light"/>
                <a:cs typeface="Calibri Light"/>
              </a:rPr>
              <a:t> </a:t>
            </a:r>
            <a:r>
              <a:rPr sz="4400" dirty="0">
                <a:solidFill>
                  <a:srgbClr val="44526A"/>
                </a:solidFill>
                <a:latin typeface="Calibri Light"/>
                <a:cs typeface="Calibri Light"/>
              </a:rPr>
              <a:t>version</a:t>
            </a:r>
            <a:r>
              <a:rPr sz="4400" spc="-55" dirty="0">
                <a:solidFill>
                  <a:srgbClr val="44526A"/>
                </a:solidFill>
                <a:latin typeface="Calibri Light"/>
                <a:cs typeface="Calibri Light"/>
              </a:rPr>
              <a:t> </a:t>
            </a:r>
            <a:r>
              <a:rPr sz="4400" spc="-10" dirty="0">
                <a:solidFill>
                  <a:srgbClr val="44526A"/>
                </a:solidFill>
                <a:latin typeface="Calibri Light"/>
                <a:cs typeface="Calibri Light"/>
              </a:rPr>
              <a:t>(GIT</a:t>
            </a:r>
            <a:r>
              <a:rPr sz="4400" spc="-10" dirty="0" smtClean="0">
                <a:solidFill>
                  <a:srgbClr val="44526A"/>
                </a:solidFill>
                <a:latin typeface="Calibri Light"/>
                <a:cs typeface="Calibri Light"/>
              </a:rPr>
              <a:t>)</a:t>
            </a:r>
            <a:endParaRPr sz="4400" dirty="0">
              <a:latin typeface="Calibri Light"/>
              <a:cs typeface="Calibri Light"/>
            </a:endParaRPr>
          </a:p>
        </p:txBody>
      </p:sp>
      <p:pic>
        <p:nvPicPr>
          <p:cNvPr id="10" name="object 10"/>
          <p:cNvPicPr/>
          <p:nvPr/>
        </p:nvPicPr>
        <p:blipFill>
          <a:blip r:embed="rId3" cstate="print"/>
          <a:stretch>
            <a:fillRect/>
          </a:stretch>
        </p:blipFill>
        <p:spPr>
          <a:xfrm>
            <a:off x="4114800" y="5420715"/>
            <a:ext cx="2515107" cy="1264373"/>
          </a:xfrm>
          <a:prstGeom prst="rect">
            <a:avLst/>
          </a:prstGeom>
        </p:spPr>
      </p:pic>
      <p:pic>
        <p:nvPicPr>
          <p:cNvPr id="11" name="Image 10"/>
          <p:cNvPicPr>
            <a:picLocks noChangeAspect="1"/>
          </p:cNvPicPr>
          <p:nvPr/>
        </p:nvPicPr>
        <p:blipFill>
          <a:blip r:embed="rId4"/>
          <a:stretch>
            <a:fillRect/>
          </a:stretch>
        </p:blipFill>
        <p:spPr>
          <a:xfrm>
            <a:off x="2958612" y="142364"/>
            <a:ext cx="5983054" cy="2914650"/>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5291" y="1405890"/>
            <a:ext cx="8310245" cy="5284139"/>
          </a:xfrm>
          <a:prstGeom prst="rect">
            <a:avLst/>
          </a:prstGeom>
        </p:spPr>
        <p:txBody>
          <a:bodyPr vert="horz" wrap="square" lIns="0" tIns="76835" rIns="0" bIns="0" rtlCol="0">
            <a:spAutoFit/>
          </a:bodyPr>
          <a:lstStyle/>
          <a:p>
            <a:pPr marL="527685" indent="-514984">
              <a:lnSpc>
                <a:spcPct val="100000"/>
              </a:lnSpc>
              <a:spcBef>
                <a:spcPts val="605"/>
              </a:spcBef>
              <a:buClr>
                <a:srgbClr val="EB7B2F"/>
              </a:buClr>
              <a:buFont typeface="Calibri"/>
              <a:buAutoNum type="arabicPeriod"/>
              <a:tabLst>
                <a:tab pos="527685" algn="l"/>
              </a:tabLst>
            </a:pPr>
            <a:r>
              <a:rPr sz="3000" spc="-10" dirty="0">
                <a:latin typeface="Calibri"/>
                <a:cs typeface="Calibri"/>
              </a:rPr>
              <a:t>L’importance</a:t>
            </a:r>
            <a:r>
              <a:rPr sz="3000" spc="-85" dirty="0">
                <a:latin typeface="Calibri"/>
                <a:cs typeface="Calibri"/>
              </a:rPr>
              <a:t> </a:t>
            </a:r>
            <a:r>
              <a:rPr sz="3000" dirty="0">
                <a:latin typeface="Calibri"/>
                <a:cs typeface="Calibri"/>
              </a:rPr>
              <a:t>du</a:t>
            </a:r>
            <a:r>
              <a:rPr sz="3000" spc="-95" dirty="0">
                <a:latin typeface="Calibri"/>
                <a:cs typeface="Calibri"/>
              </a:rPr>
              <a:t> </a:t>
            </a:r>
            <a:r>
              <a:rPr sz="3000" dirty="0">
                <a:latin typeface="Calibri"/>
                <a:cs typeface="Calibri"/>
              </a:rPr>
              <a:t>contrôle</a:t>
            </a:r>
            <a:r>
              <a:rPr sz="3000" spc="-95" dirty="0">
                <a:latin typeface="Calibri"/>
                <a:cs typeface="Calibri"/>
              </a:rPr>
              <a:t> </a:t>
            </a:r>
            <a:r>
              <a:rPr sz="3000" dirty="0">
                <a:latin typeface="Calibri"/>
                <a:cs typeface="Calibri"/>
              </a:rPr>
              <a:t>de</a:t>
            </a:r>
            <a:r>
              <a:rPr sz="3000" spc="-100" dirty="0">
                <a:latin typeface="Calibri"/>
                <a:cs typeface="Calibri"/>
              </a:rPr>
              <a:t> </a:t>
            </a:r>
            <a:r>
              <a:rPr sz="3000" spc="-10" dirty="0">
                <a:latin typeface="Calibri"/>
                <a:cs typeface="Calibri"/>
              </a:rPr>
              <a:t>versions</a:t>
            </a:r>
            <a:endParaRPr sz="3000" dirty="0">
              <a:latin typeface="Calibri"/>
              <a:cs typeface="Calibri"/>
            </a:endParaRPr>
          </a:p>
          <a:p>
            <a:pPr marL="527685" indent="-514984">
              <a:lnSpc>
                <a:spcPct val="100000"/>
              </a:lnSpc>
              <a:spcBef>
                <a:spcPts val="505"/>
              </a:spcBef>
              <a:buClr>
                <a:srgbClr val="EB7B2F"/>
              </a:buClr>
              <a:buAutoNum type="arabicPeriod"/>
              <a:tabLst>
                <a:tab pos="527685" algn="l"/>
              </a:tabLst>
            </a:pPr>
            <a:r>
              <a:rPr sz="3000" spc="-10" dirty="0">
                <a:latin typeface="Calibri"/>
                <a:cs typeface="Calibri"/>
              </a:rPr>
              <a:t>Présentation</a:t>
            </a:r>
            <a:r>
              <a:rPr sz="3000" spc="-95" dirty="0">
                <a:latin typeface="Calibri"/>
                <a:cs typeface="Calibri"/>
              </a:rPr>
              <a:t> </a:t>
            </a:r>
            <a:r>
              <a:rPr sz="3000" dirty="0">
                <a:latin typeface="Calibri"/>
                <a:cs typeface="Calibri"/>
              </a:rPr>
              <a:t>d’un</a:t>
            </a:r>
            <a:r>
              <a:rPr sz="3000" spc="-80" dirty="0">
                <a:latin typeface="Calibri"/>
                <a:cs typeface="Calibri"/>
              </a:rPr>
              <a:t> </a:t>
            </a:r>
            <a:r>
              <a:rPr sz="3000" dirty="0">
                <a:latin typeface="Calibri"/>
                <a:cs typeface="Calibri"/>
              </a:rPr>
              <a:t>système</a:t>
            </a:r>
            <a:r>
              <a:rPr sz="3000" spc="-100" dirty="0">
                <a:latin typeface="Calibri"/>
                <a:cs typeface="Calibri"/>
              </a:rPr>
              <a:t> </a:t>
            </a:r>
            <a:r>
              <a:rPr sz="3000" dirty="0">
                <a:latin typeface="Calibri"/>
                <a:cs typeface="Calibri"/>
              </a:rPr>
              <a:t>de</a:t>
            </a:r>
            <a:r>
              <a:rPr sz="3000" spc="-95" dirty="0">
                <a:latin typeface="Calibri"/>
                <a:cs typeface="Calibri"/>
              </a:rPr>
              <a:t> </a:t>
            </a:r>
            <a:r>
              <a:rPr sz="3000" dirty="0">
                <a:latin typeface="Calibri"/>
                <a:cs typeface="Calibri"/>
              </a:rPr>
              <a:t>contrôle</a:t>
            </a:r>
            <a:r>
              <a:rPr sz="3000" spc="-90" dirty="0">
                <a:latin typeface="Calibri"/>
                <a:cs typeface="Calibri"/>
              </a:rPr>
              <a:t> </a:t>
            </a:r>
            <a:r>
              <a:rPr sz="3000" dirty="0">
                <a:latin typeface="Calibri"/>
                <a:cs typeface="Calibri"/>
              </a:rPr>
              <a:t>de</a:t>
            </a:r>
            <a:r>
              <a:rPr sz="3000" spc="-105" dirty="0">
                <a:latin typeface="Calibri"/>
                <a:cs typeface="Calibri"/>
              </a:rPr>
              <a:t> </a:t>
            </a:r>
            <a:r>
              <a:rPr sz="3000" spc="-10" dirty="0">
                <a:latin typeface="Calibri"/>
                <a:cs typeface="Calibri"/>
              </a:rPr>
              <a:t>versions</a:t>
            </a:r>
            <a:endParaRPr sz="3000" dirty="0">
              <a:latin typeface="Calibri"/>
              <a:cs typeface="Calibri"/>
            </a:endParaRPr>
          </a:p>
          <a:p>
            <a:pPr marL="527685" indent="-514984">
              <a:lnSpc>
                <a:spcPct val="100000"/>
              </a:lnSpc>
              <a:spcBef>
                <a:spcPts val="505"/>
              </a:spcBef>
              <a:buClr>
                <a:srgbClr val="EB7B2F"/>
              </a:buClr>
              <a:buAutoNum type="arabicPeriod"/>
              <a:tabLst>
                <a:tab pos="527685" algn="l"/>
              </a:tabLst>
            </a:pPr>
            <a:r>
              <a:rPr sz="3000" dirty="0" smtClean="0">
                <a:latin typeface="Calibri"/>
                <a:cs typeface="Calibri"/>
              </a:rPr>
              <a:t>GIT</a:t>
            </a:r>
            <a:r>
              <a:rPr sz="3000" spc="-60" dirty="0" smtClean="0">
                <a:latin typeface="Calibri"/>
                <a:cs typeface="Calibri"/>
              </a:rPr>
              <a:t> </a:t>
            </a:r>
            <a:r>
              <a:rPr sz="3000" spc="-10" dirty="0">
                <a:latin typeface="Calibri"/>
                <a:cs typeface="Calibri"/>
              </a:rPr>
              <a:t>introduction</a:t>
            </a:r>
            <a:endParaRPr sz="3000" dirty="0">
              <a:latin typeface="Calibri"/>
              <a:cs typeface="Calibri"/>
            </a:endParaRPr>
          </a:p>
          <a:p>
            <a:pPr marL="527685" indent="-514984">
              <a:spcBef>
                <a:spcPts val="509"/>
              </a:spcBef>
              <a:buClr>
                <a:srgbClr val="EB7B2F"/>
              </a:buClr>
              <a:buFontTx/>
              <a:buAutoNum type="arabicPeriod"/>
              <a:tabLst>
                <a:tab pos="527685" algn="l"/>
              </a:tabLst>
            </a:pPr>
            <a:r>
              <a:rPr lang="fr-FR" sz="3000" dirty="0" smtClean="0">
                <a:latin typeface="+mj-lt"/>
              </a:rPr>
              <a:t>Création d’un repo sur </a:t>
            </a:r>
            <a:r>
              <a:rPr lang="fr-FR" sz="3000" dirty="0" err="1" smtClean="0">
                <a:latin typeface="+mj-lt"/>
              </a:rPr>
              <a:t>github</a:t>
            </a:r>
            <a:endParaRPr sz="3000" dirty="0" smtClean="0">
              <a:latin typeface="+mj-lt"/>
              <a:cs typeface="Calibri"/>
            </a:endParaRPr>
          </a:p>
          <a:p>
            <a:pPr marL="527685" indent="-514984">
              <a:lnSpc>
                <a:spcPct val="100000"/>
              </a:lnSpc>
              <a:spcBef>
                <a:spcPts val="605"/>
              </a:spcBef>
              <a:buClr>
                <a:srgbClr val="EB7B2F"/>
              </a:buClr>
              <a:buFont typeface="Calibri"/>
              <a:buAutoNum type="arabicPeriod"/>
              <a:tabLst>
                <a:tab pos="527685" algn="l"/>
              </a:tabLst>
            </a:pPr>
            <a:r>
              <a:rPr lang="fr-FR" sz="3000" spc="-10" dirty="0" smtClean="0">
                <a:latin typeface="Calibri"/>
                <a:cs typeface="Calibri"/>
              </a:rPr>
              <a:t>Les commandes de base git</a:t>
            </a:r>
            <a:endParaRPr lang="fr-FR" sz="3000" dirty="0" smtClean="0">
              <a:latin typeface="Calibri"/>
              <a:cs typeface="Calibri"/>
            </a:endParaRPr>
          </a:p>
          <a:p>
            <a:pPr marL="527685" indent="-514984">
              <a:lnSpc>
                <a:spcPct val="100000"/>
              </a:lnSpc>
              <a:spcBef>
                <a:spcPts val="505"/>
              </a:spcBef>
              <a:buClr>
                <a:srgbClr val="EB7B2F"/>
              </a:buClr>
              <a:buAutoNum type="arabicPeriod"/>
              <a:tabLst>
                <a:tab pos="527685" algn="l"/>
              </a:tabLst>
            </a:pPr>
            <a:r>
              <a:rPr lang="fr-FR" sz="3000" dirty="0" smtClean="0">
                <a:latin typeface="Calibri"/>
                <a:cs typeface="Calibri"/>
              </a:rPr>
              <a:t>Les branches et la gestion des conflits</a:t>
            </a:r>
          </a:p>
          <a:p>
            <a:pPr marL="527685" indent="-514984">
              <a:lnSpc>
                <a:spcPct val="100000"/>
              </a:lnSpc>
              <a:spcBef>
                <a:spcPts val="509"/>
              </a:spcBef>
              <a:buClr>
                <a:srgbClr val="EB7B2F"/>
              </a:buClr>
              <a:buAutoNum type="arabicPeriod"/>
              <a:tabLst>
                <a:tab pos="527685" algn="l"/>
              </a:tabLst>
            </a:pPr>
            <a:r>
              <a:rPr lang="fr-FR" sz="3000" spc="-10" dirty="0" smtClean="0">
                <a:latin typeface="Calibri"/>
                <a:cs typeface="Calibri"/>
              </a:rPr>
              <a:t>Le pull </a:t>
            </a:r>
            <a:r>
              <a:rPr lang="fr-FR" sz="3000" spc="-10" dirty="0" err="1" smtClean="0">
                <a:latin typeface="Calibri"/>
                <a:cs typeface="Calibri"/>
              </a:rPr>
              <a:t>request</a:t>
            </a:r>
            <a:endParaRPr lang="fr-FR" sz="3000" spc="-10" dirty="0" smtClean="0">
              <a:latin typeface="Calibri"/>
              <a:cs typeface="Calibri"/>
            </a:endParaRPr>
          </a:p>
          <a:p>
            <a:pPr marL="527685" indent="-514984">
              <a:spcBef>
                <a:spcPts val="509"/>
              </a:spcBef>
              <a:buClr>
                <a:srgbClr val="EB7B2F"/>
              </a:buClr>
              <a:buFontTx/>
              <a:buAutoNum type="arabicPeriod"/>
              <a:tabLst>
                <a:tab pos="527685" algn="l"/>
              </a:tabLst>
            </a:pPr>
            <a:r>
              <a:rPr lang="fr-FR" sz="3000" dirty="0" smtClean="0">
                <a:latin typeface="Calibri"/>
                <a:cs typeface="Calibri"/>
              </a:rPr>
              <a:t>Commandes git avancées</a:t>
            </a:r>
          </a:p>
          <a:p>
            <a:pPr marL="12701">
              <a:lnSpc>
                <a:spcPct val="100000"/>
              </a:lnSpc>
              <a:spcBef>
                <a:spcPts val="509"/>
              </a:spcBef>
              <a:buClr>
                <a:srgbClr val="EB7B2F"/>
              </a:buClr>
              <a:tabLst>
                <a:tab pos="527685" algn="l"/>
              </a:tabLst>
            </a:pPr>
            <a:endParaRPr lang="fr-FR" sz="3000" spc="-10" dirty="0" smtClean="0">
              <a:latin typeface="Calibri"/>
              <a:cs typeface="Calibri"/>
            </a:endParaRPr>
          </a:p>
          <a:p>
            <a:pPr marL="527685" indent="-514984">
              <a:lnSpc>
                <a:spcPct val="100000"/>
              </a:lnSpc>
              <a:spcBef>
                <a:spcPts val="509"/>
              </a:spcBef>
              <a:buClr>
                <a:srgbClr val="EB7B2F"/>
              </a:buClr>
              <a:buAutoNum type="arabicPeriod"/>
              <a:tabLst>
                <a:tab pos="527685" algn="l"/>
              </a:tabLst>
            </a:pPr>
            <a:endParaRPr lang="fr-FR" sz="3000" dirty="0">
              <a:latin typeface="Calibri"/>
              <a:cs typeface="Calibri"/>
            </a:endParaRPr>
          </a:p>
        </p:txBody>
      </p:sp>
      <p:sp>
        <p:nvSpPr>
          <p:cNvPr id="3" name="object 3"/>
          <p:cNvSpPr txBox="1">
            <a:spLocks noGrp="1"/>
          </p:cNvSpPr>
          <p:nvPr>
            <p:ph type="title"/>
          </p:nvPr>
        </p:nvSpPr>
        <p:spPr>
          <a:prstGeom prst="rect">
            <a:avLst/>
          </a:prstGeom>
        </p:spPr>
        <p:txBody>
          <a:bodyPr vert="horz" wrap="square" lIns="0" tIns="13335" rIns="0" bIns="0" rtlCol="0">
            <a:spAutoFit/>
          </a:bodyPr>
          <a:lstStyle/>
          <a:p>
            <a:pPr marL="37465">
              <a:lnSpc>
                <a:spcPct val="100000"/>
              </a:lnSpc>
              <a:spcBef>
                <a:spcPts val="105"/>
              </a:spcBef>
            </a:pPr>
            <a:r>
              <a:rPr spc="-20" dirty="0"/>
              <a:t>Plan</a:t>
            </a:r>
          </a:p>
        </p:txBody>
      </p:sp>
      <p:sp>
        <p:nvSpPr>
          <p:cNvPr id="4" name="object 4"/>
          <p:cNvSpPr txBox="1"/>
          <p:nvPr/>
        </p:nvSpPr>
        <p:spPr>
          <a:xfrm>
            <a:off x="11961621" y="6481978"/>
            <a:ext cx="154940" cy="331470"/>
          </a:xfrm>
          <a:prstGeom prst="rect">
            <a:avLst/>
          </a:prstGeom>
        </p:spPr>
        <p:txBody>
          <a:bodyPr vert="horz" wrap="square" lIns="0" tIns="13335" rIns="0" bIns="0" rtlCol="0">
            <a:spAutoFit/>
          </a:bodyPr>
          <a:lstStyle/>
          <a:p>
            <a:pPr marL="12700">
              <a:lnSpc>
                <a:spcPct val="100000"/>
              </a:lnSpc>
              <a:spcBef>
                <a:spcPts val="105"/>
              </a:spcBef>
            </a:pPr>
            <a:r>
              <a:rPr sz="2000" spc="-50" dirty="0">
                <a:solidFill>
                  <a:srgbClr val="A3A3A3"/>
                </a:solidFill>
                <a:latin typeface="Calibri"/>
                <a:cs typeface="Calibri"/>
              </a:rPr>
              <a:t>2</a:t>
            </a:r>
            <a:endParaRPr sz="2000">
              <a:latin typeface="Calibri"/>
              <a:cs typeface="Calibri"/>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0539" y="3504133"/>
            <a:ext cx="8479790" cy="1854835"/>
          </a:xfrm>
          <a:prstGeom prst="rect">
            <a:avLst/>
          </a:prstGeom>
        </p:spPr>
        <p:txBody>
          <a:bodyPr vert="horz" wrap="square" lIns="0" tIns="12700" rIns="0" bIns="0" rtlCol="0">
            <a:spAutoFit/>
          </a:bodyPr>
          <a:lstStyle/>
          <a:p>
            <a:pPr marL="12700">
              <a:lnSpc>
                <a:spcPct val="100000"/>
              </a:lnSpc>
              <a:spcBef>
                <a:spcPts val="100"/>
              </a:spcBef>
            </a:pPr>
            <a:r>
              <a:rPr sz="6000" dirty="0"/>
              <a:t>1.</a:t>
            </a:r>
            <a:r>
              <a:rPr sz="6000" spc="-150" dirty="0"/>
              <a:t> </a:t>
            </a:r>
            <a:r>
              <a:rPr sz="6000" dirty="0"/>
              <a:t>L’importance</a:t>
            </a:r>
            <a:r>
              <a:rPr sz="6000" spc="-50" dirty="0"/>
              <a:t> </a:t>
            </a:r>
            <a:r>
              <a:rPr sz="6000" dirty="0"/>
              <a:t>de</a:t>
            </a:r>
            <a:r>
              <a:rPr sz="6000" spc="-25" dirty="0"/>
              <a:t> </a:t>
            </a:r>
            <a:r>
              <a:rPr sz="6000" spc="-10" dirty="0"/>
              <a:t>contrôle</a:t>
            </a:r>
            <a:endParaRPr sz="6000"/>
          </a:p>
          <a:p>
            <a:pPr marL="12700">
              <a:lnSpc>
                <a:spcPct val="100000"/>
              </a:lnSpc>
              <a:spcBef>
                <a:spcPts val="5"/>
              </a:spcBef>
            </a:pPr>
            <a:r>
              <a:rPr sz="6000" dirty="0"/>
              <a:t>de</a:t>
            </a:r>
            <a:r>
              <a:rPr sz="6000" spc="-10" dirty="0"/>
              <a:t> versions</a:t>
            </a:r>
            <a:endParaRPr sz="6000"/>
          </a:p>
        </p:txBody>
      </p:sp>
      <p:sp>
        <p:nvSpPr>
          <p:cNvPr id="3" name="object 3"/>
          <p:cNvSpPr txBox="1"/>
          <p:nvPr/>
        </p:nvSpPr>
        <p:spPr>
          <a:xfrm>
            <a:off x="11176507" y="6419494"/>
            <a:ext cx="102870" cy="208279"/>
          </a:xfrm>
          <a:prstGeom prst="rect">
            <a:avLst/>
          </a:prstGeom>
        </p:spPr>
        <p:txBody>
          <a:bodyPr vert="horz" wrap="square" lIns="0" tIns="12700" rIns="0" bIns="0" rtlCol="0">
            <a:spAutoFit/>
          </a:bodyPr>
          <a:lstStyle/>
          <a:p>
            <a:pPr marL="12700">
              <a:lnSpc>
                <a:spcPct val="100000"/>
              </a:lnSpc>
              <a:spcBef>
                <a:spcPts val="100"/>
              </a:spcBef>
            </a:pPr>
            <a:r>
              <a:rPr sz="1200" spc="-50" dirty="0">
                <a:solidFill>
                  <a:srgbClr val="A3A3A3"/>
                </a:solidFill>
                <a:latin typeface="Calibri"/>
                <a:cs typeface="Calibri"/>
              </a:rPr>
              <a:t>3</a:t>
            </a:r>
            <a:endParaRPr sz="1200">
              <a:latin typeface="Calibri"/>
              <a:cs typeface="Calibri"/>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6588" y="16840"/>
            <a:ext cx="2482215" cy="697230"/>
          </a:xfrm>
          <a:prstGeom prst="rect">
            <a:avLst/>
          </a:prstGeom>
        </p:spPr>
        <p:txBody>
          <a:bodyPr vert="horz" wrap="square" lIns="0" tIns="13335" rIns="0" bIns="0" rtlCol="0">
            <a:spAutoFit/>
          </a:bodyPr>
          <a:lstStyle/>
          <a:p>
            <a:pPr marL="12700">
              <a:lnSpc>
                <a:spcPct val="100000"/>
              </a:lnSpc>
              <a:spcBef>
                <a:spcPts val="105"/>
              </a:spcBef>
            </a:pPr>
            <a:r>
              <a:rPr spc="-10" dirty="0"/>
              <a:t>Motivation</a:t>
            </a:r>
          </a:p>
        </p:txBody>
      </p:sp>
      <p:pic>
        <p:nvPicPr>
          <p:cNvPr id="3" name="object 3"/>
          <p:cNvPicPr/>
          <p:nvPr/>
        </p:nvPicPr>
        <p:blipFill>
          <a:blip r:embed="rId2" cstate="print"/>
          <a:stretch>
            <a:fillRect/>
          </a:stretch>
        </p:blipFill>
        <p:spPr>
          <a:xfrm>
            <a:off x="516140" y="1752536"/>
            <a:ext cx="11371072" cy="4439031"/>
          </a:xfrm>
          <a:prstGeom prst="rect">
            <a:avLst/>
          </a:prstGeom>
        </p:spPr>
      </p:pic>
      <p:sp>
        <p:nvSpPr>
          <p:cNvPr id="4" name="object 4"/>
          <p:cNvSpPr txBox="1"/>
          <p:nvPr/>
        </p:nvSpPr>
        <p:spPr>
          <a:xfrm>
            <a:off x="2819400" y="2057374"/>
            <a:ext cx="8458200" cy="646430"/>
          </a:xfrm>
          <a:prstGeom prst="rect">
            <a:avLst/>
          </a:prstGeom>
          <a:solidFill>
            <a:srgbClr val="E6DFEB"/>
          </a:solidFill>
        </p:spPr>
        <p:txBody>
          <a:bodyPr vert="horz" wrap="square" lIns="0" tIns="40005" rIns="0" bIns="0" rtlCol="0">
            <a:spAutoFit/>
          </a:bodyPr>
          <a:lstStyle/>
          <a:p>
            <a:pPr marL="91440">
              <a:lnSpc>
                <a:spcPct val="100000"/>
              </a:lnSpc>
              <a:spcBef>
                <a:spcPts val="315"/>
              </a:spcBef>
            </a:pPr>
            <a:r>
              <a:rPr sz="1800" dirty="0">
                <a:latin typeface="Arial MT"/>
                <a:cs typeface="Arial MT"/>
              </a:rPr>
              <a:t>Sans</a:t>
            </a:r>
            <a:r>
              <a:rPr sz="1800" spc="-30" dirty="0">
                <a:latin typeface="Arial MT"/>
                <a:cs typeface="Arial MT"/>
              </a:rPr>
              <a:t> </a:t>
            </a:r>
            <a:r>
              <a:rPr sz="1800" dirty="0">
                <a:latin typeface="Arial MT"/>
                <a:cs typeface="Arial MT"/>
              </a:rPr>
              <a:t>VCS,</a:t>
            </a:r>
            <a:r>
              <a:rPr sz="1800" spc="-20" dirty="0">
                <a:latin typeface="Arial MT"/>
                <a:cs typeface="Arial MT"/>
              </a:rPr>
              <a:t> </a:t>
            </a:r>
            <a:r>
              <a:rPr sz="1800" dirty="0">
                <a:latin typeface="Arial MT"/>
                <a:cs typeface="Arial MT"/>
              </a:rPr>
              <a:t>les</a:t>
            </a:r>
            <a:r>
              <a:rPr sz="1800" spc="-30" dirty="0">
                <a:latin typeface="Arial MT"/>
                <a:cs typeface="Arial MT"/>
              </a:rPr>
              <a:t> </a:t>
            </a:r>
            <a:r>
              <a:rPr sz="1800" dirty="0">
                <a:latin typeface="Arial MT"/>
                <a:cs typeface="Arial MT"/>
              </a:rPr>
              <a:t>membres</a:t>
            </a:r>
            <a:r>
              <a:rPr sz="1800" spc="-15" dirty="0">
                <a:latin typeface="Arial MT"/>
                <a:cs typeface="Arial MT"/>
              </a:rPr>
              <a:t> </a:t>
            </a:r>
            <a:r>
              <a:rPr sz="1800" dirty="0">
                <a:latin typeface="Arial MT"/>
                <a:cs typeface="Arial MT"/>
              </a:rPr>
              <a:t>d’une</a:t>
            </a:r>
            <a:r>
              <a:rPr sz="1800" spc="-20" dirty="0">
                <a:latin typeface="Arial MT"/>
                <a:cs typeface="Arial MT"/>
              </a:rPr>
              <a:t> </a:t>
            </a:r>
            <a:r>
              <a:rPr sz="1800" dirty="0">
                <a:latin typeface="Arial MT"/>
                <a:cs typeface="Arial MT"/>
              </a:rPr>
              <a:t>équipe</a:t>
            </a:r>
            <a:r>
              <a:rPr sz="1800" spc="-15" dirty="0">
                <a:latin typeface="Arial MT"/>
                <a:cs typeface="Arial MT"/>
              </a:rPr>
              <a:t> </a:t>
            </a:r>
            <a:r>
              <a:rPr sz="1800" dirty="0">
                <a:latin typeface="Arial MT"/>
                <a:cs typeface="Arial MT"/>
              </a:rPr>
              <a:t>travaillant</a:t>
            </a:r>
            <a:r>
              <a:rPr sz="1800" spc="-15" dirty="0">
                <a:latin typeface="Arial MT"/>
                <a:cs typeface="Arial MT"/>
              </a:rPr>
              <a:t> </a:t>
            </a:r>
            <a:r>
              <a:rPr sz="1800" dirty="0">
                <a:latin typeface="Arial MT"/>
                <a:cs typeface="Arial MT"/>
              </a:rPr>
              <a:t>sur</a:t>
            </a:r>
            <a:r>
              <a:rPr sz="1800" spc="-30" dirty="0">
                <a:latin typeface="Arial MT"/>
                <a:cs typeface="Arial MT"/>
              </a:rPr>
              <a:t> </a:t>
            </a:r>
            <a:r>
              <a:rPr sz="1800" dirty="0">
                <a:latin typeface="Arial MT"/>
                <a:cs typeface="Arial MT"/>
              </a:rPr>
              <a:t>les</a:t>
            </a:r>
            <a:r>
              <a:rPr sz="1800" spc="-15" dirty="0">
                <a:latin typeface="Arial MT"/>
                <a:cs typeface="Arial MT"/>
              </a:rPr>
              <a:t> </a:t>
            </a:r>
            <a:r>
              <a:rPr sz="1800" dirty="0">
                <a:latin typeface="Arial MT"/>
                <a:cs typeface="Arial MT"/>
              </a:rPr>
              <a:t>mêmes</a:t>
            </a:r>
            <a:r>
              <a:rPr sz="1800" spc="-30" dirty="0">
                <a:latin typeface="Arial MT"/>
                <a:cs typeface="Arial MT"/>
              </a:rPr>
              <a:t> </a:t>
            </a:r>
            <a:r>
              <a:rPr sz="1800" dirty="0">
                <a:latin typeface="Arial MT"/>
                <a:cs typeface="Arial MT"/>
              </a:rPr>
              <a:t>fichiers</a:t>
            </a:r>
            <a:r>
              <a:rPr sz="1800" spc="-15" dirty="0">
                <a:latin typeface="Arial MT"/>
                <a:cs typeface="Arial MT"/>
              </a:rPr>
              <a:t> </a:t>
            </a:r>
            <a:r>
              <a:rPr sz="1800" spc="-10" dirty="0">
                <a:latin typeface="Arial MT"/>
                <a:cs typeface="Arial MT"/>
              </a:rPr>
              <a:t>peuvent</a:t>
            </a:r>
            <a:endParaRPr sz="1800" dirty="0">
              <a:latin typeface="Arial MT"/>
              <a:cs typeface="Arial MT"/>
            </a:endParaRPr>
          </a:p>
          <a:p>
            <a:pPr marL="91440">
              <a:lnSpc>
                <a:spcPct val="100000"/>
              </a:lnSpc>
            </a:pPr>
            <a:r>
              <a:rPr sz="1800" dirty="0">
                <a:latin typeface="Arial MT"/>
                <a:cs typeface="Arial MT"/>
              </a:rPr>
              <a:t>écraser</a:t>
            </a:r>
            <a:r>
              <a:rPr sz="1800" spc="-35" dirty="0">
                <a:latin typeface="Arial MT"/>
                <a:cs typeface="Arial MT"/>
              </a:rPr>
              <a:t> </a:t>
            </a:r>
            <a:r>
              <a:rPr sz="1800" dirty="0">
                <a:latin typeface="Arial MT"/>
                <a:cs typeface="Arial MT"/>
              </a:rPr>
              <a:t>les</a:t>
            </a:r>
            <a:r>
              <a:rPr sz="1800" spc="-30" dirty="0">
                <a:latin typeface="Arial MT"/>
                <a:cs typeface="Arial MT"/>
              </a:rPr>
              <a:t> </a:t>
            </a:r>
            <a:r>
              <a:rPr sz="1800" dirty="0">
                <a:latin typeface="Arial MT"/>
                <a:cs typeface="Arial MT"/>
              </a:rPr>
              <a:t>modifications des</a:t>
            </a:r>
            <a:r>
              <a:rPr sz="1800" spc="-30" dirty="0">
                <a:latin typeface="Arial MT"/>
                <a:cs typeface="Arial MT"/>
              </a:rPr>
              <a:t> </a:t>
            </a:r>
            <a:r>
              <a:rPr sz="1800" dirty="0">
                <a:latin typeface="Arial MT"/>
                <a:cs typeface="Arial MT"/>
              </a:rPr>
              <a:t>autres,</a:t>
            </a:r>
            <a:r>
              <a:rPr sz="1800" spc="-20" dirty="0">
                <a:latin typeface="Arial MT"/>
                <a:cs typeface="Arial MT"/>
              </a:rPr>
              <a:t> </a:t>
            </a:r>
            <a:r>
              <a:rPr sz="1800" dirty="0">
                <a:latin typeface="Arial MT"/>
                <a:cs typeface="Arial MT"/>
              </a:rPr>
              <a:t>entrainant</a:t>
            </a:r>
            <a:r>
              <a:rPr sz="1800" spc="-15" dirty="0">
                <a:latin typeface="Arial MT"/>
                <a:cs typeface="Arial MT"/>
              </a:rPr>
              <a:t> </a:t>
            </a:r>
            <a:r>
              <a:rPr sz="1800" dirty="0">
                <a:latin typeface="Arial MT"/>
                <a:cs typeface="Arial MT"/>
              </a:rPr>
              <a:t>la</a:t>
            </a:r>
            <a:r>
              <a:rPr sz="1800" spc="-25" dirty="0">
                <a:latin typeface="Arial MT"/>
                <a:cs typeface="Arial MT"/>
              </a:rPr>
              <a:t> </a:t>
            </a:r>
            <a:r>
              <a:rPr sz="1800" dirty="0">
                <a:latin typeface="Arial MT"/>
                <a:cs typeface="Arial MT"/>
              </a:rPr>
              <a:t>perte</a:t>
            </a:r>
            <a:r>
              <a:rPr sz="1800" spc="-25" dirty="0">
                <a:latin typeface="Arial MT"/>
                <a:cs typeface="Arial MT"/>
              </a:rPr>
              <a:t> </a:t>
            </a:r>
            <a:r>
              <a:rPr sz="1800" dirty="0">
                <a:latin typeface="Arial MT"/>
                <a:cs typeface="Arial MT"/>
              </a:rPr>
              <a:t>des</a:t>
            </a:r>
            <a:r>
              <a:rPr sz="1800" spc="-25" dirty="0">
                <a:latin typeface="Arial MT"/>
                <a:cs typeface="Arial MT"/>
              </a:rPr>
              <a:t> </a:t>
            </a:r>
            <a:r>
              <a:rPr sz="1800" spc="-10" dirty="0">
                <a:latin typeface="Arial MT"/>
                <a:cs typeface="Arial MT"/>
              </a:rPr>
              <a:t>données.</a:t>
            </a:r>
            <a:endParaRPr sz="1800" dirty="0">
              <a:latin typeface="Arial MT"/>
              <a:cs typeface="Arial MT"/>
            </a:endParaRPr>
          </a:p>
        </p:txBody>
      </p:sp>
      <p:sp>
        <p:nvSpPr>
          <p:cNvPr id="5" name="object 5"/>
          <p:cNvSpPr txBox="1"/>
          <p:nvPr/>
        </p:nvSpPr>
        <p:spPr>
          <a:xfrm>
            <a:off x="4419600" y="3606266"/>
            <a:ext cx="7256780" cy="646430"/>
          </a:xfrm>
          <a:prstGeom prst="rect">
            <a:avLst/>
          </a:prstGeom>
          <a:solidFill>
            <a:srgbClr val="F1DCDB"/>
          </a:solidFill>
        </p:spPr>
        <p:txBody>
          <a:bodyPr vert="horz" wrap="square" lIns="0" tIns="40005" rIns="0" bIns="0" rtlCol="0">
            <a:spAutoFit/>
          </a:bodyPr>
          <a:lstStyle/>
          <a:p>
            <a:pPr marL="92075">
              <a:lnSpc>
                <a:spcPct val="100000"/>
              </a:lnSpc>
              <a:spcBef>
                <a:spcPts val="315"/>
              </a:spcBef>
            </a:pPr>
            <a:r>
              <a:rPr sz="1800" dirty="0">
                <a:latin typeface="Arial MT"/>
                <a:cs typeface="Arial MT"/>
              </a:rPr>
              <a:t>Sans</a:t>
            </a:r>
            <a:r>
              <a:rPr sz="1800" spc="-40" dirty="0">
                <a:latin typeface="Arial MT"/>
                <a:cs typeface="Arial MT"/>
              </a:rPr>
              <a:t> </a:t>
            </a:r>
            <a:r>
              <a:rPr sz="1800" dirty="0">
                <a:latin typeface="Arial MT"/>
                <a:cs typeface="Arial MT"/>
              </a:rPr>
              <a:t>le</a:t>
            </a:r>
            <a:r>
              <a:rPr sz="1800" spc="-25" dirty="0">
                <a:latin typeface="Arial MT"/>
                <a:cs typeface="Arial MT"/>
              </a:rPr>
              <a:t> </a:t>
            </a:r>
            <a:r>
              <a:rPr sz="1800" dirty="0">
                <a:latin typeface="Arial MT"/>
                <a:cs typeface="Arial MT"/>
              </a:rPr>
              <a:t>traçage,</a:t>
            </a:r>
            <a:r>
              <a:rPr sz="1800" spc="-30" dirty="0">
                <a:latin typeface="Arial MT"/>
                <a:cs typeface="Arial MT"/>
              </a:rPr>
              <a:t> </a:t>
            </a:r>
            <a:r>
              <a:rPr sz="1800" dirty="0">
                <a:latin typeface="Arial MT"/>
                <a:cs typeface="Arial MT"/>
              </a:rPr>
              <a:t>c’est</a:t>
            </a:r>
            <a:r>
              <a:rPr sz="1800" spc="-25" dirty="0">
                <a:latin typeface="Arial MT"/>
                <a:cs typeface="Arial MT"/>
              </a:rPr>
              <a:t> </a:t>
            </a:r>
            <a:r>
              <a:rPr sz="1800" dirty="0">
                <a:latin typeface="Arial MT"/>
                <a:cs typeface="Arial MT"/>
              </a:rPr>
              <a:t>difficile</a:t>
            </a:r>
            <a:r>
              <a:rPr sz="1800" spc="-30" dirty="0">
                <a:latin typeface="Arial MT"/>
                <a:cs typeface="Arial MT"/>
              </a:rPr>
              <a:t> </a:t>
            </a:r>
            <a:r>
              <a:rPr sz="1800" dirty="0">
                <a:latin typeface="Arial MT"/>
                <a:cs typeface="Arial MT"/>
              </a:rPr>
              <a:t>de</a:t>
            </a:r>
            <a:r>
              <a:rPr sz="1800" spc="-30" dirty="0">
                <a:latin typeface="Arial MT"/>
                <a:cs typeface="Arial MT"/>
              </a:rPr>
              <a:t> </a:t>
            </a:r>
            <a:r>
              <a:rPr sz="1800" dirty="0">
                <a:latin typeface="Arial MT"/>
                <a:cs typeface="Arial MT"/>
              </a:rPr>
              <a:t>connaitre</a:t>
            </a:r>
            <a:r>
              <a:rPr sz="1800" spc="-15" dirty="0">
                <a:latin typeface="Arial MT"/>
                <a:cs typeface="Arial MT"/>
              </a:rPr>
              <a:t> </a:t>
            </a:r>
            <a:r>
              <a:rPr sz="1800" dirty="0">
                <a:latin typeface="Arial MT"/>
                <a:cs typeface="Arial MT"/>
              </a:rPr>
              <a:t>la</a:t>
            </a:r>
            <a:r>
              <a:rPr sz="1800" spc="-40" dirty="0">
                <a:latin typeface="Arial MT"/>
                <a:cs typeface="Arial MT"/>
              </a:rPr>
              <a:t> </a:t>
            </a:r>
            <a:r>
              <a:rPr sz="1800" dirty="0">
                <a:latin typeface="Arial MT"/>
                <a:cs typeface="Arial MT"/>
              </a:rPr>
              <a:t>personne</a:t>
            </a:r>
            <a:r>
              <a:rPr sz="1800" spc="-10" dirty="0">
                <a:latin typeface="Arial MT"/>
                <a:cs typeface="Arial MT"/>
              </a:rPr>
              <a:t> </a:t>
            </a:r>
            <a:r>
              <a:rPr sz="1800" dirty="0">
                <a:latin typeface="Arial MT"/>
                <a:cs typeface="Arial MT"/>
              </a:rPr>
              <a:t>qui</a:t>
            </a:r>
            <a:r>
              <a:rPr sz="1800" spc="-25" dirty="0">
                <a:latin typeface="Arial MT"/>
                <a:cs typeface="Arial MT"/>
              </a:rPr>
              <a:t> </a:t>
            </a:r>
            <a:r>
              <a:rPr sz="1800" dirty="0">
                <a:latin typeface="Arial MT"/>
                <a:cs typeface="Arial MT"/>
              </a:rPr>
              <a:t>a</a:t>
            </a:r>
            <a:r>
              <a:rPr sz="1800" spc="-35" dirty="0">
                <a:latin typeface="Arial MT"/>
                <a:cs typeface="Arial MT"/>
              </a:rPr>
              <a:t> </a:t>
            </a:r>
            <a:r>
              <a:rPr sz="1800" spc="-10" dirty="0">
                <a:latin typeface="Arial MT"/>
                <a:cs typeface="Arial MT"/>
              </a:rPr>
              <a:t>modifié..</a:t>
            </a:r>
            <a:endParaRPr sz="1800">
              <a:latin typeface="Arial MT"/>
              <a:cs typeface="Arial MT"/>
            </a:endParaRPr>
          </a:p>
          <a:p>
            <a:pPr marL="92075">
              <a:lnSpc>
                <a:spcPct val="100000"/>
              </a:lnSpc>
              <a:spcBef>
                <a:spcPts val="5"/>
              </a:spcBef>
            </a:pPr>
            <a:r>
              <a:rPr sz="1800" dirty="0">
                <a:latin typeface="Arial MT"/>
                <a:cs typeface="Arial MT"/>
              </a:rPr>
              <a:t>ça</a:t>
            </a:r>
            <a:r>
              <a:rPr sz="1800" spc="-20" dirty="0">
                <a:latin typeface="Arial MT"/>
                <a:cs typeface="Arial MT"/>
              </a:rPr>
              <a:t> </a:t>
            </a:r>
            <a:r>
              <a:rPr sz="1800" dirty="0">
                <a:latin typeface="Arial MT"/>
                <a:cs typeface="Arial MT"/>
              </a:rPr>
              <a:t>limite</a:t>
            </a:r>
            <a:r>
              <a:rPr sz="1800" spc="-15" dirty="0">
                <a:latin typeface="Arial MT"/>
                <a:cs typeface="Arial MT"/>
              </a:rPr>
              <a:t> </a:t>
            </a:r>
            <a:r>
              <a:rPr sz="1800" dirty="0">
                <a:latin typeface="Arial MT"/>
                <a:cs typeface="Arial MT"/>
              </a:rPr>
              <a:t>la</a:t>
            </a:r>
            <a:r>
              <a:rPr sz="1800" spc="-30" dirty="0">
                <a:latin typeface="Arial MT"/>
                <a:cs typeface="Arial MT"/>
              </a:rPr>
              <a:t> </a:t>
            </a:r>
            <a:r>
              <a:rPr sz="1800" dirty="0">
                <a:latin typeface="Arial MT"/>
                <a:cs typeface="Arial MT"/>
              </a:rPr>
              <a:t>transparence et</a:t>
            </a:r>
            <a:r>
              <a:rPr sz="1800" spc="-25" dirty="0">
                <a:latin typeface="Arial MT"/>
                <a:cs typeface="Arial MT"/>
              </a:rPr>
              <a:t> </a:t>
            </a:r>
            <a:r>
              <a:rPr sz="1800" dirty="0">
                <a:latin typeface="Arial MT"/>
                <a:cs typeface="Arial MT"/>
              </a:rPr>
              <a:t>la</a:t>
            </a:r>
            <a:r>
              <a:rPr sz="1800" spc="-15" dirty="0">
                <a:latin typeface="Arial MT"/>
                <a:cs typeface="Arial MT"/>
              </a:rPr>
              <a:t> </a:t>
            </a:r>
            <a:r>
              <a:rPr sz="1800" spc="-10" dirty="0">
                <a:latin typeface="Arial MT"/>
                <a:cs typeface="Arial MT"/>
              </a:rPr>
              <a:t>responsabilité</a:t>
            </a:r>
            <a:endParaRPr sz="1800">
              <a:latin typeface="Arial MT"/>
              <a:cs typeface="Arial MT"/>
            </a:endParaRPr>
          </a:p>
        </p:txBody>
      </p:sp>
      <p:sp>
        <p:nvSpPr>
          <p:cNvPr id="6" name="object 6"/>
          <p:cNvSpPr txBox="1"/>
          <p:nvPr/>
        </p:nvSpPr>
        <p:spPr>
          <a:xfrm>
            <a:off x="2819400" y="5373471"/>
            <a:ext cx="8382000" cy="646430"/>
          </a:xfrm>
          <a:prstGeom prst="rect">
            <a:avLst/>
          </a:prstGeom>
          <a:solidFill>
            <a:srgbClr val="EBF0DE"/>
          </a:solidFill>
        </p:spPr>
        <p:txBody>
          <a:bodyPr vert="horz" wrap="square" lIns="0" tIns="40640" rIns="0" bIns="0" rtlCol="0">
            <a:spAutoFit/>
          </a:bodyPr>
          <a:lstStyle/>
          <a:p>
            <a:pPr marL="91440">
              <a:lnSpc>
                <a:spcPct val="100000"/>
              </a:lnSpc>
              <a:spcBef>
                <a:spcPts val="320"/>
              </a:spcBef>
            </a:pPr>
            <a:r>
              <a:rPr sz="1800" dirty="0">
                <a:latin typeface="Arial MT"/>
                <a:cs typeface="Arial MT"/>
              </a:rPr>
              <a:t>La</a:t>
            </a:r>
            <a:r>
              <a:rPr sz="1800" spc="-40" dirty="0">
                <a:latin typeface="Arial MT"/>
                <a:cs typeface="Arial MT"/>
              </a:rPr>
              <a:t> </a:t>
            </a:r>
            <a:r>
              <a:rPr sz="1800" dirty="0">
                <a:latin typeface="Arial MT"/>
                <a:cs typeface="Arial MT"/>
              </a:rPr>
              <a:t>collaboration</a:t>
            </a:r>
            <a:r>
              <a:rPr sz="1800" spc="-5" dirty="0">
                <a:latin typeface="Arial MT"/>
                <a:cs typeface="Arial MT"/>
              </a:rPr>
              <a:t> </a:t>
            </a:r>
            <a:r>
              <a:rPr sz="1800" dirty="0">
                <a:latin typeface="Arial MT"/>
                <a:cs typeface="Arial MT"/>
              </a:rPr>
              <a:t>devient</a:t>
            </a:r>
            <a:r>
              <a:rPr sz="1800" spc="-15" dirty="0">
                <a:latin typeface="Arial MT"/>
                <a:cs typeface="Arial MT"/>
              </a:rPr>
              <a:t> </a:t>
            </a:r>
            <a:r>
              <a:rPr sz="1800" dirty="0">
                <a:latin typeface="Arial MT"/>
                <a:cs typeface="Arial MT"/>
              </a:rPr>
              <a:t>non</a:t>
            </a:r>
            <a:r>
              <a:rPr sz="1800" spc="-25" dirty="0">
                <a:latin typeface="Arial MT"/>
                <a:cs typeface="Arial MT"/>
              </a:rPr>
              <a:t> </a:t>
            </a:r>
            <a:r>
              <a:rPr sz="1800" dirty="0">
                <a:latin typeface="Arial MT"/>
                <a:cs typeface="Arial MT"/>
              </a:rPr>
              <a:t>structurée</a:t>
            </a:r>
            <a:r>
              <a:rPr sz="1800" spc="-25" dirty="0">
                <a:latin typeface="Arial MT"/>
                <a:cs typeface="Arial MT"/>
              </a:rPr>
              <a:t> </a:t>
            </a:r>
            <a:r>
              <a:rPr sz="1800" dirty="0">
                <a:latin typeface="Arial MT"/>
                <a:cs typeface="Arial MT"/>
              </a:rPr>
              <a:t>car</a:t>
            </a:r>
            <a:r>
              <a:rPr sz="1800" spc="-30" dirty="0">
                <a:latin typeface="Arial MT"/>
                <a:cs typeface="Arial MT"/>
              </a:rPr>
              <a:t> </a:t>
            </a:r>
            <a:r>
              <a:rPr sz="1800" dirty="0">
                <a:latin typeface="Arial MT"/>
                <a:cs typeface="Arial MT"/>
              </a:rPr>
              <a:t>il</a:t>
            </a:r>
            <a:r>
              <a:rPr sz="1800" spc="-25" dirty="0">
                <a:latin typeface="Arial MT"/>
                <a:cs typeface="Arial MT"/>
              </a:rPr>
              <a:t> </a:t>
            </a:r>
            <a:r>
              <a:rPr sz="1800" dirty="0">
                <a:latin typeface="Arial MT"/>
                <a:cs typeface="Arial MT"/>
              </a:rPr>
              <a:t>n’existe</a:t>
            </a:r>
            <a:r>
              <a:rPr sz="1800" spc="-10" dirty="0">
                <a:latin typeface="Arial MT"/>
                <a:cs typeface="Arial MT"/>
              </a:rPr>
              <a:t> </a:t>
            </a:r>
            <a:r>
              <a:rPr sz="1800" dirty="0">
                <a:latin typeface="Arial MT"/>
                <a:cs typeface="Arial MT"/>
              </a:rPr>
              <a:t>aucun</a:t>
            </a:r>
            <a:r>
              <a:rPr sz="1800" spc="-25" dirty="0">
                <a:latin typeface="Arial MT"/>
                <a:cs typeface="Arial MT"/>
              </a:rPr>
              <a:t> </a:t>
            </a:r>
            <a:r>
              <a:rPr sz="1800" dirty="0">
                <a:latin typeface="Arial MT"/>
                <a:cs typeface="Arial MT"/>
              </a:rPr>
              <a:t>moyen sûr</a:t>
            </a:r>
            <a:r>
              <a:rPr sz="1800" spc="-30" dirty="0">
                <a:latin typeface="Arial MT"/>
                <a:cs typeface="Arial MT"/>
              </a:rPr>
              <a:t> </a:t>
            </a:r>
            <a:r>
              <a:rPr sz="1800" dirty="0">
                <a:latin typeface="Arial MT"/>
                <a:cs typeface="Arial MT"/>
              </a:rPr>
              <a:t>de</a:t>
            </a:r>
            <a:r>
              <a:rPr sz="1800" spc="-25" dirty="0">
                <a:latin typeface="Arial MT"/>
                <a:cs typeface="Arial MT"/>
              </a:rPr>
              <a:t> </a:t>
            </a:r>
            <a:r>
              <a:rPr sz="1800" spc="-10" dirty="0">
                <a:latin typeface="Arial MT"/>
                <a:cs typeface="Arial MT"/>
              </a:rPr>
              <a:t>tester</a:t>
            </a:r>
            <a:endParaRPr sz="1800">
              <a:latin typeface="Arial MT"/>
              <a:cs typeface="Arial MT"/>
            </a:endParaRPr>
          </a:p>
          <a:p>
            <a:pPr marL="91440">
              <a:lnSpc>
                <a:spcPct val="100000"/>
              </a:lnSpc>
            </a:pPr>
            <a:r>
              <a:rPr sz="1800" dirty="0">
                <a:latin typeface="Arial MT"/>
                <a:cs typeface="Arial MT"/>
              </a:rPr>
              <a:t>de</a:t>
            </a:r>
            <a:r>
              <a:rPr sz="1800" spc="-40" dirty="0">
                <a:latin typeface="Arial MT"/>
                <a:cs typeface="Arial MT"/>
              </a:rPr>
              <a:t> </a:t>
            </a:r>
            <a:r>
              <a:rPr sz="1800" dirty="0">
                <a:latin typeface="Arial MT"/>
                <a:cs typeface="Arial MT"/>
              </a:rPr>
              <a:t>nouvelles</a:t>
            </a:r>
            <a:r>
              <a:rPr sz="1800" spc="-15" dirty="0">
                <a:latin typeface="Arial MT"/>
                <a:cs typeface="Arial MT"/>
              </a:rPr>
              <a:t> </a:t>
            </a:r>
            <a:r>
              <a:rPr sz="1800" dirty="0">
                <a:latin typeface="Arial MT"/>
                <a:cs typeface="Arial MT"/>
              </a:rPr>
              <a:t>fonctionnalités</a:t>
            </a:r>
            <a:r>
              <a:rPr sz="1800" spc="-5" dirty="0">
                <a:latin typeface="Arial MT"/>
                <a:cs typeface="Arial MT"/>
              </a:rPr>
              <a:t> </a:t>
            </a:r>
            <a:r>
              <a:rPr sz="1800" dirty="0">
                <a:latin typeface="Arial MT"/>
                <a:cs typeface="Arial MT"/>
              </a:rPr>
              <a:t>ou</a:t>
            </a:r>
            <a:r>
              <a:rPr sz="1800" spc="-25" dirty="0">
                <a:latin typeface="Arial MT"/>
                <a:cs typeface="Arial MT"/>
              </a:rPr>
              <a:t> </a:t>
            </a:r>
            <a:r>
              <a:rPr sz="1800" dirty="0">
                <a:latin typeface="Arial MT"/>
                <a:cs typeface="Arial MT"/>
              </a:rPr>
              <a:t>de</a:t>
            </a:r>
            <a:r>
              <a:rPr sz="1800" spc="-40" dirty="0">
                <a:latin typeface="Arial MT"/>
                <a:cs typeface="Arial MT"/>
              </a:rPr>
              <a:t> </a:t>
            </a:r>
            <a:r>
              <a:rPr sz="1800" dirty="0">
                <a:latin typeface="Arial MT"/>
                <a:cs typeface="Arial MT"/>
              </a:rPr>
              <a:t>corriger</a:t>
            </a:r>
            <a:r>
              <a:rPr sz="1800" spc="-25" dirty="0">
                <a:latin typeface="Arial MT"/>
                <a:cs typeface="Arial MT"/>
              </a:rPr>
              <a:t> </a:t>
            </a:r>
            <a:r>
              <a:rPr sz="1800" dirty="0">
                <a:latin typeface="Arial MT"/>
                <a:cs typeface="Arial MT"/>
              </a:rPr>
              <a:t>des</a:t>
            </a:r>
            <a:r>
              <a:rPr sz="1800" spc="-30" dirty="0">
                <a:latin typeface="Arial MT"/>
                <a:cs typeface="Arial MT"/>
              </a:rPr>
              <a:t> </a:t>
            </a:r>
            <a:r>
              <a:rPr sz="1800" dirty="0">
                <a:latin typeface="Arial MT"/>
                <a:cs typeface="Arial MT"/>
              </a:rPr>
              <a:t>erreurs</a:t>
            </a:r>
            <a:r>
              <a:rPr sz="1800" spc="-20" dirty="0">
                <a:latin typeface="Arial MT"/>
                <a:cs typeface="Arial MT"/>
              </a:rPr>
              <a:t> </a:t>
            </a:r>
            <a:r>
              <a:rPr sz="1800" dirty="0">
                <a:latin typeface="Arial MT"/>
                <a:cs typeface="Arial MT"/>
              </a:rPr>
              <a:t>de</a:t>
            </a:r>
            <a:r>
              <a:rPr sz="1800" spc="-35" dirty="0">
                <a:latin typeface="Arial MT"/>
                <a:cs typeface="Arial MT"/>
              </a:rPr>
              <a:t> </a:t>
            </a:r>
            <a:r>
              <a:rPr sz="1800" dirty="0">
                <a:latin typeface="Arial MT"/>
                <a:cs typeface="Arial MT"/>
              </a:rPr>
              <a:t>manière</a:t>
            </a:r>
            <a:r>
              <a:rPr sz="1800" spc="-15" dirty="0">
                <a:latin typeface="Arial MT"/>
                <a:cs typeface="Arial MT"/>
              </a:rPr>
              <a:t> </a:t>
            </a:r>
            <a:r>
              <a:rPr sz="1800" spc="-10" dirty="0">
                <a:latin typeface="Arial MT"/>
                <a:cs typeface="Arial MT"/>
              </a:rPr>
              <a:t>isolée.</a:t>
            </a:r>
            <a:endParaRPr sz="1800">
              <a:latin typeface="Arial MT"/>
              <a:cs typeface="Arial MT"/>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0539" y="3504133"/>
            <a:ext cx="9944735" cy="1854835"/>
          </a:xfrm>
          <a:prstGeom prst="rect">
            <a:avLst/>
          </a:prstGeom>
        </p:spPr>
        <p:txBody>
          <a:bodyPr vert="horz" wrap="square" lIns="0" tIns="12700" rIns="0" bIns="0" rtlCol="0">
            <a:spAutoFit/>
          </a:bodyPr>
          <a:lstStyle/>
          <a:p>
            <a:pPr marL="12700">
              <a:lnSpc>
                <a:spcPct val="100000"/>
              </a:lnSpc>
              <a:spcBef>
                <a:spcPts val="100"/>
              </a:spcBef>
            </a:pPr>
            <a:r>
              <a:rPr sz="6000" dirty="0"/>
              <a:t>2.</a:t>
            </a:r>
            <a:r>
              <a:rPr sz="6000" spc="-235" dirty="0"/>
              <a:t> </a:t>
            </a:r>
            <a:r>
              <a:rPr sz="6000" dirty="0">
                <a:latin typeface="Calibri"/>
                <a:cs typeface="Calibri"/>
              </a:rPr>
              <a:t>Présentation</a:t>
            </a:r>
            <a:r>
              <a:rPr sz="6000" spc="-130" dirty="0">
                <a:latin typeface="Calibri"/>
                <a:cs typeface="Calibri"/>
              </a:rPr>
              <a:t> </a:t>
            </a:r>
            <a:r>
              <a:rPr sz="6000" dirty="0">
                <a:latin typeface="Calibri"/>
                <a:cs typeface="Calibri"/>
              </a:rPr>
              <a:t>d’un</a:t>
            </a:r>
            <a:r>
              <a:rPr sz="6000" spc="-160" dirty="0">
                <a:latin typeface="Calibri"/>
                <a:cs typeface="Calibri"/>
              </a:rPr>
              <a:t> </a:t>
            </a:r>
            <a:r>
              <a:rPr sz="6000" dirty="0">
                <a:latin typeface="Calibri"/>
                <a:cs typeface="Calibri"/>
              </a:rPr>
              <a:t>système</a:t>
            </a:r>
            <a:r>
              <a:rPr sz="6000" spc="-130" dirty="0">
                <a:latin typeface="Calibri"/>
                <a:cs typeface="Calibri"/>
              </a:rPr>
              <a:t> </a:t>
            </a:r>
            <a:r>
              <a:rPr sz="6000" spc="-25" dirty="0">
                <a:latin typeface="Calibri"/>
                <a:cs typeface="Calibri"/>
              </a:rPr>
              <a:t>de</a:t>
            </a:r>
            <a:endParaRPr sz="6000">
              <a:latin typeface="Calibri"/>
              <a:cs typeface="Calibri"/>
            </a:endParaRPr>
          </a:p>
          <a:p>
            <a:pPr marL="12700">
              <a:lnSpc>
                <a:spcPct val="100000"/>
              </a:lnSpc>
              <a:spcBef>
                <a:spcPts val="5"/>
              </a:spcBef>
            </a:pPr>
            <a:r>
              <a:rPr sz="6000" dirty="0">
                <a:latin typeface="Calibri"/>
                <a:cs typeface="Calibri"/>
              </a:rPr>
              <a:t>contrôle</a:t>
            </a:r>
            <a:r>
              <a:rPr sz="6000" spc="-150" dirty="0">
                <a:latin typeface="Calibri"/>
                <a:cs typeface="Calibri"/>
              </a:rPr>
              <a:t> </a:t>
            </a:r>
            <a:r>
              <a:rPr sz="6000" dirty="0">
                <a:latin typeface="Calibri"/>
                <a:cs typeface="Calibri"/>
              </a:rPr>
              <a:t>de</a:t>
            </a:r>
            <a:r>
              <a:rPr sz="6000" spc="-120" dirty="0">
                <a:latin typeface="Calibri"/>
                <a:cs typeface="Calibri"/>
              </a:rPr>
              <a:t> </a:t>
            </a:r>
            <a:r>
              <a:rPr sz="6000" spc="-10" dirty="0">
                <a:latin typeface="Calibri"/>
                <a:cs typeface="Calibri"/>
              </a:rPr>
              <a:t>versions</a:t>
            </a:r>
            <a:endParaRPr sz="6000">
              <a:latin typeface="Calibri"/>
              <a:cs typeface="Calibri"/>
            </a:endParaRPr>
          </a:p>
        </p:txBody>
      </p:sp>
      <p:sp>
        <p:nvSpPr>
          <p:cNvPr id="3" name="object 3"/>
          <p:cNvSpPr txBox="1"/>
          <p:nvPr/>
        </p:nvSpPr>
        <p:spPr>
          <a:xfrm>
            <a:off x="11176507" y="6419494"/>
            <a:ext cx="102870" cy="208279"/>
          </a:xfrm>
          <a:prstGeom prst="rect">
            <a:avLst/>
          </a:prstGeom>
        </p:spPr>
        <p:txBody>
          <a:bodyPr vert="horz" wrap="square" lIns="0" tIns="12700" rIns="0" bIns="0" rtlCol="0">
            <a:spAutoFit/>
          </a:bodyPr>
          <a:lstStyle/>
          <a:p>
            <a:pPr marL="12700">
              <a:lnSpc>
                <a:spcPct val="100000"/>
              </a:lnSpc>
              <a:spcBef>
                <a:spcPts val="100"/>
              </a:spcBef>
            </a:pPr>
            <a:r>
              <a:rPr sz="1200" spc="-50" dirty="0">
                <a:solidFill>
                  <a:srgbClr val="A3A3A3"/>
                </a:solidFill>
                <a:latin typeface="Calibri"/>
                <a:cs typeface="Calibri"/>
              </a:rPr>
              <a:t>3</a:t>
            </a:r>
            <a:endParaRPr sz="1200">
              <a:latin typeface="Calibri"/>
              <a:cs typeface="Calibri"/>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dirty="0"/>
              <a:t>C’est</a:t>
            </a:r>
            <a:r>
              <a:rPr spc="-65" dirty="0"/>
              <a:t> </a:t>
            </a:r>
            <a:r>
              <a:rPr dirty="0"/>
              <a:t>quoi</a:t>
            </a:r>
            <a:r>
              <a:rPr spc="-50" dirty="0"/>
              <a:t> </a:t>
            </a:r>
            <a:r>
              <a:rPr dirty="0"/>
              <a:t>le</a:t>
            </a:r>
            <a:r>
              <a:rPr spc="-30" dirty="0"/>
              <a:t> </a:t>
            </a:r>
            <a:r>
              <a:rPr dirty="0"/>
              <a:t>contrôle</a:t>
            </a:r>
            <a:r>
              <a:rPr spc="-50" dirty="0"/>
              <a:t> </a:t>
            </a:r>
            <a:r>
              <a:rPr dirty="0"/>
              <a:t>de</a:t>
            </a:r>
            <a:r>
              <a:rPr spc="-50" dirty="0"/>
              <a:t> </a:t>
            </a:r>
            <a:r>
              <a:rPr dirty="0"/>
              <a:t>version</a:t>
            </a:r>
            <a:r>
              <a:rPr spc="-45" dirty="0"/>
              <a:t> </a:t>
            </a:r>
            <a:r>
              <a:rPr spc="-50" dirty="0"/>
              <a:t>?</a:t>
            </a:r>
          </a:p>
        </p:txBody>
      </p:sp>
      <p:sp>
        <p:nvSpPr>
          <p:cNvPr id="3" name="object 3"/>
          <p:cNvSpPr/>
          <p:nvPr/>
        </p:nvSpPr>
        <p:spPr>
          <a:xfrm>
            <a:off x="571500" y="1295361"/>
            <a:ext cx="8039100" cy="5170805"/>
          </a:xfrm>
          <a:custGeom>
            <a:avLst/>
            <a:gdLst/>
            <a:ahLst/>
            <a:cxnLst/>
            <a:rect l="l" t="t" r="r" b="b"/>
            <a:pathLst>
              <a:path w="8039100" h="5170805">
                <a:moveTo>
                  <a:pt x="8039100" y="0"/>
                </a:moveTo>
                <a:lnTo>
                  <a:pt x="0" y="0"/>
                </a:lnTo>
                <a:lnTo>
                  <a:pt x="0" y="5170678"/>
                </a:lnTo>
                <a:lnTo>
                  <a:pt x="8039100" y="5170678"/>
                </a:lnTo>
                <a:lnTo>
                  <a:pt x="8039100" y="0"/>
                </a:lnTo>
                <a:close/>
              </a:path>
            </a:pathLst>
          </a:custGeom>
          <a:solidFill>
            <a:srgbClr val="DCE6F1"/>
          </a:solidFill>
        </p:spPr>
        <p:txBody>
          <a:bodyPr wrap="square" lIns="0" tIns="0" rIns="0" bIns="0" rtlCol="0"/>
          <a:lstStyle/>
          <a:p>
            <a:endParaRPr/>
          </a:p>
        </p:txBody>
      </p:sp>
      <p:sp>
        <p:nvSpPr>
          <p:cNvPr id="4" name="object 4"/>
          <p:cNvSpPr txBox="1"/>
          <p:nvPr/>
        </p:nvSpPr>
        <p:spPr>
          <a:xfrm>
            <a:off x="650240" y="1303985"/>
            <a:ext cx="7882890" cy="941069"/>
          </a:xfrm>
          <a:prstGeom prst="rect">
            <a:avLst/>
          </a:prstGeom>
        </p:spPr>
        <p:txBody>
          <a:bodyPr vert="horz" wrap="square" lIns="0" tIns="12700" rIns="0" bIns="0" rtlCol="0">
            <a:spAutoFit/>
          </a:bodyPr>
          <a:lstStyle/>
          <a:p>
            <a:pPr marL="469900" marR="5080" indent="-457200">
              <a:lnSpc>
                <a:spcPct val="100000"/>
              </a:lnSpc>
              <a:spcBef>
                <a:spcPts val="100"/>
              </a:spcBef>
              <a:buFont typeface="Arial MT"/>
              <a:buChar char="•"/>
              <a:tabLst>
                <a:tab pos="469900" algn="l"/>
                <a:tab pos="1113155" algn="l"/>
                <a:tab pos="1923414" algn="l"/>
                <a:tab pos="2588260" algn="l"/>
                <a:tab pos="3176905" algn="l"/>
                <a:tab pos="3239135" algn="l"/>
                <a:tab pos="4667250" algn="l"/>
                <a:tab pos="4728210" algn="l"/>
                <a:tab pos="5257165" algn="l"/>
                <a:tab pos="5363845" algn="l"/>
                <a:tab pos="5932170" algn="l"/>
                <a:tab pos="6676390" algn="l"/>
                <a:tab pos="6798309" algn="l"/>
                <a:tab pos="7276465" algn="l"/>
              </a:tabLst>
            </a:pPr>
            <a:r>
              <a:rPr sz="3000" spc="-25" dirty="0">
                <a:solidFill>
                  <a:srgbClr val="FF0000"/>
                </a:solidFill>
                <a:latin typeface="Calibri"/>
                <a:cs typeface="Calibri"/>
              </a:rPr>
              <a:t>Un</a:t>
            </a:r>
            <a:r>
              <a:rPr sz="3000" dirty="0">
                <a:solidFill>
                  <a:srgbClr val="FF0000"/>
                </a:solidFill>
                <a:latin typeface="Calibri"/>
                <a:cs typeface="Calibri"/>
              </a:rPr>
              <a:t>	</a:t>
            </a:r>
            <a:r>
              <a:rPr sz="3000" spc="-10" dirty="0">
                <a:solidFill>
                  <a:srgbClr val="FF0000"/>
                </a:solidFill>
                <a:latin typeface="Calibri"/>
                <a:cs typeface="Calibri"/>
              </a:rPr>
              <a:t>système</a:t>
            </a:r>
            <a:r>
              <a:rPr sz="3000" dirty="0">
                <a:solidFill>
                  <a:srgbClr val="FF0000"/>
                </a:solidFill>
                <a:latin typeface="Calibri"/>
                <a:cs typeface="Calibri"/>
              </a:rPr>
              <a:t>	</a:t>
            </a:r>
            <a:r>
              <a:rPr sz="3000" spc="-25" dirty="0">
                <a:solidFill>
                  <a:srgbClr val="FF0000"/>
                </a:solidFill>
                <a:latin typeface="Calibri"/>
                <a:cs typeface="Calibri"/>
              </a:rPr>
              <a:t>de</a:t>
            </a:r>
            <a:r>
              <a:rPr sz="3000" dirty="0">
                <a:solidFill>
                  <a:srgbClr val="FF0000"/>
                </a:solidFill>
                <a:latin typeface="Calibri"/>
                <a:cs typeface="Calibri"/>
              </a:rPr>
              <a:t>	</a:t>
            </a:r>
            <a:r>
              <a:rPr sz="3000" spc="-10" dirty="0">
                <a:solidFill>
                  <a:srgbClr val="FF0000"/>
                </a:solidFill>
                <a:latin typeface="Calibri"/>
                <a:cs typeface="Calibri"/>
              </a:rPr>
              <a:t>contrôle</a:t>
            </a:r>
            <a:r>
              <a:rPr sz="3000" dirty="0">
                <a:solidFill>
                  <a:srgbClr val="FF0000"/>
                </a:solidFill>
                <a:latin typeface="Calibri"/>
                <a:cs typeface="Calibri"/>
              </a:rPr>
              <a:t>	</a:t>
            </a:r>
            <a:r>
              <a:rPr sz="3000" spc="-25" dirty="0">
                <a:solidFill>
                  <a:srgbClr val="FF0000"/>
                </a:solidFill>
                <a:latin typeface="Calibri"/>
                <a:cs typeface="Calibri"/>
              </a:rPr>
              <a:t>de</a:t>
            </a:r>
            <a:r>
              <a:rPr sz="3000" dirty="0">
                <a:solidFill>
                  <a:srgbClr val="FF0000"/>
                </a:solidFill>
                <a:latin typeface="Calibri"/>
                <a:cs typeface="Calibri"/>
              </a:rPr>
              <a:t>	</a:t>
            </a:r>
            <a:r>
              <a:rPr sz="3000" spc="-10" dirty="0">
                <a:solidFill>
                  <a:srgbClr val="FF0000"/>
                </a:solidFill>
                <a:latin typeface="Calibri"/>
                <a:cs typeface="Calibri"/>
              </a:rPr>
              <a:t>version,</a:t>
            </a:r>
            <a:r>
              <a:rPr sz="3000" dirty="0">
                <a:solidFill>
                  <a:srgbClr val="FF0000"/>
                </a:solidFill>
                <a:latin typeface="Calibri"/>
                <a:cs typeface="Calibri"/>
              </a:rPr>
              <a:t>	</a:t>
            </a:r>
            <a:r>
              <a:rPr sz="3000" spc="-25" dirty="0">
                <a:solidFill>
                  <a:srgbClr val="FF0000"/>
                </a:solidFill>
                <a:latin typeface="Calibri"/>
                <a:cs typeface="Calibri"/>
              </a:rPr>
              <a:t>ou</a:t>
            </a:r>
            <a:r>
              <a:rPr sz="3000" dirty="0">
                <a:solidFill>
                  <a:srgbClr val="FF0000"/>
                </a:solidFill>
                <a:latin typeface="Calibri"/>
                <a:cs typeface="Calibri"/>
              </a:rPr>
              <a:t>	</a:t>
            </a:r>
            <a:r>
              <a:rPr sz="3000" spc="-25" dirty="0">
                <a:solidFill>
                  <a:srgbClr val="FF0000"/>
                </a:solidFill>
                <a:latin typeface="Calibri"/>
                <a:cs typeface="Calibri"/>
              </a:rPr>
              <a:t>VCS </a:t>
            </a:r>
            <a:r>
              <a:rPr sz="3000" spc="-10" dirty="0">
                <a:solidFill>
                  <a:srgbClr val="FF0000"/>
                </a:solidFill>
                <a:latin typeface="Calibri"/>
                <a:cs typeface="Calibri"/>
              </a:rPr>
              <a:t>(Version</a:t>
            </a:r>
            <a:r>
              <a:rPr sz="3000" dirty="0">
                <a:solidFill>
                  <a:srgbClr val="FF0000"/>
                </a:solidFill>
                <a:latin typeface="Calibri"/>
                <a:cs typeface="Calibri"/>
              </a:rPr>
              <a:t>	</a:t>
            </a:r>
            <a:r>
              <a:rPr sz="3000" spc="-10" dirty="0">
                <a:solidFill>
                  <a:srgbClr val="FF0000"/>
                </a:solidFill>
                <a:latin typeface="Calibri"/>
                <a:cs typeface="Calibri"/>
              </a:rPr>
              <a:t>Control</a:t>
            </a:r>
            <a:r>
              <a:rPr sz="3000" dirty="0">
                <a:solidFill>
                  <a:srgbClr val="FF0000"/>
                </a:solidFill>
                <a:latin typeface="Calibri"/>
                <a:cs typeface="Calibri"/>
              </a:rPr>
              <a:t>		</a:t>
            </a:r>
            <a:r>
              <a:rPr sz="3000" spc="-10" dirty="0">
                <a:solidFill>
                  <a:srgbClr val="FF0000"/>
                </a:solidFill>
                <a:latin typeface="Calibri"/>
                <a:cs typeface="Calibri"/>
              </a:rPr>
              <a:t>System),</a:t>
            </a:r>
            <a:r>
              <a:rPr sz="3000" dirty="0">
                <a:solidFill>
                  <a:srgbClr val="FF0000"/>
                </a:solidFill>
                <a:latin typeface="Calibri"/>
                <a:cs typeface="Calibri"/>
              </a:rPr>
              <a:t>		</a:t>
            </a:r>
            <a:r>
              <a:rPr sz="3000" spc="-25" dirty="0">
                <a:latin typeface="Calibri"/>
                <a:cs typeface="Calibri"/>
              </a:rPr>
              <a:t>est</a:t>
            </a:r>
            <a:r>
              <a:rPr sz="3000" dirty="0">
                <a:latin typeface="Calibri"/>
                <a:cs typeface="Calibri"/>
              </a:rPr>
              <a:t>		</a:t>
            </a:r>
            <a:r>
              <a:rPr sz="3000" spc="-25" dirty="0">
                <a:latin typeface="Calibri"/>
                <a:cs typeface="Calibri"/>
              </a:rPr>
              <a:t>un</a:t>
            </a:r>
            <a:r>
              <a:rPr sz="3000" dirty="0">
                <a:latin typeface="Calibri"/>
                <a:cs typeface="Calibri"/>
              </a:rPr>
              <a:t>	</a:t>
            </a:r>
            <a:r>
              <a:rPr sz="3000" spc="-10" dirty="0">
                <a:latin typeface="Calibri"/>
                <a:cs typeface="Calibri"/>
              </a:rPr>
              <a:t>outil</a:t>
            </a:r>
            <a:r>
              <a:rPr sz="3000" dirty="0">
                <a:latin typeface="Calibri"/>
                <a:cs typeface="Calibri"/>
              </a:rPr>
              <a:t>		</a:t>
            </a:r>
            <a:r>
              <a:rPr sz="3000" spc="-20" dirty="0">
                <a:latin typeface="Calibri"/>
                <a:cs typeface="Calibri"/>
              </a:rPr>
              <a:t>logiciel</a:t>
            </a:r>
            <a:endParaRPr sz="3000" dirty="0">
              <a:latin typeface="Calibri"/>
              <a:cs typeface="Calibri"/>
            </a:endParaRPr>
          </a:p>
        </p:txBody>
      </p:sp>
      <p:sp>
        <p:nvSpPr>
          <p:cNvPr id="5" name="object 5"/>
          <p:cNvSpPr txBox="1"/>
          <p:nvPr/>
        </p:nvSpPr>
        <p:spPr>
          <a:xfrm>
            <a:off x="1107439" y="2219071"/>
            <a:ext cx="4041140" cy="482600"/>
          </a:xfrm>
          <a:prstGeom prst="rect">
            <a:avLst/>
          </a:prstGeom>
        </p:spPr>
        <p:txBody>
          <a:bodyPr vert="horz" wrap="square" lIns="0" tIns="12700" rIns="0" bIns="0" rtlCol="0">
            <a:spAutoFit/>
          </a:bodyPr>
          <a:lstStyle/>
          <a:p>
            <a:pPr marL="12700">
              <a:lnSpc>
                <a:spcPct val="100000"/>
              </a:lnSpc>
              <a:spcBef>
                <a:spcPts val="100"/>
              </a:spcBef>
              <a:tabLst>
                <a:tab pos="856615" algn="l"/>
                <a:tab pos="2356485" algn="l"/>
                <a:tab pos="3105150" algn="l"/>
              </a:tabLst>
            </a:pPr>
            <a:r>
              <a:rPr sz="3000" spc="-25" dirty="0">
                <a:latin typeface="Calibri"/>
                <a:cs typeface="Calibri"/>
              </a:rPr>
              <a:t>qui</a:t>
            </a:r>
            <a:r>
              <a:rPr sz="3000" dirty="0">
                <a:latin typeface="Calibri"/>
                <a:cs typeface="Calibri"/>
              </a:rPr>
              <a:t>	</a:t>
            </a:r>
            <a:r>
              <a:rPr sz="3000" spc="-10" dirty="0">
                <a:latin typeface="Calibri"/>
                <a:cs typeface="Calibri"/>
              </a:rPr>
              <a:t>permet</a:t>
            </a:r>
            <a:r>
              <a:rPr sz="3000" dirty="0">
                <a:latin typeface="Calibri"/>
                <a:cs typeface="Calibri"/>
              </a:rPr>
              <a:t>	</a:t>
            </a:r>
            <a:r>
              <a:rPr sz="3000" spc="-25" dirty="0">
                <a:latin typeface="Calibri"/>
                <a:cs typeface="Calibri"/>
              </a:rPr>
              <a:t>de</a:t>
            </a:r>
            <a:r>
              <a:rPr sz="3000" dirty="0">
                <a:latin typeface="Calibri"/>
                <a:cs typeface="Calibri"/>
              </a:rPr>
              <a:t>	</a:t>
            </a:r>
            <a:r>
              <a:rPr sz="3000" spc="-10" dirty="0">
                <a:latin typeface="Calibri"/>
                <a:cs typeface="Calibri"/>
              </a:rPr>
              <a:t>suivre</a:t>
            </a:r>
            <a:endParaRPr sz="3000" dirty="0">
              <a:latin typeface="Calibri"/>
              <a:cs typeface="Calibri"/>
            </a:endParaRPr>
          </a:p>
        </p:txBody>
      </p:sp>
      <p:sp>
        <p:nvSpPr>
          <p:cNvPr id="6" name="object 6"/>
          <p:cNvSpPr txBox="1"/>
          <p:nvPr/>
        </p:nvSpPr>
        <p:spPr>
          <a:xfrm>
            <a:off x="1107439" y="2675966"/>
            <a:ext cx="4369435" cy="483234"/>
          </a:xfrm>
          <a:prstGeom prst="rect">
            <a:avLst/>
          </a:prstGeom>
        </p:spPr>
        <p:txBody>
          <a:bodyPr vert="horz" wrap="square" lIns="0" tIns="12700" rIns="0" bIns="0" rtlCol="0">
            <a:spAutoFit/>
          </a:bodyPr>
          <a:lstStyle/>
          <a:p>
            <a:pPr marL="12700">
              <a:lnSpc>
                <a:spcPct val="100000"/>
              </a:lnSpc>
              <a:spcBef>
                <a:spcPts val="100"/>
              </a:spcBef>
              <a:tabLst>
                <a:tab pos="2356485" algn="l"/>
                <a:tab pos="4173220" algn="l"/>
              </a:tabLst>
            </a:pPr>
            <a:r>
              <a:rPr sz="3000" spc="-10" dirty="0">
                <a:latin typeface="Calibri"/>
                <a:cs typeface="Calibri"/>
              </a:rPr>
              <a:t>modifications</a:t>
            </a:r>
            <a:r>
              <a:rPr sz="3000" dirty="0">
                <a:latin typeface="Calibri"/>
                <a:cs typeface="Calibri"/>
              </a:rPr>
              <a:t>	</a:t>
            </a:r>
            <a:r>
              <a:rPr sz="3000" spc="-10" dirty="0">
                <a:latin typeface="Calibri"/>
                <a:cs typeface="Calibri"/>
              </a:rPr>
              <a:t>apportées</a:t>
            </a:r>
            <a:r>
              <a:rPr sz="3000" dirty="0">
                <a:latin typeface="Calibri"/>
                <a:cs typeface="Calibri"/>
              </a:rPr>
              <a:t>	</a:t>
            </a:r>
            <a:r>
              <a:rPr sz="3000" spc="-50" dirty="0">
                <a:latin typeface="Calibri"/>
                <a:cs typeface="Calibri"/>
              </a:rPr>
              <a:t>à</a:t>
            </a:r>
            <a:endParaRPr sz="3000" dirty="0">
              <a:latin typeface="Calibri"/>
              <a:cs typeface="Calibri"/>
            </a:endParaRPr>
          </a:p>
        </p:txBody>
      </p:sp>
      <p:sp>
        <p:nvSpPr>
          <p:cNvPr id="7" name="object 7"/>
          <p:cNvSpPr txBox="1"/>
          <p:nvPr/>
        </p:nvSpPr>
        <p:spPr>
          <a:xfrm>
            <a:off x="5485003" y="2219071"/>
            <a:ext cx="3047365" cy="940435"/>
          </a:xfrm>
          <a:prstGeom prst="rect">
            <a:avLst/>
          </a:prstGeom>
        </p:spPr>
        <p:txBody>
          <a:bodyPr vert="horz" wrap="square" lIns="0" tIns="12700" rIns="0" bIns="0" rtlCol="0">
            <a:spAutoFit/>
          </a:bodyPr>
          <a:lstStyle/>
          <a:p>
            <a:pPr marL="236220" marR="5080" indent="-224154">
              <a:lnSpc>
                <a:spcPct val="100000"/>
              </a:lnSpc>
              <a:spcBef>
                <a:spcPts val="100"/>
              </a:spcBef>
              <a:tabLst>
                <a:tab pos="687705" algn="l"/>
                <a:tab pos="890269" algn="l"/>
                <a:tab pos="1435735" algn="l"/>
                <a:tab pos="2614295" algn="l"/>
                <a:tab pos="2644775" algn="l"/>
              </a:tabLst>
            </a:pPr>
            <a:r>
              <a:rPr sz="3000" spc="-25" dirty="0">
                <a:latin typeface="Calibri"/>
                <a:cs typeface="Calibri"/>
              </a:rPr>
              <a:t>et</a:t>
            </a:r>
            <a:r>
              <a:rPr sz="3000" dirty="0">
                <a:latin typeface="Calibri"/>
                <a:cs typeface="Calibri"/>
              </a:rPr>
              <a:t>	</a:t>
            </a:r>
            <a:r>
              <a:rPr sz="3000" spc="-25" dirty="0">
                <a:latin typeface="Calibri"/>
                <a:cs typeface="Calibri"/>
              </a:rPr>
              <a:t>de</a:t>
            </a:r>
            <a:r>
              <a:rPr sz="3000" dirty="0">
                <a:latin typeface="Calibri"/>
                <a:cs typeface="Calibri"/>
              </a:rPr>
              <a:t>	</a:t>
            </a:r>
            <a:r>
              <a:rPr sz="3000" spc="-20" dirty="0">
                <a:latin typeface="Calibri"/>
                <a:cs typeface="Calibri"/>
              </a:rPr>
              <a:t>gérer</a:t>
            </a:r>
            <a:r>
              <a:rPr sz="3000" dirty="0">
                <a:latin typeface="Calibri"/>
                <a:cs typeface="Calibri"/>
              </a:rPr>
              <a:t>	</a:t>
            </a:r>
            <a:r>
              <a:rPr sz="3000" spc="-35" dirty="0">
                <a:latin typeface="Calibri"/>
                <a:cs typeface="Calibri"/>
              </a:rPr>
              <a:t>les </a:t>
            </a:r>
            <a:r>
              <a:rPr sz="3000" spc="-25" dirty="0">
                <a:latin typeface="Calibri"/>
                <a:cs typeface="Calibri"/>
              </a:rPr>
              <a:t>un</a:t>
            </a:r>
            <a:r>
              <a:rPr sz="3000" dirty="0">
                <a:latin typeface="Calibri"/>
                <a:cs typeface="Calibri"/>
              </a:rPr>
              <a:t>		</a:t>
            </a:r>
            <a:r>
              <a:rPr sz="3000" spc="-10" dirty="0">
                <a:latin typeface="Calibri"/>
                <a:cs typeface="Calibri"/>
              </a:rPr>
              <a:t>ensemble</a:t>
            </a:r>
            <a:r>
              <a:rPr sz="3000" dirty="0">
                <a:latin typeface="Calibri"/>
                <a:cs typeface="Calibri"/>
              </a:rPr>
              <a:t>		</a:t>
            </a:r>
            <a:r>
              <a:rPr sz="3000" spc="-25" dirty="0">
                <a:latin typeface="Calibri"/>
                <a:cs typeface="Calibri"/>
              </a:rPr>
              <a:t>de</a:t>
            </a:r>
            <a:endParaRPr sz="3000">
              <a:latin typeface="Calibri"/>
              <a:cs typeface="Calibri"/>
            </a:endParaRPr>
          </a:p>
        </p:txBody>
      </p:sp>
      <p:sp>
        <p:nvSpPr>
          <p:cNvPr id="8" name="object 8"/>
          <p:cNvSpPr txBox="1"/>
          <p:nvPr/>
        </p:nvSpPr>
        <p:spPr>
          <a:xfrm>
            <a:off x="650240" y="3133725"/>
            <a:ext cx="7883525" cy="3226435"/>
          </a:xfrm>
          <a:prstGeom prst="rect">
            <a:avLst/>
          </a:prstGeom>
        </p:spPr>
        <p:txBody>
          <a:bodyPr vert="horz" wrap="square" lIns="0" tIns="12700" rIns="0" bIns="0" rtlCol="0">
            <a:spAutoFit/>
          </a:bodyPr>
          <a:lstStyle/>
          <a:p>
            <a:pPr marL="469900" marR="8255">
              <a:lnSpc>
                <a:spcPct val="100000"/>
              </a:lnSpc>
              <a:spcBef>
                <a:spcPts val="100"/>
              </a:spcBef>
            </a:pPr>
            <a:r>
              <a:rPr sz="3000" dirty="0">
                <a:latin typeface="Calibri"/>
                <a:cs typeface="Calibri"/>
              </a:rPr>
              <a:t>fichiers,</a:t>
            </a:r>
            <a:r>
              <a:rPr sz="3000" spc="10" dirty="0">
                <a:latin typeface="Calibri"/>
                <a:cs typeface="Calibri"/>
              </a:rPr>
              <a:t> </a:t>
            </a:r>
            <a:r>
              <a:rPr sz="3000" dirty="0">
                <a:latin typeface="Calibri"/>
                <a:cs typeface="Calibri"/>
              </a:rPr>
              <a:t>généralement</a:t>
            </a:r>
            <a:r>
              <a:rPr sz="3000" spc="40" dirty="0">
                <a:latin typeface="Calibri"/>
                <a:cs typeface="Calibri"/>
              </a:rPr>
              <a:t> </a:t>
            </a:r>
            <a:r>
              <a:rPr sz="3000" dirty="0">
                <a:latin typeface="Calibri"/>
                <a:cs typeface="Calibri"/>
              </a:rPr>
              <a:t>du</a:t>
            </a:r>
            <a:r>
              <a:rPr sz="3000" spc="35" dirty="0">
                <a:latin typeface="Calibri"/>
                <a:cs typeface="Calibri"/>
              </a:rPr>
              <a:t> </a:t>
            </a:r>
            <a:r>
              <a:rPr sz="3000" dirty="0">
                <a:latin typeface="Calibri"/>
                <a:cs typeface="Calibri"/>
              </a:rPr>
              <a:t>code</a:t>
            </a:r>
            <a:r>
              <a:rPr sz="3000" spc="30" dirty="0">
                <a:latin typeface="Calibri"/>
                <a:cs typeface="Calibri"/>
              </a:rPr>
              <a:t> </a:t>
            </a:r>
            <a:r>
              <a:rPr sz="3000" dirty="0">
                <a:latin typeface="Calibri"/>
                <a:cs typeface="Calibri"/>
              </a:rPr>
              <a:t>source,</a:t>
            </a:r>
            <a:r>
              <a:rPr sz="3000" spc="20" dirty="0">
                <a:latin typeface="Calibri"/>
                <a:cs typeface="Calibri"/>
              </a:rPr>
              <a:t> </a:t>
            </a:r>
            <a:r>
              <a:rPr sz="3000" dirty="0">
                <a:latin typeface="Calibri"/>
                <a:cs typeface="Calibri"/>
              </a:rPr>
              <a:t>au</a:t>
            </a:r>
            <a:r>
              <a:rPr sz="3000" spc="40" dirty="0">
                <a:latin typeface="Calibri"/>
                <a:cs typeface="Calibri"/>
              </a:rPr>
              <a:t> </a:t>
            </a:r>
            <a:r>
              <a:rPr sz="3000" dirty="0">
                <a:latin typeface="Calibri"/>
                <a:cs typeface="Calibri"/>
              </a:rPr>
              <a:t>fil</a:t>
            </a:r>
            <a:r>
              <a:rPr sz="3000" spc="30" dirty="0">
                <a:latin typeface="Calibri"/>
                <a:cs typeface="Calibri"/>
              </a:rPr>
              <a:t> </a:t>
            </a:r>
            <a:r>
              <a:rPr sz="3000" spc="-25" dirty="0">
                <a:latin typeface="Calibri"/>
                <a:cs typeface="Calibri"/>
              </a:rPr>
              <a:t>du </a:t>
            </a:r>
            <a:r>
              <a:rPr sz="3000" spc="-10" dirty="0">
                <a:latin typeface="Calibri"/>
                <a:cs typeface="Calibri"/>
              </a:rPr>
              <a:t>temps.</a:t>
            </a:r>
            <a:endParaRPr sz="3000" dirty="0">
              <a:latin typeface="Calibri"/>
              <a:cs typeface="Calibri"/>
            </a:endParaRPr>
          </a:p>
          <a:p>
            <a:pPr marL="469900" marR="5080" indent="-457200" algn="just">
              <a:lnSpc>
                <a:spcPct val="100000"/>
              </a:lnSpc>
              <a:spcBef>
                <a:spcPts val="3600"/>
              </a:spcBef>
              <a:buFont typeface="Arial MT"/>
              <a:buChar char="•"/>
              <a:tabLst>
                <a:tab pos="469900" algn="l"/>
              </a:tabLst>
            </a:pPr>
            <a:r>
              <a:rPr sz="3000" dirty="0">
                <a:latin typeface="Calibri"/>
                <a:cs typeface="Calibri"/>
              </a:rPr>
              <a:t>Il</a:t>
            </a:r>
            <a:r>
              <a:rPr sz="3000" spc="705" dirty="0">
                <a:latin typeface="Calibri"/>
                <a:cs typeface="Calibri"/>
              </a:rPr>
              <a:t> </a:t>
            </a:r>
            <a:r>
              <a:rPr sz="3000" dirty="0">
                <a:latin typeface="Calibri"/>
                <a:cs typeface="Calibri"/>
              </a:rPr>
              <a:t>permet</a:t>
            </a:r>
            <a:r>
              <a:rPr sz="3000" spc="725" dirty="0">
                <a:latin typeface="Calibri"/>
                <a:cs typeface="Calibri"/>
              </a:rPr>
              <a:t> </a:t>
            </a:r>
            <a:r>
              <a:rPr sz="3000" dirty="0">
                <a:latin typeface="Calibri"/>
                <a:cs typeface="Calibri"/>
              </a:rPr>
              <a:t>aux</a:t>
            </a:r>
            <a:r>
              <a:rPr sz="3000" spc="710" dirty="0">
                <a:latin typeface="Calibri"/>
                <a:cs typeface="Calibri"/>
              </a:rPr>
              <a:t> </a:t>
            </a:r>
            <a:r>
              <a:rPr sz="3000" dirty="0">
                <a:latin typeface="Calibri"/>
                <a:cs typeface="Calibri"/>
              </a:rPr>
              <a:t>équipes</a:t>
            </a:r>
            <a:r>
              <a:rPr sz="3000" spc="700" dirty="0">
                <a:latin typeface="Calibri"/>
                <a:cs typeface="Calibri"/>
              </a:rPr>
              <a:t> </a:t>
            </a:r>
            <a:r>
              <a:rPr sz="3000" dirty="0">
                <a:latin typeface="Calibri"/>
                <a:cs typeface="Calibri"/>
              </a:rPr>
              <a:t>de</a:t>
            </a:r>
            <a:r>
              <a:rPr sz="3000" spc="715" dirty="0">
                <a:latin typeface="Calibri"/>
                <a:cs typeface="Calibri"/>
              </a:rPr>
              <a:t> </a:t>
            </a:r>
            <a:r>
              <a:rPr sz="3000" dirty="0">
                <a:latin typeface="Calibri"/>
                <a:cs typeface="Calibri"/>
              </a:rPr>
              <a:t>développement</a:t>
            </a:r>
            <a:r>
              <a:rPr sz="3000" spc="715" dirty="0">
                <a:latin typeface="Calibri"/>
                <a:cs typeface="Calibri"/>
              </a:rPr>
              <a:t> </a:t>
            </a:r>
            <a:r>
              <a:rPr sz="3000" spc="-25" dirty="0">
                <a:latin typeface="Calibri"/>
                <a:cs typeface="Calibri"/>
              </a:rPr>
              <a:t>de </a:t>
            </a:r>
            <a:r>
              <a:rPr sz="3000" dirty="0">
                <a:latin typeface="Calibri"/>
                <a:cs typeface="Calibri"/>
              </a:rPr>
              <a:t>collaborer</a:t>
            </a:r>
            <a:r>
              <a:rPr sz="3000" spc="459" dirty="0">
                <a:latin typeface="Calibri"/>
                <a:cs typeface="Calibri"/>
              </a:rPr>
              <a:t>  </a:t>
            </a:r>
            <a:r>
              <a:rPr sz="3000" dirty="0">
                <a:latin typeface="Calibri"/>
                <a:cs typeface="Calibri"/>
              </a:rPr>
              <a:t>efficacement,</a:t>
            </a:r>
            <a:r>
              <a:rPr sz="3000" spc="480" dirty="0">
                <a:latin typeface="Calibri"/>
                <a:cs typeface="Calibri"/>
              </a:rPr>
              <a:t>  </a:t>
            </a:r>
            <a:r>
              <a:rPr sz="3000" dirty="0">
                <a:latin typeface="Calibri"/>
                <a:cs typeface="Calibri"/>
              </a:rPr>
              <a:t>de</a:t>
            </a:r>
            <a:r>
              <a:rPr sz="3000" spc="475" dirty="0">
                <a:latin typeface="Calibri"/>
                <a:cs typeface="Calibri"/>
              </a:rPr>
              <a:t>  </a:t>
            </a:r>
            <a:r>
              <a:rPr sz="3000" dirty="0">
                <a:latin typeface="Calibri"/>
                <a:cs typeface="Calibri"/>
              </a:rPr>
              <a:t>revenir</a:t>
            </a:r>
            <a:r>
              <a:rPr sz="3000" spc="465" dirty="0">
                <a:latin typeface="Calibri"/>
                <a:cs typeface="Calibri"/>
              </a:rPr>
              <a:t>  </a:t>
            </a:r>
            <a:r>
              <a:rPr sz="3000" dirty="0">
                <a:latin typeface="Calibri"/>
                <a:cs typeface="Calibri"/>
              </a:rPr>
              <a:t>à</a:t>
            </a:r>
            <a:r>
              <a:rPr sz="3000" spc="480" dirty="0">
                <a:latin typeface="Calibri"/>
                <a:cs typeface="Calibri"/>
              </a:rPr>
              <a:t>  </a:t>
            </a:r>
            <a:r>
              <a:rPr sz="3000" spc="-25" dirty="0">
                <a:latin typeface="Calibri"/>
                <a:cs typeface="Calibri"/>
              </a:rPr>
              <a:t>des </a:t>
            </a:r>
            <a:r>
              <a:rPr sz="3000" dirty="0">
                <a:latin typeface="Calibri"/>
                <a:cs typeface="Calibri"/>
              </a:rPr>
              <a:t>versions</a:t>
            </a:r>
            <a:r>
              <a:rPr sz="3000" spc="30" dirty="0">
                <a:latin typeface="Calibri"/>
                <a:cs typeface="Calibri"/>
              </a:rPr>
              <a:t> </a:t>
            </a:r>
            <a:r>
              <a:rPr sz="3000" dirty="0">
                <a:latin typeface="Calibri"/>
                <a:cs typeface="Calibri"/>
              </a:rPr>
              <a:t>antérieures</a:t>
            </a:r>
            <a:r>
              <a:rPr sz="3000" spc="35" dirty="0">
                <a:latin typeface="Calibri"/>
                <a:cs typeface="Calibri"/>
              </a:rPr>
              <a:t> </a:t>
            </a:r>
            <a:r>
              <a:rPr sz="3000" dirty="0">
                <a:latin typeface="Calibri"/>
                <a:cs typeface="Calibri"/>
              </a:rPr>
              <a:t>en</a:t>
            </a:r>
            <a:r>
              <a:rPr sz="3000" spc="35" dirty="0">
                <a:latin typeface="Calibri"/>
                <a:cs typeface="Calibri"/>
              </a:rPr>
              <a:t> </a:t>
            </a:r>
            <a:r>
              <a:rPr sz="3000" dirty="0">
                <a:latin typeface="Calibri"/>
                <a:cs typeface="Calibri"/>
              </a:rPr>
              <a:t>cas</a:t>
            </a:r>
            <a:r>
              <a:rPr sz="3000" spc="40" dirty="0">
                <a:latin typeface="Calibri"/>
                <a:cs typeface="Calibri"/>
              </a:rPr>
              <a:t> </a:t>
            </a:r>
            <a:r>
              <a:rPr sz="3000" dirty="0">
                <a:latin typeface="Calibri"/>
                <a:cs typeface="Calibri"/>
              </a:rPr>
              <a:t>d'erreur</a:t>
            </a:r>
            <a:r>
              <a:rPr sz="3000" spc="35" dirty="0">
                <a:latin typeface="Calibri"/>
                <a:cs typeface="Calibri"/>
              </a:rPr>
              <a:t> </a:t>
            </a:r>
            <a:r>
              <a:rPr sz="3000" dirty="0">
                <a:latin typeface="Calibri"/>
                <a:cs typeface="Calibri"/>
              </a:rPr>
              <a:t>et</a:t>
            </a:r>
            <a:r>
              <a:rPr sz="3000" spc="45" dirty="0">
                <a:latin typeface="Calibri"/>
                <a:cs typeface="Calibri"/>
              </a:rPr>
              <a:t> </a:t>
            </a:r>
            <a:r>
              <a:rPr sz="3000" dirty="0">
                <a:latin typeface="Calibri"/>
                <a:cs typeface="Calibri"/>
              </a:rPr>
              <a:t>de</a:t>
            </a:r>
            <a:r>
              <a:rPr sz="3000" spc="35" dirty="0">
                <a:latin typeface="Calibri"/>
                <a:cs typeface="Calibri"/>
              </a:rPr>
              <a:t> </a:t>
            </a:r>
            <a:r>
              <a:rPr sz="3000" spc="-10" dirty="0">
                <a:latin typeface="Calibri"/>
                <a:cs typeface="Calibri"/>
              </a:rPr>
              <a:t>gérer </a:t>
            </a:r>
            <a:r>
              <a:rPr sz="3000" dirty="0">
                <a:latin typeface="Calibri"/>
                <a:cs typeface="Calibri"/>
              </a:rPr>
              <a:t>les</a:t>
            </a:r>
            <a:r>
              <a:rPr sz="3000" spc="-105" dirty="0">
                <a:latin typeface="Calibri"/>
                <a:cs typeface="Calibri"/>
              </a:rPr>
              <a:t> </a:t>
            </a:r>
            <a:r>
              <a:rPr sz="3000" spc="-10" dirty="0">
                <a:latin typeface="Calibri"/>
                <a:cs typeface="Calibri"/>
              </a:rPr>
              <a:t>différentes</a:t>
            </a:r>
            <a:r>
              <a:rPr sz="3000" spc="-85" dirty="0">
                <a:latin typeface="Calibri"/>
                <a:cs typeface="Calibri"/>
              </a:rPr>
              <a:t> </a:t>
            </a:r>
            <a:r>
              <a:rPr sz="3000" dirty="0">
                <a:latin typeface="Calibri"/>
                <a:cs typeface="Calibri"/>
              </a:rPr>
              <a:t>versions</a:t>
            </a:r>
            <a:r>
              <a:rPr sz="3000" spc="-95" dirty="0">
                <a:latin typeface="Calibri"/>
                <a:cs typeface="Calibri"/>
              </a:rPr>
              <a:t> </a:t>
            </a:r>
            <a:r>
              <a:rPr sz="3000" dirty="0">
                <a:latin typeface="Calibri"/>
                <a:cs typeface="Calibri"/>
              </a:rPr>
              <a:t>d'un</a:t>
            </a:r>
            <a:r>
              <a:rPr sz="3000" spc="-100" dirty="0">
                <a:latin typeface="Calibri"/>
                <a:cs typeface="Calibri"/>
              </a:rPr>
              <a:t> </a:t>
            </a:r>
            <a:r>
              <a:rPr sz="3000" spc="-10" dirty="0">
                <a:latin typeface="Calibri"/>
                <a:cs typeface="Calibri"/>
              </a:rPr>
              <a:t>projet.</a:t>
            </a:r>
            <a:endParaRPr sz="3000" dirty="0">
              <a:latin typeface="Calibri"/>
              <a:cs typeface="Calibri"/>
            </a:endParaRPr>
          </a:p>
        </p:txBody>
      </p:sp>
      <p:pic>
        <p:nvPicPr>
          <p:cNvPr id="9" name="object 9"/>
          <p:cNvPicPr/>
          <p:nvPr/>
        </p:nvPicPr>
        <p:blipFill>
          <a:blip r:embed="rId2" cstate="print"/>
          <a:stretch>
            <a:fillRect/>
          </a:stretch>
        </p:blipFill>
        <p:spPr>
          <a:xfrm>
            <a:off x="8686800" y="1981200"/>
            <a:ext cx="3286632" cy="3267583"/>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dirty="0"/>
              <a:t>Système</a:t>
            </a:r>
            <a:r>
              <a:rPr spc="-65" dirty="0"/>
              <a:t> </a:t>
            </a:r>
            <a:r>
              <a:rPr dirty="0"/>
              <a:t>de</a:t>
            </a:r>
            <a:r>
              <a:rPr spc="-35" dirty="0"/>
              <a:t> </a:t>
            </a:r>
            <a:r>
              <a:rPr dirty="0"/>
              <a:t>contrôle</a:t>
            </a:r>
            <a:r>
              <a:rPr spc="-40" dirty="0"/>
              <a:t> </a:t>
            </a:r>
            <a:r>
              <a:rPr dirty="0"/>
              <a:t>de</a:t>
            </a:r>
            <a:r>
              <a:rPr spc="-35" dirty="0"/>
              <a:t> </a:t>
            </a:r>
            <a:r>
              <a:rPr dirty="0"/>
              <a:t>version</a:t>
            </a:r>
            <a:r>
              <a:rPr spc="-20" dirty="0"/>
              <a:t> </a:t>
            </a:r>
            <a:r>
              <a:rPr dirty="0"/>
              <a:t>-</a:t>
            </a:r>
            <a:r>
              <a:rPr spc="-40" dirty="0"/>
              <a:t> </a:t>
            </a:r>
            <a:r>
              <a:rPr spc="-10" dirty="0"/>
              <a:t>outils</a:t>
            </a:r>
          </a:p>
        </p:txBody>
      </p:sp>
      <p:pic>
        <p:nvPicPr>
          <p:cNvPr id="3" name="object 3"/>
          <p:cNvPicPr/>
          <p:nvPr/>
        </p:nvPicPr>
        <p:blipFill>
          <a:blip r:embed="rId2" cstate="print"/>
          <a:stretch>
            <a:fillRect/>
          </a:stretch>
        </p:blipFill>
        <p:spPr>
          <a:xfrm>
            <a:off x="1295400" y="1904974"/>
            <a:ext cx="9792462" cy="3743579"/>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0539" y="3504133"/>
            <a:ext cx="5803900" cy="940435"/>
          </a:xfrm>
          <a:prstGeom prst="rect">
            <a:avLst/>
          </a:prstGeom>
        </p:spPr>
        <p:txBody>
          <a:bodyPr vert="horz" wrap="square" lIns="0" tIns="12700" rIns="0" bIns="0" rtlCol="0">
            <a:spAutoFit/>
          </a:bodyPr>
          <a:lstStyle/>
          <a:p>
            <a:pPr marL="12700">
              <a:lnSpc>
                <a:spcPct val="100000"/>
              </a:lnSpc>
              <a:spcBef>
                <a:spcPts val="100"/>
              </a:spcBef>
            </a:pPr>
            <a:r>
              <a:rPr lang="fr-FR" sz="6000" dirty="0"/>
              <a:t>3</a:t>
            </a:r>
            <a:r>
              <a:rPr sz="6000" dirty="0" smtClean="0"/>
              <a:t>.</a:t>
            </a:r>
            <a:r>
              <a:rPr sz="6000" spc="-175" dirty="0" smtClean="0"/>
              <a:t> </a:t>
            </a:r>
            <a:r>
              <a:rPr sz="6000" dirty="0">
                <a:latin typeface="Calibri"/>
                <a:cs typeface="Calibri"/>
              </a:rPr>
              <a:t>GIT</a:t>
            </a:r>
            <a:r>
              <a:rPr sz="6000" spc="-95" dirty="0">
                <a:latin typeface="Calibri"/>
                <a:cs typeface="Calibri"/>
              </a:rPr>
              <a:t> </a:t>
            </a:r>
            <a:r>
              <a:rPr sz="6000" spc="-10" dirty="0">
                <a:latin typeface="Calibri"/>
                <a:cs typeface="Calibri"/>
              </a:rPr>
              <a:t>introduction</a:t>
            </a:r>
            <a:endParaRPr sz="6000" dirty="0">
              <a:latin typeface="Calibri"/>
              <a:cs typeface="Calibri"/>
            </a:endParaRPr>
          </a:p>
        </p:txBody>
      </p:sp>
      <p:sp>
        <p:nvSpPr>
          <p:cNvPr id="3" name="object 3"/>
          <p:cNvSpPr txBox="1"/>
          <p:nvPr/>
        </p:nvSpPr>
        <p:spPr>
          <a:xfrm>
            <a:off x="11176507" y="6419494"/>
            <a:ext cx="102870" cy="208279"/>
          </a:xfrm>
          <a:prstGeom prst="rect">
            <a:avLst/>
          </a:prstGeom>
        </p:spPr>
        <p:txBody>
          <a:bodyPr vert="horz" wrap="square" lIns="0" tIns="12700" rIns="0" bIns="0" rtlCol="0">
            <a:spAutoFit/>
          </a:bodyPr>
          <a:lstStyle/>
          <a:p>
            <a:pPr marL="12700">
              <a:lnSpc>
                <a:spcPct val="100000"/>
              </a:lnSpc>
              <a:spcBef>
                <a:spcPts val="100"/>
              </a:spcBef>
            </a:pPr>
            <a:r>
              <a:rPr sz="1200" spc="-50" dirty="0">
                <a:solidFill>
                  <a:srgbClr val="A3A3A3"/>
                </a:solidFill>
                <a:latin typeface="Calibri"/>
                <a:cs typeface="Calibri"/>
              </a:rPr>
              <a:t>3</a:t>
            </a:r>
            <a:endParaRPr sz="1200">
              <a:latin typeface="Calibri"/>
              <a:cs typeface="Calibri"/>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dirty="0"/>
              <a:t>GIT</a:t>
            </a:r>
            <a:r>
              <a:rPr spc="-10" dirty="0"/>
              <a:t> </a:t>
            </a:r>
            <a:r>
              <a:rPr dirty="0"/>
              <a:t>c’est</a:t>
            </a:r>
            <a:r>
              <a:rPr spc="-5" dirty="0"/>
              <a:t> </a:t>
            </a:r>
            <a:r>
              <a:rPr spc="-20" dirty="0"/>
              <a:t>quoi</a:t>
            </a:r>
          </a:p>
        </p:txBody>
      </p:sp>
      <p:sp>
        <p:nvSpPr>
          <p:cNvPr id="3" name="object 3"/>
          <p:cNvSpPr/>
          <p:nvPr/>
        </p:nvSpPr>
        <p:spPr>
          <a:xfrm>
            <a:off x="501332" y="823341"/>
            <a:ext cx="11690985" cy="2216150"/>
          </a:xfrm>
          <a:custGeom>
            <a:avLst/>
            <a:gdLst/>
            <a:ahLst/>
            <a:cxnLst/>
            <a:rect l="l" t="t" r="r" b="b"/>
            <a:pathLst>
              <a:path w="11690985" h="2216150">
                <a:moveTo>
                  <a:pt x="11690667" y="0"/>
                </a:moveTo>
                <a:lnTo>
                  <a:pt x="0" y="0"/>
                </a:lnTo>
                <a:lnTo>
                  <a:pt x="0" y="2216023"/>
                </a:lnTo>
                <a:lnTo>
                  <a:pt x="11690667" y="2216023"/>
                </a:lnTo>
                <a:lnTo>
                  <a:pt x="11690667" y="0"/>
                </a:lnTo>
                <a:close/>
              </a:path>
            </a:pathLst>
          </a:custGeom>
          <a:solidFill>
            <a:srgbClr val="DCE6F1"/>
          </a:solidFill>
        </p:spPr>
        <p:txBody>
          <a:bodyPr wrap="square" lIns="0" tIns="0" rIns="0" bIns="0" rtlCol="0"/>
          <a:lstStyle/>
          <a:p>
            <a:endParaRPr/>
          </a:p>
        </p:txBody>
      </p:sp>
      <p:sp>
        <p:nvSpPr>
          <p:cNvPr id="4" name="object 4"/>
          <p:cNvSpPr txBox="1"/>
          <p:nvPr/>
        </p:nvSpPr>
        <p:spPr>
          <a:xfrm>
            <a:off x="488695" y="791083"/>
            <a:ext cx="11590655" cy="2220595"/>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sz="2400" b="1" dirty="0">
                <a:solidFill>
                  <a:srgbClr val="FF0000"/>
                </a:solidFill>
                <a:latin typeface="Calibri"/>
                <a:cs typeface="Calibri"/>
              </a:rPr>
              <a:t>Git</a:t>
            </a:r>
            <a:r>
              <a:rPr sz="2400" b="1" spc="-50" dirty="0">
                <a:solidFill>
                  <a:srgbClr val="FF0000"/>
                </a:solidFill>
                <a:latin typeface="Calibri"/>
                <a:cs typeface="Calibri"/>
              </a:rPr>
              <a:t> </a:t>
            </a:r>
            <a:r>
              <a:rPr sz="2400" dirty="0">
                <a:latin typeface="Calibri"/>
                <a:cs typeface="Calibri"/>
              </a:rPr>
              <a:t>est</a:t>
            </a:r>
            <a:r>
              <a:rPr sz="2400" spc="-55" dirty="0">
                <a:latin typeface="Calibri"/>
                <a:cs typeface="Calibri"/>
              </a:rPr>
              <a:t> </a:t>
            </a:r>
            <a:r>
              <a:rPr sz="2400" dirty="0">
                <a:latin typeface="Calibri"/>
                <a:cs typeface="Calibri"/>
              </a:rPr>
              <a:t>un</a:t>
            </a:r>
            <a:r>
              <a:rPr sz="2400" spc="-50" dirty="0">
                <a:latin typeface="Calibri"/>
                <a:cs typeface="Calibri"/>
              </a:rPr>
              <a:t> </a:t>
            </a:r>
            <a:r>
              <a:rPr sz="2400" dirty="0">
                <a:latin typeface="Calibri"/>
                <a:cs typeface="Calibri"/>
              </a:rPr>
              <a:t>système</a:t>
            </a:r>
            <a:r>
              <a:rPr sz="2400" spc="-50" dirty="0">
                <a:latin typeface="Calibri"/>
                <a:cs typeface="Calibri"/>
              </a:rPr>
              <a:t> </a:t>
            </a:r>
            <a:r>
              <a:rPr sz="2400" dirty="0">
                <a:latin typeface="Calibri"/>
                <a:cs typeface="Calibri"/>
              </a:rPr>
              <a:t>de</a:t>
            </a:r>
            <a:r>
              <a:rPr sz="2400" spc="-40" dirty="0">
                <a:latin typeface="Calibri"/>
                <a:cs typeface="Calibri"/>
              </a:rPr>
              <a:t> </a:t>
            </a:r>
            <a:r>
              <a:rPr sz="2400" dirty="0">
                <a:latin typeface="Calibri"/>
                <a:cs typeface="Calibri"/>
              </a:rPr>
              <a:t>contrôle</a:t>
            </a:r>
            <a:r>
              <a:rPr sz="2400" spc="-55" dirty="0">
                <a:latin typeface="Calibri"/>
                <a:cs typeface="Calibri"/>
              </a:rPr>
              <a:t> </a:t>
            </a:r>
            <a:r>
              <a:rPr sz="2400" dirty="0">
                <a:latin typeface="Calibri"/>
                <a:cs typeface="Calibri"/>
              </a:rPr>
              <a:t>de</a:t>
            </a:r>
            <a:r>
              <a:rPr sz="2400" spc="-40" dirty="0">
                <a:latin typeface="Calibri"/>
                <a:cs typeface="Calibri"/>
              </a:rPr>
              <a:t> </a:t>
            </a:r>
            <a:r>
              <a:rPr sz="2400" dirty="0">
                <a:latin typeface="Calibri"/>
                <a:cs typeface="Calibri"/>
              </a:rPr>
              <a:t>version</a:t>
            </a:r>
            <a:r>
              <a:rPr sz="2400" spc="-45" dirty="0">
                <a:latin typeface="Calibri"/>
                <a:cs typeface="Calibri"/>
              </a:rPr>
              <a:t> </a:t>
            </a:r>
            <a:r>
              <a:rPr sz="2400" dirty="0">
                <a:latin typeface="Calibri"/>
                <a:cs typeface="Calibri"/>
              </a:rPr>
              <a:t>open</a:t>
            </a:r>
            <a:r>
              <a:rPr sz="2400" spc="-45" dirty="0">
                <a:latin typeface="Calibri"/>
                <a:cs typeface="Calibri"/>
              </a:rPr>
              <a:t> </a:t>
            </a:r>
            <a:r>
              <a:rPr sz="2400" dirty="0">
                <a:latin typeface="Calibri"/>
                <a:cs typeface="Calibri"/>
              </a:rPr>
              <a:t>source,</a:t>
            </a:r>
            <a:r>
              <a:rPr sz="2400" spc="-40" dirty="0">
                <a:latin typeface="Calibri"/>
                <a:cs typeface="Calibri"/>
              </a:rPr>
              <a:t> </a:t>
            </a:r>
            <a:r>
              <a:rPr sz="2400" dirty="0">
                <a:latin typeface="Calibri"/>
                <a:cs typeface="Calibri"/>
              </a:rPr>
              <a:t>distribué,</a:t>
            </a:r>
            <a:r>
              <a:rPr sz="2400" spc="-55" dirty="0">
                <a:latin typeface="Calibri"/>
                <a:cs typeface="Calibri"/>
              </a:rPr>
              <a:t> </a:t>
            </a:r>
            <a:r>
              <a:rPr sz="2400" dirty="0">
                <a:latin typeface="Calibri"/>
                <a:cs typeface="Calibri"/>
              </a:rPr>
              <a:t>gratuit</a:t>
            </a:r>
            <a:r>
              <a:rPr sz="2400" spc="-55" dirty="0">
                <a:latin typeface="Calibri"/>
                <a:cs typeface="Calibri"/>
              </a:rPr>
              <a:t> </a:t>
            </a:r>
            <a:r>
              <a:rPr sz="2400" dirty="0">
                <a:latin typeface="Calibri"/>
                <a:cs typeface="Calibri"/>
              </a:rPr>
              <a:t>et</a:t>
            </a:r>
            <a:r>
              <a:rPr sz="2400" spc="-50" dirty="0">
                <a:latin typeface="Calibri"/>
                <a:cs typeface="Calibri"/>
              </a:rPr>
              <a:t> </a:t>
            </a:r>
            <a:r>
              <a:rPr sz="2400" spc="-20" dirty="0">
                <a:latin typeface="Calibri"/>
                <a:cs typeface="Calibri"/>
              </a:rPr>
              <a:t>très </a:t>
            </a:r>
            <a:r>
              <a:rPr sz="2400" dirty="0">
                <a:latin typeface="Calibri"/>
                <a:cs typeface="Calibri"/>
              </a:rPr>
              <a:t>performant,</a:t>
            </a:r>
            <a:r>
              <a:rPr sz="2400" spc="-60" dirty="0">
                <a:latin typeface="Calibri"/>
                <a:cs typeface="Calibri"/>
              </a:rPr>
              <a:t> </a:t>
            </a:r>
            <a:r>
              <a:rPr sz="2400" dirty="0">
                <a:latin typeface="Calibri"/>
                <a:cs typeface="Calibri"/>
              </a:rPr>
              <a:t>conçu</a:t>
            </a:r>
            <a:r>
              <a:rPr sz="2400" spc="-45" dirty="0">
                <a:latin typeface="Calibri"/>
                <a:cs typeface="Calibri"/>
              </a:rPr>
              <a:t> </a:t>
            </a:r>
            <a:r>
              <a:rPr sz="2400" dirty="0">
                <a:latin typeface="Calibri"/>
                <a:cs typeface="Calibri"/>
              </a:rPr>
              <a:t>pour</a:t>
            </a:r>
            <a:r>
              <a:rPr sz="2400" spc="-45" dirty="0">
                <a:latin typeface="Calibri"/>
                <a:cs typeface="Calibri"/>
              </a:rPr>
              <a:t> </a:t>
            </a:r>
            <a:r>
              <a:rPr sz="2400" dirty="0">
                <a:latin typeface="Calibri"/>
                <a:cs typeface="Calibri"/>
              </a:rPr>
              <a:t>gérer</a:t>
            </a:r>
            <a:r>
              <a:rPr sz="2400" spc="-50" dirty="0">
                <a:latin typeface="Calibri"/>
                <a:cs typeface="Calibri"/>
              </a:rPr>
              <a:t> </a:t>
            </a:r>
            <a:r>
              <a:rPr sz="2400" dirty="0">
                <a:latin typeface="Calibri"/>
                <a:cs typeface="Calibri"/>
              </a:rPr>
              <a:t>les</a:t>
            </a:r>
            <a:r>
              <a:rPr sz="2400" spc="-50" dirty="0">
                <a:latin typeface="Calibri"/>
                <a:cs typeface="Calibri"/>
              </a:rPr>
              <a:t> </a:t>
            </a:r>
            <a:r>
              <a:rPr sz="2400" dirty="0">
                <a:latin typeface="Calibri"/>
                <a:cs typeface="Calibri"/>
              </a:rPr>
              <a:t>modifications</a:t>
            </a:r>
            <a:r>
              <a:rPr sz="2400" spc="-60" dirty="0">
                <a:latin typeface="Calibri"/>
                <a:cs typeface="Calibri"/>
              </a:rPr>
              <a:t> </a:t>
            </a:r>
            <a:r>
              <a:rPr sz="2400" dirty="0">
                <a:latin typeface="Calibri"/>
                <a:cs typeface="Calibri"/>
              </a:rPr>
              <a:t>apportées</a:t>
            </a:r>
            <a:r>
              <a:rPr sz="2400" spc="-60" dirty="0">
                <a:latin typeface="Calibri"/>
                <a:cs typeface="Calibri"/>
              </a:rPr>
              <a:t> </a:t>
            </a:r>
            <a:r>
              <a:rPr sz="2400" dirty="0">
                <a:latin typeface="Calibri"/>
                <a:cs typeface="Calibri"/>
              </a:rPr>
              <a:t>aux</a:t>
            </a:r>
            <a:r>
              <a:rPr sz="2400" spc="-45" dirty="0">
                <a:latin typeface="Calibri"/>
                <a:cs typeface="Calibri"/>
              </a:rPr>
              <a:t> </a:t>
            </a:r>
            <a:r>
              <a:rPr sz="2400" dirty="0">
                <a:latin typeface="Calibri"/>
                <a:cs typeface="Calibri"/>
              </a:rPr>
              <a:t>fichiers</a:t>
            </a:r>
            <a:r>
              <a:rPr sz="2400" spc="-55" dirty="0">
                <a:latin typeface="Calibri"/>
                <a:cs typeface="Calibri"/>
              </a:rPr>
              <a:t> </a:t>
            </a:r>
            <a:r>
              <a:rPr sz="2400" dirty="0">
                <a:latin typeface="Calibri"/>
                <a:cs typeface="Calibri"/>
              </a:rPr>
              <a:t>de</a:t>
            </a:r>
            <a:r>
              <a:rPr sz="2400" spc="-45" dirty="0">
                <a:latin typeface="Calibri"/>
                <a:cs typeface="Calibri"/>
              </a:rPr>
              <a:t> </a:t>
            </a:r>
            <a:r>
              <a:rPr sz="2400" dirty="0">
                <a:latin typeface="Calibri"/>
                <a:cs typeface="Calibri"/>
              </a:rPr>
              <a:t>projets,</a:t>
            </a:r>
            <a:r>
              <a:rPr sz="2400" spc="-40" dirty="0">
                <a:latin typeface="Calibri"/>
                <a:cs typeface="Calibri"/>
              </a:rPr>
              <a:t> </a:t>
            </a:r>
            <a:r>
              <a:rPr sz="2400" dirty="0">
                <a:latin typeface="Calibri"/>
                <a:cs typeface="Calibri"/>
              </a:rPr>
              <a:t>des</a:t>
            </a:r>
            <a:r>
              <a:rPr sz="2400" spc="-50" dirty="0">
                <a:latin typeface="Calibri"/>
                <a:cs typeface="Calibri"/>
              </a:rPr>
              <a:t> </a:t>
            </a:r>
            <a:r>
              <a:rPr sz="2400" spc="-20" dirty="0">
                <a:latin typeface="Calibri"/>
                <a:cs typeface="Calibri"/>
              </a:rPr>
              <a:t>plus </a:t>
            </a:r>
            <a:r>
              <a:rPr sz="2400" dirty="0">
                <a:latin typeface="Calibri"/>
                <a:cs typeface="Calibri"/>
              </a:rPr>
              <a:t>petits</a:t>
            </a:r>
            <a:r>
              <a:rPr sz="2400" spc="-55" dirty="0">
                <a:latin typeface="Calibri"/>
                <a:cs typeface="Calibri"/>
              </a:rPr>
              <a:t> </a:t>
            </a:r>
            <a:r>
              <a:rPr sz="2400" dirty="0">
                <a:latin typeface="Calibri"/>
                <a:cs typeface="Calibri"/>
              </a:rPr>
              <a:t>aux</a:t>
            </a:r>
            <a:r>
              <a:rPr sz="2400" spc="-40" dirty="0">
                <a:latin typeface="Calibri"/>
                <a:cs typeface="Calibri"/>
              </a:rPr>
              <a:t> </a:t>
            </a:r>
            <a:r>
              <a:rPr sz="2400" dirty="0">
                <a:latin typeface="Calibri"/>
                <a:cs typeface="Calibri"/>
              </a:rPr>
              <a:t>plus</a:t>
            </a:r>
            <a:r>
              <a:rPr sz="2400" spc="-45" dirty="0">
                <a:latin typeface="Calibri"/>
                <a:cs typeface="Calibri"/>
              </a:rPr>
              <a:t> </a:t>
            </a:r>
            <a:r>
              <a:rPr sz="2400" dirty="0">
                <a:latin typeface="Calibri"/>
                <a:cs typeface="Calibri"/>
              </a:rPr>
              <a:t>grands.</a:t>
            </a:r>
            <a:r>
              <a:rPr sz="2400" spc="-65" dirty="0">
                <a:latin typeface="Calibri"/>
                <a:cs typeface="Calibri"/>
              </a:rPr>
              <a:t> </a:t>
            </a:r>
            <a:r>
              <a:rPr sz="2400" dirty="0">
                <a:latin typeface="Calibri"/>
                <a:cs typeface="Calibri"/>
              </a:rPr>
              <a:t>Il</a:t>
            </a:r>
            <a:r>
              <a:rPr sz="2400" spc="-35" dirty="0">
                <a:latin typeface="Calibri"/>
                <a:cs typeface="Calibri"/>
              </a:rPr>
              <a:t> </a:t>
            </a:r>
            <a:r>
              <a:rPr sz="2400" dirty="0">
                <a:latin typeface="Calibri"/>
                <a:cs typeface="Calibri"/>
              </a:rPr>
              <a:t>permet</a:t>
            </a:r>
            <a:r>
              <a:rPr sz="2400" spc="-50" dirty="0">
                <a:latin typeface="Calibri"/>
                <a:cs typeface="Calibri"/>
              </a:rPr>
              <a:t> </a:t>
            </a:r>
            <a:r>
              <a:rPr sz="2400" dirty="0">
                <a:latin typeface="Calibri"/>
                <a:cs typeface="Calibri"/>
              </a:rPr>
              <a:t>aux</a:t>
            </a:r>
            <a:r>
              <a:rPr sz="2400" spc="-50" dirty="0">
                <a:latin typeface="Calibri"/>
                <a:cs typeface="Calibri"/>
              </a:rPr>
              <a:t> </a:t>
            </a:r>
            <a:r>
              <a:rPr sz="2400" spc="-10" dirty="0">
                <a:latin typeface="Calibri"/>
                <a:cs typeface="Calibri"/>
              </a:rPr>
              <a:t>développeurs</a:t>
            </a:r>
            <a:r>
              <a:rPr sz="2400" spc="-30" dirty="0">
                <a:latin typeface="Calibri"/>
                <a:cs typeface="Calibri"/>
              </a:rPr>
              <a:t> </a:t>
            </a:r>
            <a:r>
              <a:rPr sz="2400" dirty="0">
                <a:latin typeface="Calibri"/>
                <a:cs typeface="Calibri"/>
              </a:rPr>
              <a:t>de</a:t>
            </a:r>
            <a:r>
              <a:rPr sz="2400" spc="-35" dirty="0">
                <a:latin typeface="Calibri"/>
                <a:cs typeface="Calibri"/>
              </a:rPr>
              <a:t> </a:t>
            </a:r>
            <a:r>
              <a:rPr sz="2400" dirty="0">
                <a:latin typeface="Calibri"/>
                <a:cs typeface="Calibri"/>
              </a:rPr>
              <a:t>suivre</a:t>
            </a:r>
            <a:r>
              <a:rPr sz="2400" spc="-30" dirty="0">
                <a:latin typeface="Calibri"/>
                <a:cs typeface="Calibri"/>
              </a:rPr>
              <a:t> </a:t>
            </a:r>
            <a:r>
              <a:rPr sz="2400" dirty="0">
                <a:latin typeface="Calibri"/>
                <a:cs typeface="Calibri"/>
              </a:rPr>
              <a:t>l'historique</a:t>
            </a:r>
            <a:r>
              <a:rPr sz="2400" spc="-50" dirty="0">
                <a:latin typeface="Calibri"/>
                <a:cs typeface="Calibri"/>
              </a:rPr>
              <a:t> </a:t>
            </a:r>
            <a:r>
              <a:rPr sz="2400" dirty="0">
                <a:latin typeface="Calibri"/>
                <a:cs typeface="Calibri"/>
              </a:rPr>
              <a:t>des</a:t>
            </a:r>
            <a:r>
              <a:rPr sz="2400" spc="-40" dirty="0">
                <a:latin typeface="Calibri"/>
                <a:cs typeface="Calibri"/>
              </a:rPr>
              <a:t> </a:t>
            </a:r>
            <a:r>
              <a:rPr sz="2400" spc="-10" dirty="0">
                <a:latin typeface="Calibri"/>
                <a:cs typeface="Calibri"/>
              </a:rPr>
              <a:t>modifications, </a:t>
            </a:r>
            <a:r>
              <a:rPr sz="2400" dirty="0">
                <a:latin typeface="Calibri"/>
                <a:cs typeface="Calibri"/>
              </a:rPr>
              <a:t>de</a:t>
            </a:r>
            <a:r>
              <a:rPr sz="2400" spc="-50" dirty="0">
                <a:latin typeface="Calibri"/>
                <a:cs typeface="Calibri"/>
              </a:rPr>
              <a:t> </a:t>
            </a:r>
            <a:r>
              <a:rPr sz="2400" dirty="0">
                <a:latin typeface="Calibri"/>
                <a:cs typeface="Calibri"/>
              </a:rPr>
              <a:t>collaborer</a:t>
            </a:r>
            <a:r>
              <a:rPr sz="2400" spc="-65" dirty="0">
                <a:latin typeface="Calibri"/>
                <a:cs typeface="Calibri"/>
              </a:rPr>
              <a:t> </a:t>
            </a:r>
            <a:r>
              <a:rPr sz="2400" dirty="0">
                <a:latin typeface="Calibri"/>
                <a:cs typeface="Calibri"/>
              </a:rPr>
              <a:t>efficacement</a:t>
            </a:r>
            <a:r>
              <a:rPr sz="2400" spc="-65" dirty="0">
                <a:latin typeface="Calibri"/>
                <a:cs typeface="Calibri"/>
              </a:rPr>
              <a:t> </a:t>
            </a:r>
            <a:r>
              <a:rPr sz="2400" dirty="0">
                <a:latin typeface="Calibri"/>
                <a:cs typeface="Calibri"/>
              </a:rPr>
              <a:t>et</a:t>
            </a:r>
            <a:r>
              <a:rPr sz="2400" spc="-55" dirty="0">
                <a:latin typeface="Calibri"/>
                <a:cs typeface="Calibri"/>
              </a:rPr>
              <a:t> </a:t>
            </a:r>
            <a:r>
              <a:rPr sz="2400" dirty="0">
                <a:latin typeface="Calibri"/>
                <a:cs typeface="Calibri"/>
              </a:rPr>
              <a:t>de</a:t>
            </a:r>
            <a:r>
              <a:rPr sz="2400" spc="-45" dirty="0">
                <a:latin typeface="Calibri"/>
                <a:cs typeface="Calibri"/>
              </a:rPr>
              <a:t> </a:t>
            </a:r>
            <a:r>
              <a:rPr sz="2400" dirty="0">
                <a:latin typeface="Calibri"/>
                <a:cs typeface="Calibri"/>
              </a:rPr>
              <a:t>revenir</a:t>
            </a:r>
            <a:r>
              <a:rPr sz="2400" spc="-45" dirty="0">
                <a:latin typeface="Calibri"/>
                <a:cs typeface="Calibri"/>
              </a:rPr>
              <a:t> </a:t>
            </a:r>
            <a:r>
              <a:rPr sz="2400" dirty="0">
                <a:latin typeface="Calibri"/>
                <a:cs typeface="Calibri"/>
              </a:rPr>
              <a:t>à</a:t>
            </a:r>
            <a:r>
              <a:rPr sz="2400" spc="-60" dirty="0">
                <a:latin typeface="Calibri"/>
                <a:cs typeface="Calibri"/>
              </a:rPr>
              <a:t> </a:t>
            </a:r>
            <a:r>
              <a:rPr sz="2400" dirty="0">
                <a:latin typeface="Calibri"/>
                <a:cs typeface="Calibri"/>
              </a:rPr>
              <a:t>des</a:t>
            </a:r>
            <a:r>
              <a:rPr sz="2400" spc="-45" dirty="0">
                <a:latin typeface="Calibri"/>
                <a:cs typeface="Calibri"/>
              </a:rPr>
              <a:t> </a:t>
            </a:r>
            <a:r>
              <a:rPr sz="2400" dirty="0">
                <a:latin typeface="Calibri"/>
                <a:cs typeface="Calibri"/>
              </a:rPr>
              <a:t>versions</a:t>
            </a:r>
            <a:r>
              <a:rPr sz="2400" spc="-60" dirty="0">
                <a:latin typeface="Calibri"/>
                <a:cs typeface="Calibri"/>
              </a:rPr>
              <a:t> </a:t>
            </a:r>
            <a:r>
              <a:rPr sz="2400" dirty="0">
                <a:latin typeface="Calibri"/>
                <a:cs typeface="Calibri"/>
              </a:rPr>
              <a:t>antérieures</a:t>
            </a:r>
            <a:r>
              <a:rPr sz="2400" spc="-60" dirty="0">
                <a:latin typeface="Calibri"/>
                <a:cs typeface="Calibri"/>
              </a:rPr>
              <a:t> </a:t>
            </a:r>
            <a:r>
              <a:rPr sz="2400" dirty="0">
                <a:latin typeface="Calibri"/>
                <a:cs typeface="Calibri"/>
              </a:rPr>
              <a:t>si</a:t>
            </a:r>
            <a:r>
              <a:rPr sz="2400" spc="-50" dirty="0">
                <a:latin typeface="Calibri"/>
                <a:cs typeface="Calibri"/>
              </a:rPr>
              <a:t> </a:t>
            </a:r>
            <a:r>
              <a:rPr sz="2400" spc="-10" dirty="0">
                <a:latin typeface="Calibri"/>
                <a:cs typeface="Calibri"/>
              </a:rPr>
              <a:t>nécessaire.</a:t>
            </a:r>
            <a:endParaRPr sz="2400">
              <a:latin typeface="Calibri"/>
              <a:cs typeface="Calibri"/>
            </a:endParaRPr>
          </a:p>
          <a:p>
            <a:pPr marL="354965" indent="-342265">
              <a:lnSpc>
                <a:spcPct val="100000"/>
              </a:lnSpc>
              <a:spcBef>
                <a:spcPts val="2885"/>
              </a:spcBef>
              <a:buFont typeface="Arial MT"/>
              <a:buChar char="•"/>
              <a:tabLst>
                <a:tab pos="354965" algn="l"/>
              </a:tabLst>
            </a:pPr>
            <a:r>
              <a:rPr sz="2400" b="1" dirty="0">
                <a:solidFill>
                  <a:srgbClr val="E36C09"/>
                </a:solidFill>
                <a:latin typeface="Calibri"/>
                <a:cs typeface="Calibri"/>
              </a:rPr>
              <a:t>Git</a:t>
            </a:r>
            <a:r>
              <a:rPr sz="2400" b="1" spc="-45" dirty="0">
                <a:solidFill>
                  <a:srgbClr val="E36C09"/>
                </a:solidFill>
                <a:latin typeface="Calibri"/>
                <a:cs typeface="Calibri"/>
              </a:rPr>
              <a:t> </a:t>
            </a:r>
            <a:r>
              <a:rPr sz="2400" dirty="0">
                <a:latin typeface="Calibri"/>
                <a:cs typeface="Calibri"/>
              </a:rPr>
              <a:t>a</a:t>
            </a:r>
            <a:r>
              <a:rPr sz="2400" spc="-50" dirty="0">
                <a:latin typeface="Calibri"/>
                <a:cs typeface="Calibri"/>
              </a:rPr>
              <a:t> </a:t>
            </a:r>
            <a:r>
              <a:rPr sz="2400" dirty="0">
                <a:latin typeface="Calibri"/>
                <a:cs typeface="Calibri"/>
              </a:rPr>
              <a:t>été</a:t>
            </a:r>
            <a:r>
              <a:rPr sz="2400" spc="-35" dirty="0">
                <a:latin typeface="Calibri"/>
                <a:cs typeface="Calibri"/>
              </a:rPr>
              <a:t> </a:t>
            </a:r>
            <a:r>
              <a:rPr sz="2400" dirty="0">
                <a:latin typeface="Calibri"/>
                <a:cs typeface="Calibri"/>
              </a:rPr>
              <a:t>fondé</a:t>
            </a:r>
            <a:r>
              <a:rPr sz="2400" spc="-25" dirty="0">
                <a:latin typeface="Calibri"/>
                <a:cs typeface="Calibri"/>
              </a:rPr>
              <a:t> </a:t>
            </a:r>
            <a:r>
              <a:rPr sz="2400" dirty="0">
                <a:latin typeface="Calibri"/>
                <a:cs typeface="Calibri"/>
              </a:rPr>
              <a:t>par</a:t>
            </a:r>
            <a:r>
              <a:rPr sz="2400" spc="-50" dirty="0">
                <a:latin typeface="Calibri"/>
                <a:cs typeface="Calibri"/>
              </a:rPr>
              <a:t> </a:t>
            </a:r>
            <a:r>
              <a:rPr sz="2400" b="1" dirty="0">
                <a:latin typeface="Calibri"/>
                <a:cs typeface="Calibri"/>
              </a:rPr>
              <a:t>Linus</a:t>
            </a:r>
            <a:r>
              <a:rPr sz="2400" b="1" spc="-40" dirty="0">
                <a:latin typeface="Calibri"/>
                <a:cs typeface="Calibri"/>
              </a:rPr>
              <a:t> </a:t>
            </a:r>
            <a:r>
              <a:rPr sz="2400" b="1" dirty="0">
                <a:latin typeface="Calibri"/>
                <a:cs typeface="Calibri"/>
              </a:rPr>
              <a:t>Torvalds</a:t>
            </a:r>
            <a:r>
              <a:rPr sz="2400" dirty="0">
                <a:latin typeface="Calibri"/>
                <a:cs typeface="Calibri"/>
              </a:rPr>
              <a:t>,</a:t>
            </a:r>
            <a:r>
              <a:rPr sz="2400" spc="-50" dirty="0">
                <a:latin typeface="Calibri"/>
                <a:cs typeface="Calibri"/>
              </a:rPr>
              <a:t> </a:t>
            </a:r>
            <a:r>
              <a:rPr sz="2400" dirty="0">
                <a:latin typeface="Calibri"/>
                <a:cs typeface="Calibri"/>
              </a:rPr>
              <a:t>le</a:t>
            </a:r>
            <a:r>
              <a:rPr sz="2400" spc="-40" dirty="0">
                <a:latin typeface="Calibri"/>
                <a:cs typeface="Calibri"/>
              </a:rPr>
              <a:t> </a:t>
            </a:r>
            <a:r>
              <a:rPr sz="2400" dirty="0">
                <a:latin typeface="Calibri"/>
                <a:cs typeface="Calibri"/>
              </a:rPr>
              <a:t>créateur</a:t>
            </a:r>
            <a:r>
              <a:rPr sz="2400" spc="-60" dirty="0">
                <a:latin typeface="Calibri"/>
                <a:cs typeface="Calibri"/>
              </a:rPr>
              <a:t> </a:t>
            </a:r>
            <a:r>
              <a:rPr sz="2400" dirty="0">
                <a:latin typeface="Calibri"/>
                <a:cs typeface="Calibri"/>
              </a:rPr>
              <a:t>du</a:t>
            </a:r>
            <a:r>
              <a:rPr sz="2400" spc="-35" dirty="0">
                <a:latin typeface="Calibri"/>
                <a:cs typeface="Calibri"/>
              </a:rPr>
              <a:t> </a:t>
            </a:r>
            <a:r>
              <a:rPr sz="2400" dirty="0">
                <a:latin typeface="Calibri"/>
                <a:cs typeface="Calibri"/>
              </a:rPr>
              <a:t>noyau</a:t>
            </a:r>
            <a:r>
              <a:rPr sz="2400" spc="-50" dirty="0">
                <a:latin typeface="Calibri"/>
                <a:cs typeface="Calibri"/>
              </a:rPr>
              <a:t> </a:t>
            </a:r>
            <a:r>
              <a:rPr sz="2400" dirty="0">
                <a:latin typeface="Calibri"/>
                <a:cs typeface="Calibri"/>
              </a:rPr>
              <a:t>Linux,</a:t>
            </a:r>
            <a:r>
              <a:rPr sz="2400" spc="-35" dirty="0">
                <a:latin typeface="Calibri"/>
                <a:cs typeface="Calibri"/>
              </a:rPr>
              <a:t> </a:t>
            </a:r>
            <a:r>
              <a:rPr sz="2400" dirty="0">
                <a:latin typeface="Calibri"/>
                <a:cs typeface="Calibri"/>
              </a:rPr>
              <a:t>en</a:t>
            </a:r>
            <a:r>
              <a:rPr sz="2400" spc="-45" dirty="0">
                <a:latin typeface="Calibri"/>
                <a:cs typeface="Calibri"/>
              </a:rPr>
              <a:t> </a:t>
            </a:r>
            <a:r>
              <a:rPr sz="2400" spc="-10" dirty="0">
                <a:latin typeface="Calibri"/>
                <a:cs typeface="Calibri"/>
              </a:rPr>
              <a:t>2005.</a:t>
            </a:r>
            <a:endParaRPr sz="2400">
              <a:latin typeface="Calibri"/>
              <a:cs typeface="Calibri"/>
            </a:endParaRPr>
          </a:p>
        </p:txBody>
      </p:sp>
      <p:pic>
        <p:nvPicPr>
          <p:cNvPr id="5" name="object 5"/>
          <p:cNvPicPr/>
          <p:nvPr/>
        </p:nvPicPr>
        <p:blipFill>
          <a:blip r:embed="rId2" cstate="print"/>
          <a:stretch>
            <a:fillRect/>
          </a:stretch>
        </p:blipFill>
        <p:spPr>
          <a:xfrm>
            <a:off x="8001000" y="3733800"/>
            <a:ext cx="2810255" cy="1533779"/>
          </a:xfrm>
          <a:prstGeom prst="rect">
            <a:avLst/>
          </a:prstGeom>
        </p:spPr>
      </p:pic>
      <p:sp>
        <p:nvSpPr>
          <p:cNvPr id="6" name="object 6"/>
          <p:cNvSpPr txBox="1"/>
          <p:nvPr/>
        </p:nvSpPr>
        <p:spPr>
          <a:xfrm>
            <a:off x="501332" y="3790200"/>
            <a:ext cx="7347584" cy="2585720"/>
          </a:xfrm>
          <a:prstGeom prst="rect">
            <a:avLst/>
          </a:prstGeom>
          <a:solidFill>
            <a:srgbClr val="EBF0DE"/>
          </a:solidFill>
        </p:spPr>
        <p:txBody>
          <a:bodyPr vert="horz" wrap="square" lIns="0" tIns="0" rIns="0" bIns="0" rtlCol="0">
            <a:spAutoFit/>
          </a:bodyPr>
          <a:lstStyle/>
          <a:p>
            <a:pPr marL="342265" indent="-342265">
              <a:lnSpc>
                <a:spcPts val="2730"/>
              </a:lnSpc>
              <a:buFont typeface="Wingdings"/>
              <a:buChar char=""/>
              <a:tabLst>
                <a:tab pos="342265" algn="l"/>
              </a:tabLst>
            </a:pPr>
            <a:r>
              <a:rPr sz="2400" dirty="0">
                <a:latin typeface="Calibri"/>
                <a:cs typeface="Calibri"/>
              </a:rPr>
              <a:t>Facilite</a:t>
            </a:r>
            <a:r>
              <a:rPr sz="2400" spc="-50" dirty="0">
                <a:latin typeface="Calibri"/>
                <a:cs typeface="Calibri"/>
              </a:rPr>
              <a:t> </a:t>
            </a:r>
            <a:r>
              <a:rPr sz="2400" dirty="0">
                <a:latin typeface="Calibri"/>
                <a:cs typeface="Calibri"/>
              </a:rPr>
              <a:t>le</a:t>
            </a:r>
            <a:r>
              <a:rPr sz="2400" spc="-40" dirty="0">
                <a:latin typeface="Calibri"/>
                <a:cs typeface="Calibri"/>
              </a:rPr>
              <a:t> </a:t>
            </a:r>
            <a:r>
              <a:rPr sz="2400" dirty="0">
                <a:latin typeface="Calibri"/>
                <a:cs typeface="Calibri"/>
              </a:rPr>
              <a:t>contrôle</a:t>
            </a:r>
            <a:r>
              <a:rPr sz="2400" spc="-25" dirty="0">
                <a:latin typeface="Calibri"/>
                <a:cs typeface="Calibri"/>
              </a:rPr>
              <a:t> </a:t>
            </a:r>
            <a:r>
              <a:rPr sz="2400" dirty="0">
                <a:latin typeface="Calibri"/>
                <a:cs typeface="Calibri"/>
              </a:rPr>
              <a:t>de</a:t>
            </a:r>
            <a:r>
              <a:rPr sz="2400" spc="-25" dirty="0">
                <a:latin typeface="Calibri"/>
                <a:cs typeface="Calibri"/>
              </a:rPr>
              <a:t> </a:t>
            </a:r>
            <a:r>
              <a:rPr sz="2400" dirty="0">
                <a:latin typeface="Calibri"/>
                <a:cs typeface="Calibri"/>
              </a:rPr>
              <a:t>version</a:t>
            </a:r>
            <a:r>
              <a:rPr sz="2400" spc="-30" dirty="0">
                <a:latin typeface="Calibri"/>
                <a:cs typeface="Calibri"/>
              </a:rPr>
              <a:t> </a:t>
            </a:r>
            <a:r>
              <a:rPr sz="2400" dirty="0">
                <a:latin typeface="Calibri"/>
                <a:cs typeface="Calibri"/>
              </a:rPr>
              <a:t>et</a:t>
            </a:r>
            <a:r>
              <a:rPr sz="2400" spc="-35" dirty="0">
                <a:latin typeface="Calibri"/>
                <a:cs typeface="Calibri"/>
              </a:rPr>
              <a:t> </a:t>
            </a:r>
            <a:r>
              <a:rPr sz="2400" dirty="0">
                <a:latin typeface="Calibri"/>
                <a:cs typeface="Calibri"/>
              </a:rPr>
              <a:t>le</a:t>
            </a:r>
            <a:r>
              <a:rPr sz="2400" spc="-40" dirty="0">
                <a:latin typeface="Calibri"/>
                <a:cs typeface="Calibri"/>
              </a:rPr>
              <a:t> </a:t>
            </a:r>
            <a:r>
              <a:rPr sz="2400" dirty="0">
                <a:latin typeface="Calibri"/>
                <a:cs typeface="Calibri"/>
              </a:rPr>
              <a:t>traçage</a:t>
            </a:r>
            <a:r>
              <a:rPr sz="2400" spc="-50" dirty="0">
                <a:latin typeface="Calibri"/>
                <a:cs typeface="Calibri"/>
              </a:rPr>
              <a:t> </a:t>
            </a:r>
            <a:r>
              <a:rPr sz="2400" spc="-25" dirty="0">
                <a:latin typeface="Calibri"/>
                <a:cs typeface="Calibri"/>
              </a:rPr>
              <a:t>de</a:t>
            </a:r>
            <a:endParaRPr sz="2400" dirty="0">
              <a:latin typeface="Calibri"/>
              <a:cs typeface="Calibri"/>
            </a:endParaRPr>
          </a:p>
          <a:p>
            <a:pPr marL="342900">
              <a:lnSpc>
                <a:spcPct val="100000"/>
              </a:lnSpc>
            </a:pPr>
            <a:r>
              <a:rPr sz="2400" spc="-10" dirty="0">
                <a:latin typeface="Calibri"/>
                <a:cs typeface="Calibri"/>
              </a:rPr>
              <a:t>l’historique</a:t>
            </a:r>
            <a:endParaRPr sz="2400" dirty="0">
              <a:latin typeface="Calibri"/>
              <a:cs typeface="Calibri"/>
            </a:endParaRPr>
          </a:p>
          <a:p>
            <a:pPr marL="342265" indent="-342265">
              <a:lnSpc>
                <a:spcPct val="100000"/>
              </a:lnSpc>
              <a:spcBef>
                <a:spcPts val="2880"/>
              </a:spcBef>
              <a:buFont typeface="Wingdings"/>
              <a:buChar char=""/>
              <a:tabLst>
                <a:tab pos="342265" algn="l"/>
              </a:tabLst>
            </a:pPr>
            <a:r>
              <a:rPr sz="2400" dirty="0">
                <a:latin typeface="Calibri"/>
                <a:cs typeface="Calibri"/>
              </a:rPr>
              <a:t>Améliore</a:t>
            </a:r>
            <a:r>
              <a:rPr sz="2400" spc="-55" dirty="0">
                <a:latin typeface="Calibri"/>
                <a:cs typeface="Calibri"/>
              </a:rPr>
              <a:t> </a:t>
            </a:r>
            <a:r>
              <a:rPr sz="2400" dirty="0">
                <a:latin typeface="Calibri"/>
                <a:cs typeface="Calibri"/>
              </a:rPr>
              <a:t>l’intégrité</a:t>
            </a:r>
            <a:r>
              <a:rPr sz="2400" spc="-35" dirty="0">
                <a:latin typeface="Calibri"/>
                <a:cs typeface="Calibri"/>
              </a:rPr>
              <a:t> </a:t>
            </a:r>
            <a:r>
              <a:rPr sz="2400" dirty="0">
                <a:latin typeface="Calibri"/>
                <a:cs typeface="Calibri"/>
              </a:rPr>
              <a:t>du</a:t>
            </a:r>
            <a:r>
              <a:rPr sz="2400" spc="-35" dirty="0">
                <a:latin typeface="Calibri"/>
                <a:cs typeface="Calibri"/>
              </a:rPr>
              <a:t> </a:t>
            </a:r>
            <a:r>
              <a:rPr sz="2400" dirty="0">
                <a:latin typeface="Calibri"/>
                <a:cs typeface="Calibri"/>
              </a:rPr>
              <a:t>code</a:t>
            </a:r>
            <a:r>
              <a:rPr sz="2400" spc="-25" dirty="0">
                <a:latin typeface="Calibri"/>
                <a:cs typeface="Calibri"/>
              </a:rPr>
              <a:t> </a:t>
            </a:r>
            <a:r>
              <a:rPr sz="2400" dirty="0">
                <a:latin typeface="Calibri"/>
                <a:cs typeface="Calibri"/>
              </a:rPr>
              <a:t>et</a:t>
            </a:r>
            <a:r>
              <a:rPr sz="2400" spc="-35" dirty="0">
                <a:latin typeface="Calibri"/>
                <a:cs typeface="Calibri"/>
              </a:rPr>
              <a:t> </a:t>
            </a:r>
            <a:r>
              <a:rPr sz="2400" dirty="0">
                <a:latin typeface="Calibri"/>
                <a:cs typeface="Calibri"/>
              </a:rPr>
              <a:t>réduit</a:t>
            </a:r>
            <a:r>
              <a:rPr sz="2400" spc="-35" dirty="0">
                <a:latin typeface="Calibri"/>
                <a:cs typeface="Calibri"/>
              </a:rPr>
              <a:t> </a:t>
            </a:r>
            <a:r>
              <a:rPr sz="2400" dirty="0">
                <a:latin typeface="Calibri"/>
                <a:cs typeface="Calibri"/>
              </a:rPr>
              <a:t>les</a:t>
            </a:r>
            <a:r>
              <a:rPr sz="2400" spc="-40" dirty="0">
                <a:latin typeface="Calibri"/>
                <a:cs typeface="Calibri"/>
              </a:rPr>
              <a:t> </a:t>
            </a:r>
            <a:r>
              <a:rPr sz="2400" spc="-10" dirty="0">
                <a:latin typeface="Calibri"/>
                <a:cs typeface="Calibri"/>
              </a:rPr>
              <a:t>conflits</a:t>
            </a:r>
            <a:endParaRPr sz="2400" dirty="0">
              <a:latin typeface="Calibri"/>
              <a:cs typeface="Calibri"/>
            </a:endParaRPr>
          </a:p>
          <a:p>
            <a:pPr marL="342265" indent="-342265">
              <a:lnSpc>
                <a:spcPct val="100000"/>
              </a:lnSpc>
              <a:spcBef>
                <a:spcPts val="2880"/>
              </a:spcBef>
              <a:buFont typeface="Wingdings"/>
              <a:buChar char=""/>
              <a:tabLst>
                <a:tab pos="342265" algn="l"/>
              </a:tabLst>
            </a:pPr>
            <a:r>
              <a:rPr sz="2400" dirty="0">
                <a:latin typeface="Calibri"/>
                <a:cs typeface="Calibri"/>
              </a:rPr>
              <a:t>Permet</a:t>
            </a:r>
            <a:r>
              <a:rPr sz="2400" spc="-35" dirty="0">
                <a:latin typeface="Calibri"/>
                <a:cs typeface="Calibri"/>
              </a:rPr>
              <a:t> </a:t>
            </a:r>
            <a:r>
              <a:rPr sz="2400" dirty="0">
                <a:latin typeface="Calibri"/>
                <a:cs typeface="Calibri"/>
              </a:rPr>
              <a:t>le</a:t>
            </a:r>
            <a:r>
              <a:rPr sz="2400" spc="-30" dirty="0">
                <a:latin typeface="Calibri"/>
                <a:cs typeface="Calibri"/>
              </a:rPr>
              <a:t> </a:t>
            </a:r>
            <a:r>
              <a:rPr sz="2400" dirty="0">
                <a:latin typeface="Calibri"/>
                <a:cs typeface="Calibri"/>
              </a:rPr>
              <a:t>branchement</a:t>
            </a:r>
            <a:r>
              <a:rPr sz="2400" spc="-35" dirty="0">
                <a:latin typeface="Calibri"/>
                <a:cs typeface="Calibri"/>
              </a:rPr>
              <a:t> </a:t>
            </a:r>
            <a:r>
              <a:rPr sz="2400" dirty="0">
                <a:latin typeface="Calibri"/>
                <a:cs typeface="Calibri"/>
              </a:rPr>
              <a:t>et</a:t>
            </a:r>
            <a:r>
              <a:rPr sz="2400" spc="-15" dirty="0">
                <a:latin typeface="Calibri"/>
                <a:cs typeface="Calibri"/>
              </a:rPr>
              <a:t> </a:t>
            </a:r>
            <a:r>
              <a:rPr sz="2400" dirty="0">
                <a:latin typeface="Calibri"/>
                <a:cs typeface="Calibri"/>
              </a:rPr>
              <a:t>la</a:t>
            </a:r>
            <a:r>
              <a:rPr sz="2400" spc="-30" dirty="0">
                <a:latin typeface="Calibri"/>
                <a:cs typeface="Calibri"/>
              </a:rPr>
              <a:t> </a:t>
            </a:r>
            <a:r>
              <a:rPr sz="2400" dirty="0">
                <a:latin typeface="Calibri"/>
                <a:cs typeface="Calibri"/>
              </a:rPr>
              <a:t>fusion</a:t>
            </a:r>
            <a:r>
              <a:rPr sz="2400" spc="-15" dirty="0">
                <a:latin typeface="Calibri"/>
                <a:cs typeface="Calibri"/>
              </a:rPr>
              <a:t> </a:t>
            </a:r>
            <a:r>
              <a:rPr sz="2400" dirty="0">
                <a:latin typeface="Calibri"/>
                <a:cs typeface="Calibri"/>
              </a:rPr>
              <a:t>pour</a:t>
            </a:r>
            <a:r>
              <a:rPr sz="2400" spc="-20" dirty="0">
                <a:latin typeface="Calibri"/>
                <a:cs typeface="Calibri"/>
              </a:rPr>
              <a:t> </a:t>
            </a:r>
            <a:r>
              <a:rPr sz="2400" dirty="0">
                <a:latin typeface="Calibri"/>
                <a:cs typeface="Calibri"/>
              </a:rPr>
              <a:t>un</a:t>
            </a:r>
            <a:r>
              <a:rPr sz="2400" spc="-25" dirty="0">
                <a:latin typeface="Calibri"/>
                <a:cs typeface="Calibri"/>
              </a:rPr>
              <a:t> </a:t>
            </a:r>
            <a:r>
              <a:rPr sz="2400" spc="-10" dirty="0">
                <a:latin typeface="Calibri"/>
                <a:cs typeface="Calibri"/>
              </a:rPr>
              <a:t>travail</a:t>
            </a:r>
            <a:endParaRPr sz="2400" dirty="0">
              <a:latin typeface="Calibri"/>
              <a:cs typeface="Calibri"/>
            </a:endParaRPr>
          </a:p>
          <a:p>
            <a:pPr marL="342900">
              <a:lnSpc>
                <a:spcPct val="100000"/>
              </a:lnSpc>
              <a:spcBef>
                <a:spcPts val="5"/>
              </a:spcBef>
            </a:pPr>
            <a:r>
              <a:rPr sz="2400" spc="-10" dirty="0">
                <a:latin typeface="Calibri"/>
                <a:cs typeface="Calibri"/>
              </a:rPr>
              <a:t>indépendant</a:t>
            </a:r>
            <a:endParaRPr sz="2400" dirty="0">
              <a:latin typeface="Calibri"/>
              <a:cs typeface="Calibri"/>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dirty="0"/>
              <a:t>Github</a:t>
            </a:r>
            <a:r>
              <a:rPr spc="-85" dirty="0"/>
              <a:t> </a:t>
            </a:r>
            <a:r>
              <a:rPr dirty="0"/>
              <a:t>le</a:t>
            </a:r>
            <a:r>
              <a:rPr spc="-85" dirty="0"/>
              <a:t> </a:t>
            </a:r>
            <a:r>
              <a:rPr dirty="0"/>
              <a:t>dépôt</a:t>
            </a:r>
            <a:r>
              <a:rPr spc="-90" dirty="0"/>
              <a:t> </a:t>
            </a:r>
            <a:r>
              <a:rPr spc="-10" dirty="0"/>
              <a:t>distant</a:t>
            </a:r>
          </a:p>
        </p:txBody>
      </p:sp>
      <p:sp>
        <p:nvSpPr>
          <p:cNvPr id="3" name="object 3"/>
          <p:cNvSpPr/>
          <p:nvPr/>
        </p:nvSpPr>
        <p:spPr>
          <a:xfrm>
            <a:off x="387032" y="1141730"/>
            <a:ext cx="11720830" cy="4801870"/>
          </a:xfrm>
          <a:custGeom>
            <a:avLst/>
            <a:gdLst/>
            <a:ahLst/>
            <a:cxnLst/>
            <a:rect l="l" t="t" r="r" b="b"/>
            <a:pathLst>
              <a:path w="11720830" h="4801870">
                <a:moveTo>
                  <a:pt x="11720830" y="0"/>
                </a:moveTo>
                <a:lnTo>
                  <a:pt x="0" y="0"/>
                </a:lnTo>
                <a:lnTo>
                  <a:pt x="0" y="4801362"/>
                </a:lnTo>
                <a:lnTo>
                  <a:pt x="11720830" y="4801362"/>
                </a:lnTo>
                <a:lnTo>
                  <a:pt x="11720830" y="0"/>
                </a:lnTo>
                <a:close/>
              </a:path>
            </a:pathLst>
          </a:custGeom>
          <a:solidFill>
            <a:srgbClr val="DCE6F1"/>
          </a:solidFill>
        </p:spPr>
        <p:txBody>
          <a:bodyPr wrap="square" lIns="0" tIns="0" rIns="0" bIns="0" rtlCol="0"/>
          <a:lstStyle/>
          <a:p>
            <a:endParaRPr/>
          </a:p>
        </p:txBody>
      </p:sp>
      <p:sp>
        <p:nvSpPr>
          <p:cNvPr id="4" name="object 4"/>
          <p:cNvSpPr txBox="1"/>
          <p:nvPr/>
        </p:nvSpPr>
        <p:spPr>
          <a:xfrm>
            <a:off x="428307" y="1447800"/>
            <a:ext cx="11679555" cy="3341941"/>
          </a:xfrm>
          <a:prstGeom prst="rect">
            <a:avLst/>
          </a:prstGeom>
        </p:spPr>
        <p:txBody>
          <a:bodyPr vert="horz" wrap="square" lIns="0" tIns="12700" rIns="0" bIns="0" rtlCol="0">
            <a:spAutoFit/>
          </a:bodyPr>
          <a:lstStyle/>
          <a:p>
            <a:pPr marL="354965" marR="328295" indent="-342900">
              <a:lnSpc>
                <a:spcPct val="100000"/>
              </a:lnSpc>
              <a:spcBef>
                <a:spcPts val="100"/>
              </a:spcBef>
              <a:buFont typeface="Arial MT"/>
              <a:buChar char="•"/>
              <a:tabLst>
                <a:tab pos="354965" algn="l"/>
              </a:tabLst>
            </a:pPr>
            <a:r>
              <a:rPr sz="2400" b="1" dirty="0">
                <a:solidFill>
                  <a:srgbClr val="0070C0"/>
                </a:solidFill>
                <a:latin typeface="Calibri"/>
                <a:cs typeface="Calibri"/>
              </a:rPr>
              <a:t>GitHub</a:t>
            </a:r>
            <a:r>
              <a:rPr sz="2400" b="1" spc="-45" dirty="0">
                <a:solidFill>
                  <a:srgbClr val="FF0000"/>
                </a:solidFill>
                <a:latin typeface="Calibri"/>
                <a:cs typeface="Calibri"/>
              </a:rPr>
              <a:t> </a:t>
            </a:r>
            <a:r>
              <a:rPr sz="2400" dirty="0">
                <a:latin typeface="Calibri"/>
                <a:cs typeface="Calibri"/>
              </a:rPr>
              <a:t>est</a:t>
            </a:r>
            <a:r>
              <a:rPr sz="2400" spc="-40" dirty="0">
                <a:latin typeface="Calibri"/>
                <a:cs typeface="Calibri"/>
              </a:rPr>
              <a:t> </a:t>
            </a:r>
            <a:r>
              <a:rPr sz="2400" dirty="0">
                <a:latin typeface="Calibri"/>
                <a:cs typeface="Calibri"/>
              </a:rPr>
              <a:t>une</a:t>
            </a:r>
            <a:r>
              <a:rPr sz="2400" spc="-45" dirty="0">
                <a:latin typeface="Calibri"/>
                <a:cs typeface="Calibri"/>
              </a:rPr>
              <a:t> </a:t>
            </a:r>
            <a:r>
              <a:rPr sz="2400" dirty="0">
                <a:latin typeface="Calibri"/>
                <a:cs typeface="Calibri"/>
              </a:rPr>
              <a:t>plateforme</a:t>
            </a:r>
            <a:r>
              <a:rPr sz="2400" spc="-50" dirty="0">
                <a:latin typeface="Calibri"/>
                <a:cs typeface="Calibri"/>
              </a:rPr>
              <a:t> </a:t>
            </a:r>
            <a:r>
              <a:rPr sz="2400" dirty="0">
                <a:latin typeface="Calibri"/>
                <a:cs typeface="Calibri"/>
              </a:rPr>
              <a:t>web</a:t>
            </a:r>
            <a:r>
              <a:rPr sz="2400" spc="-50" dirty="0">
                <a:latin typeface="Calibri"/>
                <a:cs typeface="Calibri"/>
              </a:rPr>
              <a:t> </a:t>
            </a:r>
            <a:r>
              <a:rPr sz="2400" dirty="0">
                <a:latin typeface="Calibri"/>
                <a:cs typeface="Calibri"/>
              </a:rPr>
              <a:t>et</a:t>
            </a:r>
            <a:r>
              <a:rPr sz="2400" spc="-55" dirty="0">
                <a:latin typeface="Calibri"/>
                <a:cs typeface="Calibri"/>
              </a:rPr>
              <a:t> </a:t>
            </a:r>
            <a:r>
              <a:rPr sz="2400" dirty="0">
                <a:latin typeface="Calibri"/>
                <a:cs typeface="Calibri"/>
              </a:rPr>
              <a:t>un</a:t>
            </a:r>
            <a:r>
              <a:rPr sz="2400" spc="-40" dirty="0">
                <a:latin typeface="Calibri"/>
                <a:cs typeface="Calibri"/>
              </a:rPr>
              <a:t> </a:t>
            </a:r>
            <a:r>
              <a:rPr sz="2400" dirty="0">
                <a:latin typeface="Calibri"/>
                <a:cs typeface="Calibri"/>
              </a:rPr>
              <a:t>service</a:t>
            </a:r>
            <a:r>
              <a:rPr sz="2400" spc="-50" dirty="0">
                <a:latin typeface="Calibri"/>
                <a:cs typeface="Calibri"/>
              </a:rPr>
              <a:t> </a:t>
            </a:r>
            <a:r>
              <a:rPr sz="2400" dirty="0">
                <a:latin typeface="Calibri"/>
                <a:cs typeface="Calibri"/>
              </a:rPr>
              <a:t>cloud</a:t>
            </a:r>
            <a:r>
              <a:rPr sz="2400" spc="-45" dirty="0">
                <a:latin typeface="Calibri"/>
                <a:cs typeface="Calibri"/>
              </a:rPr>
              <a:t> </a:t>
            </a:r>
            <a:r>
              <a:rPr sz="2400" dirty="0">
                <a:latin typeface="Calibri"/>
                <a:cs typeface="Calibri"/>
              </a:rPr>
              <a:t>qui</a:t>
            </a:r>
            <a:r>
              <a:rPr sz="2400" spc="-45" dirty="0">
                <a:latin typeface="Calibri"/>
                <a:cs typeface="Calibri"/>
              </a:rPr>
              <a:t> </a:t>
            </a:r>
            <a:r>
              <a:rPr sz="2400" dirty="0">
                <a:latin typeface="Calibri"/>
                <a:cs typeface="Calibri"/>
              </a:rPr>
              <a:t>sert</a:t>
            </a:r>
            <a:r>
              <a:rPr sz="2400" spc="-55" dirty="0">
                <a:latin typeface="Calibri"/>
                <a:cs typeface="Calibri"/>
              </a:rPr>
              <a:t> </a:t>
            </a:r>
            <a:r>
              <a:rPr sz="2400" dirty="0">
                <a:latin typeface="Calibri"/>
                <a:cs typeface="Calibri"/>
              </a:rPr>
              <a:t>d'hébergement</a:t>
            </a:r>
            <a:r>
              <a:rPr sz="2400" spc="-55" dirty="0">
                <a:latin typeface="Calibri"/>
                <a:cs typeface="Calibri"/>
              </a:rPr>
              <a:t> </a:t>
            </a:r>
            <a:r>
              <a:rPr sz="2400" dirty="0">
                <a:latin typeface="Calibri"/>
                <a:cs typeface="Calibri"/>
              </a:rPr>
              <a:t>et</a:t>
            </a:r>
            <a:r>
              <a:rPr sz="2400" spc="-50" dirty="0">
                <a:latin typeface="Calibri"/>
                <a:cs typeface="Calibri"/>
              </a:rPr>
              <a:t> </a:t>
            </a:r>
            <a:r>
              <a:rPr sz="2400" dirty="0">
                <a:latin typeface="Calibri"/>
                <a:cs typeface="Calibri"/>
              </a:rPr>
              <a:t>de</a:t>
            </a:r>
            <a:r>
              <a:rPr sz="2400" spc="-35" dirty="0">
                <a:latin typeface="Calibri"/>
                <a:cs typeface="Calibri"/>
              </a:rPr>
              <a:t> </a:t>
            </a:r>
            <a:r>
              <a:rPr sz="2400" spc="-10" dirty="0">
                <a:latin typeface="Calibri"/>
                <a:cs typeface="Calibri"/>
              </a:rPr>
              <a:t>gestion </a:t>
            </a:r>
            <a:r>
              <a:rPr sz="2400" dirty="0">
                <a:latin typeface="Calibri"/>
                <a:cs typeface="Calibri"/>
              </a:rPr>
              <a:t>pour</a:t>
            </a:r>
            <a:r>
              <a:rPr sz="2400" spc="-35" dirty="0">
                <a:latin typeface="Calibri"/>
                <a:cs typeface="Calibri"/>
              </a:rPr>
              <a:t> </a:t>
            </a:r>
            <a:r>
              <a:rPr sz="2400" dirty="0">
                <a:latin typeface="Calibri"/>
                <a:cs typeface="Calibri"/>
              </a:rPr>
              <a:t>les</a:t>
            </a:r>
            <a:r>
              <a:rPr sz="2400" spc="-35" dirty="0">
                <a:latin typeface="Calibri"/>
                <a:cs typeface="Calibri"/>
              </a:rPr>
              <a:t> </a:t>
            </a:r>
            <a:r>
              <a:rPr sz="2400" dirty="0">
                <a:latin typeface="Calibri"/>
                <a:cs typeface="Calibri"/>
              </a:rPr>
              <a:t>projets</a:t>
            </a:r>
            <a:r>
              <a:rPr sz="2400" spc="-35" dirty="0">
                <a:latin typeface="Calibri"/>
                <a:cs typeface="Calibri"/>
              </a:rPr>
              <a:t> </a:t>
            </a:r>
            <a:r>
              <a:rPr sz="2400" dirty="0">
                <a:latin typeface="Calibri"/>
                <a:cs typeface="Calibri"/>
              </a:rPr>
              <a:t>de</a:t>
            </a:r>
            <a:r>
              <a:rPr sz="2400" spc="-35" dirty="0">
                <a:latin typeface="Calibri"/>
                <a:cs typeface="Calibri"/>
              </a:rPr>
              <a:t> </a:t>
            </a:r>
            <a:r>
              <a:rPr sz="2400" dirty="0">
                <a:latin typeface="Calibri"/>
                <a:cs typeface="Calibri"/>
              </a:rPr>
              <a:t>développement</a:t>
            </a:r>
            <a:r>
              <a:rPr sz="2400" spc="-35" dirty="0">
                <a:latin typeface="Calibri"/>
                <a:cs typeface="Calibri"/>
              </a:rPr>
              <a:t> </a:t>
            </a:r>
            <a:r>
              <a:rPr sz="2400" dirty="0">
                <a:latin typeface="Calibri"/>
                <a:cs typeface="Calibri"/>
              </a:rPr>
              <a:t>de</a:t>
            </a:r>
            <a:r>
              <a:rPr sz="2400" spc="-35" dirty="0">
                <a:latin typeface="Calibri"/>
                <a:cs typeface="Calibri"/>
              </a:rPr>
              <a:t> </a:t>
            </a:r>
            <a:r>
              <a:rPr sz="2400" dirty="0">
                <a:latin typeface="Calibri"/>
                <a:cs typeface="Calibri"/>
              </a:rPr>
              <a:t>logiciels,</a:t>
            </a:r>
            <a:r>
              <a:rPr sz="2400" spc="-45" dirty="0">
                <a:latin typeface="Calibri"/>
                <a:cs typeface="Calibri"/>
              </a:rPr>
              <a:t> </a:t>
            </a:r>
            <a:r>
              <a:rPr sz="2400" dirty="0">
                <a:latin typeface="Calibri"/>
                <a:cs typeface="Calibri"/>
              </a:rPr>
              <a:t>en</a:t>
            </a:r>
            <a:r>
              <a:rPr sz="2400" spc="-40" dirty="0">
                <a:latin typeface="Calibri"/>
                <a:cs typeface="Calibri"/>
              </a:rPr>
              <a:t> </a:t>
            </a:r>
            <a:r>
              <a:rPr sz="2400" dirty="0">
                <a:latin typeface="Calibri"/>
                <a:cs typeface="Calibri"/>
              </a:rPr>
              <a:t>utilisant</a:t>
            </a:r>
            <a:r>
              <a:rPr sz="2400" spc="-55" dirty="0">
                <a:latin typeface="Calibri"/>
                <a:cs typeface="Calibri"/>
              </a:rPr>
              <a:t> </a:t>
            </a:r>
            <a:r>
              <a:rPr sz="2400" dirty="0">
                <a:latin typeface="Calibri"/>
                <a:cs typeface="Calibri"/>
              </a:rPr>
              <a:t>le</a:t>
            </a:r>
            <a:r>
              <a:rPr sz="2400" spc="-50" dirty="0">
                <a:latin typeface="Calibri"/>
                <a:cs typeface="Calibri"/>
              </a:rPr>
              <a:t> </a:t>
            </a:r>
            <a:r>
              <a:rPr sz="2400" dirty="0">
                <a:latin typeface="Calibri"/>
                <a:cs typeface="Calibri"/>
              </a:rPr>
              <a:t>système</a:t>
            </a:r>
            <a:r>
              <a:rPr sz="2400" spc="-45" dirty="0">
                <a:latin typeface="Calibri"/>
                <a:cs typeface="Calibri"/>
              </a:rPr>
              <a:t> </a:t>
            </a:r>
            <a:r>
              <a:rPr sz="2400" dirty="0">
                <a:latin typeface="Calibri"/>
                <a:cs typeface="Calibri"/>
              </a:rPr>
              <a:t>de</a:t>
            </a:r>
            <a:r>
              <a:rPr sz="2400" spc="-35" dirty="0">
                <a:latin typeface="Calibri"/>
                <a:cs typeface="Calibri"/>
              </a:rPr>
              <a:t> </a:t>
            </a:r>
            <a:r>
              <a:rPr sz="2400" dirty="0">
                <a:latin typeface="Calibri"/>
                <a:cs typeface="Calibri"/>
              </a:rPr>
              <a:t>contrôle</a:t>
            </a:r>
            <a:r>
              <a:rPr sz="2400" spc="-50" dirty="0">
                <a:latin typeface="Calibri"/>
                <a:cs typeface="Calibri"/>
              </a:rPr>
              <a:t> </a:t>
            </a:r>
            <a:r>
              <a:rPr sz="2400" spc="-25" dirty="0">
                <a:latin typeface="Calibri"/>
                <a:cs typeface="Calibri"/>
              </a:rPr>
              <a:t>de </a:t>
            </a:r>
            <a:r>
              <a:rPr sz="2400" dirty="0">
                <a:latin typeface="Calibri"/>
                <a:cs typeface="Calibri"/>
              </a:rPr>
              <a:t>version</a:t>
            </a:r>
            <a:r>
              <a:rPr sz="2400" spc="-110" dirty="0">
                <a:latin typeface="Calibri"/>
                <a:cs typeface="Calibri"/>
              </a:rPr>
              <a:t> </a:t>
            </a:r>
            <a:r>
              <a:rPr sz="2400" spc="-20" dirty="0">
                <a:latin typeface="Calibri"/>
                <a:cs typeface="Calibri"/>
              </a:rPr>
              <a:t>Git.</a:t>
            </a:r>
            <a:endParaRPr sz="2400" dirty="0">
              <a:latin typeface="Calibri"/>
              <a:cs typeface="Calibri"/>
            </a:endParaRPr>
          </a:p>
          <a:p>
            <a:pPr marL="354965" marR="5080" indent="-342900">
              <a:lnSpc>
                <a:spcPct val="100000"/>
              </a:lnSpc>
              <a:spcBef>
                <a:spcPts val="2880"/>
              </a:spcBef>
              <a:buFont typeface="Arial MT"/>
              <a:buChar char="•"/>
              <a:tabLst>
                <a:tab pos="354965" algn="l"/>
              </a:tabLst>
            </a:pPr>
            <a:r>
              <a:rPr sz="2400" dirty="0">
                <a:latin typeface="Calibri"/>
                <a:cs typeface="Calibri"/>
              </a:rPr>
              <a:t>Elle</a:t>
            </a:r>
            <a:r>
              <a:rPr sz="2400" spc="-55" dirty="0">
                <a:latin typeface="Calibri"/>
                <a:cs typeface="Calibri"/>
              </a:rPr>
              <a:t> </a:t>
            </a:r>
            <a:r>
              <a:rPr sz="2400" dirty="0">
                <a:latin typeface="Calibri"/>
                <a:cs typeface="Calibri"/>
              </a:rPr>
              <a:t>permet</a:t>
            </a:r>
            <a:r>
              <a:rPr sz="2400" spc="-50" dirty="0">
                <a:latin typeface="Calibri"/>
                <a:cs typeface="Calibri"/>
              </a:rPr>
              <a:t> </a:t>
            </a:r>
            <a:r>
              <a:rPr sz="2400" dirty="0">
                <a:latin typeface="Calibri"/>
                <a:cs typeface="Calibri"/>
              </a:rPr>
              <a:t>à</a:t>
            </a:r>
            <a:r>
              <a:rPr sz="2400" spc="-45" dirty="0">
                <a:latin typeface="Calibri"/>
                <a:cs typeface="Calibri"/>
              </a:rPr>
              <a:t> </a:t>
            </a:r>
            <a:r>
              <a:rPr sz="2400" dirty="0">
                <a:latin typeface="Calibri"/>
                <a:cs typeface="Calibri"/>
              </a:rPr>
              <a:t>des</a:t>
            </a:r>
            <a:r>
              <a:rPr sz="2400" spc="-45" dirty="0">
                <a:latin typeface="Calibri"/>
                <a:cs typeface="Calibri"/>
              </a:rPr>
              <a:t> </a:t>
            </a:r>
            <a:r>
              <a:rPr sz="2400" dirty="0">
                <a:latin typeface="Calibri"/>
                <a:cs typeface="Calibri"/>
              </a:rPr>
              <a:t>millions</a:t>
            </a:r>
            <a:r>
              <a:rPr sz="2400" spc="-60" dirty="0">
                <a:latin typeface="Calibri"/>
                <a:cs typeface="Calibri"/>
              </a:rPr>
              <a:t> </a:t>
            </a:r>
            <a:r>
              <a:rPr sz="2400" dirty="0">
                <a:latin typeface="Calibri"/>
                <a:cs typeface="Calibri"/>
              </a:rPr>
              <a:t>de</a:t>
            </a:r>
            <a:r>
              <a:rPr sz="2400" spc="-45" dirty="0">
                <a:latin typeface="Calibri"/>
                <a:cs typeface="Calibri"/>
              </a:rPr>
              <a:t> </a:t>
            </a:r>
            <a:r>
              <a:rPr sz="2400" spc="-10" dirty="0">
                <a:latin typeface="Calibri"/>
                <a:cs typeface="Calibri"/>
              </a:rPr>
              <a:t>développeurs</a:t>
            </a:r>
            <a:r>
              <a:rPr sz="2400" spc="-35" dirty="0">
                <a:latin typeface="Calibri"/>
                <a:cs typeface="Calibri"/>
              </a:rPr>
              <a:t> </a:t>
            </a:r>
            <a:r>
              <a:rPr sz="2400" dirty="0">
                <a:latin typeface="Calibri"/>
                <a:cs typeface="Calibri"/>
              </a:rPr>
              <a:t>de</a:t>
            </a:r>
            <a:r>
              <a:rPr sz="2400" spc="-45" dirty="0">
                <a:latin typeface="Calibri"/>
                <a:cs typeface="Calibri"/>
              </a:rPr>
              <a:t> </a:t>
            </a:r>
            <a:r>
              <a:rPr sz="2400" dirty="0">
                <a:latin typeface="Calibri"/>
                <a:cs typeface="Calibri"/>
              </a:rPr>
              <a:t>travailler</a:t>
            </a:r>
            <a:r>
              <a:rPr sz="2400" spc="-50" dirty="0">
                <a:latin typeface="Calibri"/>
                <a:cs typeface="Calibri"/>
              </a:rPr>
              <a:t> </a:t>
            </a:r>
            <a:r>
              <a:rPr sz="2400" dirty="0">
                <a:latin typeface="Calibri"/>
                <a:cs typeface="Calibri"/>
              </a:rPr>
              <a:t>ensemble</a:t>
            </a:r>
            <a:r>
              <a:rPr sz="2400" spc="-40" dirty="0">
                <a:latin typeface="Calibri"/>
                <a:cs typeface="Calibri"/>
              </a:rPr>
              <a:t> </a:t>
            </a:r>
            <a:r>
              <a:rPr sz="2400" dirty="0">
                <a:latin typeface="Calibri"/>
                <a:cs typeface="Calibri"/>
              </a:rPr>
              <a:t>sur</a:t>
            </a:r>
            <a:r>
              <a:rPr sz="2400" spc="-45" dirty="0">
                <a:latin typeface="Calibri"/>
                <a:cs typeface="Calibri"/>
              </a:rPr>
              <a:t> </a:t>
            </a:r>
            <a:r>
              <a:rPr sz="2400" dirty="0">
                <a:latin typeface="Calibri"/>
                <a:cs typeface="Calibri"/>
              </a:rPr>
              <a:t>des</a:t>
            </a:r>
            <a:r>
              <a:rPr sz="2400" spc="-45" dirty="0">
                <a:latin typeface="Calibri"/>
                <a:cs typeface="Calibri"/>
              </a:rPr>
              <a:t> </a:t>
            </a:r>
            <a:r>
              <a:rPr sz="2400" dirty="0">
                <a:latin typeface="Calibri"/>
                <a:cs typeface="Calibri"/>
              </a:rPr>
              <a:t>projets,</a:t>
            </a:r>
            <a:r>
              <a:rPr sz="2400" spc="-55" dirty="0">
                <a:latin typeface="Calibri"/>
                <a:cs typeface="Calibri"/>
              </a:rPr>
              <a:t> </a:t>
            </a:r>
            <a:r>
              <a:rPr sz="2400" dirty="0">
                <a:latin typeface="Calibri"/>
                <a:cs typeface="Calibri"/>
              </a:rPr>
              <a:t>de</a:t>
            </a:r>
            <a:r>
              <a:rPr sz="2400" spc="-40" dirty="0">
                <a:latin typeface="Calibri"/>
                <a:cs typeface="Calibri"/>
              </a:rPr>
              <a:t> </a:t>
            </a:r>
            <a:r>
              <a:rPr sz="2400" spc="-10" dirty="0">
                <a:latin typeface="Calibri"/>
                <a:cs typeface="Calibri"/>
              </a:rPr>
              <a:t>suivre </a:t>
            </a:r>
            <a:r>
              <a:rPr sz="2400" dirty="0">
                <a:latin typeface="Calibri"/>
                <a:cs typeface="Calibri"/>
              </a:rPr>
              <a:t>les</a:t>
            </a:r>
            <a:r>
              <a:rPr sz="2400" spc="-30" dirty="0">
                <a:latin typeface="Calibri"/>
                <a:cs typeface="Calibri"/>
              </a:rPr>
              <a:t> </a:t>
            </a:r>
            <a:r>
              <a:rPr sz="2400" dirty="0">
                <a:latin typeface="Calibri"/>
                <a:cs typeface="Calibri"/>
              </a:rPr>
              <a:t>modifications</a:t>
            </a:r>
            <a:r>
              <a:rPr sz="2400" spc="-50" dirty="0">
                <a:latin typeface="Calibri"/>
                <a:cs typeface="Calibri"/>
              </a:rPr>
              <a:t> </a:t>
            </a:r>
            <a:r>
              <a:rPr sz="2400" dirty="0">
                <a:latin typeface="Calibri"/>
                <a:cs typeface="Calibri"/>
              </a:rPr>
              <a:t>du</a:t>
            </a:r>
            <a:r>
              <a:rPr sz="2400" spc="-30" dirty="0">
                <a:latin typeface="Calibri"/>
                <a:cs typeface="Calibri"/>
              </a:rPr>
              <a:t> </a:t>
            </a:r>
            <a:r>
              <a:rPr sz="2400" dirty="0">
                <a:latin typeface="Calibri"/>
                <a:cs typeface="Calibri"/>
              </a:rPr>
              <a:t>code,</a:t>
            </a:r>
            <a:r>
              <a:rPr sz="2400" spc="-25" dirty="0">
                <a:latin typeface="Calibri"/>
                <a:cs typeface="Calibri"/>
              </a:rPr>
              <a:t> </a:t>
            </a:r>
            <a:r>
              <a:rPr sz="2400" dirty="0">
                <a:latin typeface="Calibri"/>
                <a:cs typeface="Calibri"/>
              </a:rPr>
              <a:t>de</a:t>
            </a:r>
            <a:r>
              <a:rPr sz="2400" spc="-25" dirty="0">
                <a:latin typeface="Calibri"/>
                <a:cs typeface="Calibri"/>
              </a:rPr>
              <a:t> </a:t>
            </a:r>
            <a:r>
              <a:rPr sz="2400" dirty="0">
                <a:latin typeface="Calibri"/>
                <a:cs typeface="Calibri"/>
              </a:rPr>
              <a:t>partager</a:t>
            </a:r>
            <a:r>
              <a:rPr sz="2400" spc="-50" dirty="0">
                <a:latin typeface="Calibri"/>
                <a:cs typeface="Calibri"/>
              </a:rPr>
              <a:t> </a:t>
            </a:r>
            <a:r>
              <a:rPr sz="2400" dirty="0">
                <a:latin typeface="Calibri"/>
                <a:cs typeface="Calibri"/>
              </a:rPr>
              <a:t>leur</a:t>
            </a:r>
            <a:r>
              <a:rPr sz="2400" spc="-30" dirty="0">
                <a:latin typeface="Calibri"/>
                <a:cs typeface="Calibri"/>
              </a:rPr>
              <a:t> </a:t>
            </a:r>
            <a:r>
              <a:rPr sz="2400" dirty="0">
                <a:latin typeface="Calibri"/>
                <a:cs typeface="Calibri"/>
              </a:rPr>
              <a:t>travail</a:t>
            </a:r>
            <a:r>
              <a:rPr sz="2400" spc="-45" dirty="0">
                <a:latin typeface="Calibri"/>
                <a:cs typeface="Calibri"/>
              </a:rPr>
              <a:t> </a:t>
            </a:r>
            <a:r>
              <a:rPr sz="2400" dirty="0">
                <a:latin typeface="Calibri"/>
                <a:cs typeface="Calibri"/>
              </a:rPr>
              <a:t>et</a:t>
            </a:r>
            <a:r>
              <a:rPr sz="2400" spc="-40" dirty="0">
                <a:latin typeface="Calibri"/>
                <a:cs typeface="Calibri"/>
              </a:rPr>
              <a:t> </a:t>
            </a:r>
            <a:r>
              <a:rPr sz="2400" dirty="0">
                <a:latin typeface="Calibri"/>
                <a:cs typeface="Calibri"/>
              </a:rPr>
              <a:t>de</a:t>
            </a:r>
            <a:r>
              <a:rPr sz="2400" spc="-25" dirty="0">
                <a:latin typeface="Calibri"/>
                <a:cs typeface="Calibri"/>
              </a:rPr>
              <a:t> </a:t>
            </a:r>
            <a:r>
              <a:rPr sz="2400" dirty="0">
                <a:latin typeface="Calibri"/>
                <a:cs typeface="Calibri"/>
              </a:rPr>
              <a:t>gérer</a:t>
            </a:r>
            <a:r>
              <a:rPr sz="2400" spc="-25" dirty="0">
                <a:latin typeface="Calibri"/>
                <a:cs typeface="Calibri"/>
              </a:rPr>
              <a:t> </a:t>
            </a:r>
            <a:r>
              <a:rPr sz="2400" dirty="0">
                <a:latin typeface="Calibri"/>
                <a:cs typeface="Calibri"/>
              </a:rPr>
              <a:t>le</a:t>
            </a:r>
            <a:r>
              <a:rPr sz="2400" spc="-35" dirty="0">
                <a:latin typeface="Calibri"/>
                <a:cs typeface="Calibri"/>
              </a:rPr>
              <a:t> </a:t>
            </a:r>
            <a:r>
              <a:rPr sz="2400" dirty="0">
                <a:latin typeface="Calibri"/>
                <a:cs typeface="Calibri"/>
              </a:rPr>
              <a:t>cycle</a:t>
            </a:r>
            <a:r>
              <a:rPr sz="2400" spc="-45" dirty="0">
                <a:latin typeface="Calibri"/>
                <a:cs typeface="Calibri"/>
              </a:rPr>
              <a:t> </a:t>
            </a:r>
            <a:r>
              <a:rPr sz="2400" dirty="0">
                <a:latin typeface="Calibri"/>
                <a:cs typeface="Calibri"/>
              </a:rPr>
              <a:t>de</a:t>
            </a:r>
            <a:r>
              <a:rPr sz="2400" spc="-25" dirty="0">
                <a:latin typeface="Calibri"/>
                <a:cs typeface="Calibri"/>
              </a:rPr>
              <a:t> </a:t>
            </a:r>
            <a:r>
              <a:rPr sz="2400" spc="-10" dirty="0">
                <a:latin typeface="Calibri"/>
                <a:cs typeface="Calibri"/>
              </a:rPr>
              <a:t>développement </a:t>
            </a:r>
            <a:r>
              <a:rPr sz="2400" dirty="0">
                <a:latin typeface="Calibri"/>
                <a:cs typeface="Calibri"/>
              </a:rPr>
              <a:t>grâce</a:t>
            </a:r>
            <a:r>
              <a:rPr sz="2400" spc="-40" dirty="0">
                <a:latin typeface="Calibri"/>
                <a:cs typeface="Calibri"/>
              </a:rPr>
              <a:t> </a:t>
            </a:r>
            <a:r>
              <a:rPr sz="2400" dirty="0">
                <a:latin typeface="Calibri"/>
                <a:cs typeface="Calibri"/>
              </a:rPr>
              <a:t>à</a:t>
            </a:r>
            <a:r>
              <a:rPr sz="2400" spc="-45" dirty="0">
                <a:latin typeface="Calibri"/>
                <a:cs typeface="Calibri"/>
              </a:rPr>
              <a:t> </a:t>
            </a:r>
            <a:r>
              <a:rPr sz="2400" dirty="0">
                <a:latin typeface="Calibri"/>
                <a:cs typeface="Calibri"/>
              </a:rPr>
              <a:t>des</a:t>
            </a:r>
            <a:r>
              <a:rPr sz="2400" spc="-40" dirty="0">
                <a:latin typeface="Calibri"/>
                <a:cs typeface="Calibri"/>
              </a:rPr>
              <a:t> </a:t>
            </a:r>
            <a:r>
              <a:rPr sz="2400" dirty="0">
                <a:latin typeface="Calibri"/>
                <a:cs typeface="Calibri"/>
              </a:rPr>
              <a:t>fonctionnalités</a:t>
            </a:r>
            <a:r>
              <a:rPr sz="2400" spc="-40" dirty="0">
                <a:latin typeface="Calibri"/>
                <a:cs typeface="Calibri"/>
              </a:rPr>
              <a:t> </a:t>
            </a:r>
            <a:r>
              <a:rPr sz="2400" dirty="0">
                <a:latin typeface="Calibri"/>
                <a:cs typeface="Calibri"/>
              </a:rPr>
              <a:t>comme</a:t>
            </a:r>
            <a:r>
              <a:rPr sz="2400" spc="-50" dirty="0">
                <a:latin typeface="Calibri"/>
                <a:cs typeface="Calibri"/>
              </a:rPr>
              <a:t> </a:t>
            </a:r>
            <a:r>
              <a:rPr sz="2400" dirty="0">
                <a:latin typeface="Calibri"/>
                <a:cs typeface="Calibri"/>
              </a:rPr>
              <a:t>le</a:t>
            </a:r>
            <a:r>
              <a:rPr sz="2400" spc="-30" dirty="0">
                <a:latin typeface="Calibri"/>
                <a:cs typeface="Calibri"/>
              </a:rPr>
              <a:t> </a:t>
            </a:r>
            <a:r>
              <a:rPr sz="2400" dirty="0">
                <a:latin typeface="Calibri"/>
                <a:cs typeface="Calibri"/>
              </a:rPr>
              <a:t>suivi</a:t>
            </a:r>
            <a:r>
              <a:rPr sz="2400" spc="-45" dirty="0">
                <a:latin typeface="Calibri"/>
                <a:cs typeface="Calibri"/>
              </a:rPr>
              <a:t> </a:t>
            </a:r>
            <a:r>
              <a:rPr sz="2400" dirty="0">
                <a:latin typeface="Calibri"/>
                <a:cs typeface="Calibri"/>
              </a:rPr>
              <a:t>des</a:t>
            </a:r>
            <a:r>
              <a:rPr sz="2400" spc="-35" dirty="0">
                <a:latin typeface="Calibri"/>
                <a:cs typeface="Calibri"/>
              </a:rPr>
              <a:t> </a:t>
            </a:r>
            <a:r>
              <a:rPr sz="2400" dirty="0">
                <a:latin typeface="Calibri"/>
                <a:cs typeface="Calibri"/>
              </a:rPr>
              <a:t>bugs,</a:t>
            </a:r>
            <a:r>
              <a:rPr sz="2400" spc="-35" dirty="0">
                <a:latin typeface="Calibri"/>
                <a:cs typeface="Calibri"/>
              </a:rPr>
              <a:t> </a:t>
            </a:r>
            <a:r>
              <a:rPr sz="2400" dirty="0">
                <a:latin typeface="Calibri"/>
                <a:cs typeface="Calibri"/>
              </a:rPr>
              <a:t>les</a:t>
            </a:r>
            <a:r>
              <a:rPr sz="2400" spc="-40" dirty="0">
                <a:latin typeface="Calibri"/>
                <a:cs typeface="Calibri"/>
              </a:rPr>
              <a:t> </a:t>
            </a:r>
            <a:r>
              <a:rPr sz="2400" dirty="0">
                <a:latin typeface="Calibri"/>
                <a:cs typeface="Calibri"/>
              </a:rPr>
              <a:t>demandes</a:t>
            </a:r>
            <a:r>
              <a:rPr sz="2400" spc="-35" dirty="0">
                <a:latin typeface="Calibri"/>
                <a:cs typeface="Calibri"/>
              </a:rPr>
              <a:t> </a:t>
            </a:r>
            <a:r>
              <a:rPr sz="2400" dirty="0">
                <a:latin typeface="Calibri"/>
                <a:cs typeface="Calibri"/>
              </a:rPr>
              <a:t>de</a:t>
            </a:r>
            <a:r>
              <a:rPr sz="2400" spc="-35" dirty="0">
                <a:latin typeface="Calibri"/>
                <a:cs typeface="Calibri"/>
              </a:rPr>
              <a:t> </a:t>
            </a:r>
            <a:r>
              <a:rPr sz="2400" dirty="0" smtClean="0">
                <a:latin typeface="Calibri"/>
                <a:cs typeface="Calibri"/>
              </a:rPr>
              <a:t>modification</a:t>
            </a:r>
            <a:r>
              <a:rPr sz="2400" spc="-10" dirty="0" smtClean="0">
                <a:latin typeface="Calibri"/>
                <a:cs typeface="Calibri"/>
              </a:rPr>
              <a:t>.</a:t>
            </a:r>
            <a:endParaRPr sz="2400" dirty="0">
              <a:latin typeface="Calibri"/>
              <a:cs typeface="Calibri"/>
            </a:endParaRPr>
          </a:p>
          <a:p>
            <a:pPr marL="354965" indent="-342265">
              <a:lnSpc>
                <a:spcPct val="100000"/>
              </a:lnSpc>
              <a:spcBef>
                <a:spcPts val="2880"/>
              </a:spcBef>
              <a:buFont typeface="Arial MT"/>
              <a:buChar char="•"/>
              <a:tabLst>
                <a:tab pos="354965" algn="l"/>
              </a:tabLst>
            </a:pPr>
            <a:r>
              <a:rPr lang="fr-FR" sz="2400" dirty="0" smtClean="0">
                <a:latin typeface="Calibri"/>
                <a:cs typeface="Calibri"/>
              </a:rPr>
              <a:t>Autres exemples de </a:t>
            </a:r>
            <a:r>
              <a:rPr sz="2400" dirty="0" err="1" smtClean="0">
                <a:latin typeface="Calibri"/>
                <a:cs typeface="Calibri"/>
              </a:rPr>
              <a:t>dépots</a:t>
            </a:r>
            <a:r>
              <a:rPr sz="2400" spc="-45" dirty="0" smtClean="0">
                <a:latin typeface="Calibri"/>
                <a:cs typeface="Calibri"/>
              </a:rPr>
              <a:t> </a:t>
            </a:r>
            <a:r>
              <a:rPr sz="2400" dirty="0">
                <a:latin typeface="Calibri"/>
                <a:cs typeface="Calibri"/>
              </a:rPr>
              <a:t>distants</a:t>
            </a:r>
            <a:r>
              <a:rPr sz="2400" spc="-40" dirty="0">
                <a:latin typeface="Calibri"/>
                <a:cs typeface="Calibri"/>
              </a:rPr>
              <a:t> </a:t>
            </a:r>
            <a:r>
              <a:rPr sz="2400" dirty="0">
                <a:latin typeface="Calibri"/>
                <a:cs typeface="Calibri"/>
              </a:rPr>
              <a:t>:</a:t>
            </a:r>
            <a:r>
              <a:rPr sz="2400" spc="-45" dirty="0">
                <a:latin typeface="Calibri"/>
                <a:cs typeface="Calibri"/>
              </a:rPr>
              <a:t> </a:t>
            </a:r>
            <a:r>
              <a:rPr sz="2400" b="1" spc="-10" dirty="0">
                <a:latin typeface="Calibri"/>
                <a:cs typeface="Calibri"/>
              </a:rPr>
              <a:t>BITBUCKET</a:t>
            </a:r>
            <a:r>
              <a:rPr sz="2400" b="1" spc="-35" dirty="0">
                <a:latin typeface="Calibri"/>
                <a:cs typeface="Calibri"/>
              </a:rPr>
              <a:t> </a:t>
            </a:r>
            <a:r>
              <a:rPr sz="2400" b="1" dirty="0">
                <a:latin typeface="Calibri"/>
                <a:cs typeface="Calibri"/>
              </a:rPr>
              <a:t>ET</a:t>
            </a:r>
            <a:r>
              <a:rPr sz="2400" b="1" spc="-40" dirty="0">
                <a:latin typeface="Calibri"/>
                <a:cs typeface="Calibri"/>
              </a:rPr>
              <a:t> </a:t>
            </a:r>
            <a:r>
              <a:rPr sz="2400" b="1" spc="-10" dirty="0">
                <a:latin typeface="Calibri"/>
                <a:cs typeface="Calibri"/>
              </a:rPr>
              <a:t>GITLAB</a:t>
            </a:r>
            <a:endParaRPr sz="2400" dirty="0">
              <a:latin typeface="Calibri"/>
              <a:cs typeface="Calibri"/>
            </a:endParaRPr>
          </a:p>
        </p:txBody>
      </p:sp>
      <p:pic>
        <p:nvPicPr>
          <p:cNvPr id="5" name="object 5"/>
          <p:cNvPicPr/>
          <p:nvPr/>
        </p:nvPicPr>
        <p:blipFill>
          <a:blip r:embed="rId2" cstate="print"/>
          <a:stretch>
            <a:fillRect/>
          </a:stretch>
        </p:blipFill>
        <p:spPr>
          <a:xfrm>
            <a:off x="6096000" y="61798"/>
            <a:ext cx="1066800" cy="937056"/>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dirty="0"/>
              <a:t>Les</a:t>
            </a:r>
            <a:r>
              <a:rPr spc="-25" dirty="0"/>
              <a:t> </a:t>
            </a:r>
            <a:r>
              <a:rPr dirty="0"/>
              <a:t>composants</a:t>
            </a:r>
            <a:r>
              <a:rPr spc="-25" dirty="0"/>
              <a:t> </a:t>
            </a:r>
            <a:r>
              <a:rPr dirty="0"/>
              <a:t>de</a:t>
            </a:r>
            <a:r>
              <a:rPr spc="-25" dirty="0"/>
              <a:t> GIT</a:t>
            </a:r>
          </a:p>
        </p:txBody>
      </p:sp>
      <p:pic>
        <p:nvPicPr>
          <p:cNvPr id="3" name="object 3"/>
          <p:cNvPicPr/>
          <p:nvPr/>
        </p:nvPicPr>
        <p:blipFill>
          <a:blip r:embed="rId2" cstate="print"/>
          <a:stretch>
            <a:fillRect/>
          </a:stretch>
        </p:blipFill>
        <p:spPr>
          <a:xfrm>
            <a:off x="457200" y="1219200"/>
            <a:ext cx="11523853" cy="4122039"/>
          </a:xfrm>
          <a:prstGeom prst="rect">
            <a:avLst/>
          </a:prstGeom>
        </p:spPr>
      </p:pic>
      <p:sp>
        <p:nvSpPr>
          <p:cNvPr id="4" name="object 4"/>
          <p:cNvSpPr txBox="1"/>
          <p:nvPr/>
        </p:nvSpPr>
        <p:spPr>
          <a:xfrm>
            <a:off x="1549653" y="2209800"/>
            <a:ext cx="4724400" cy="1371600"/>
          </a:xfrm>
          <a:prstGeom prst="rect">
            <a:avLst/>
          </a:prstGeom>
          <a:solidFill>
            <a:srgbClr val="FFFFFF"/>
          </a:solidFill>
          <a:ln w="25400">
            <a:solidFill>
              <a:srgbClr val="1C334E"/>
            </a:solidFill>
          </a:ln>
        </p:spPr>
        <p:txBody>
          <a:bodyPr vert="horz" wrap="square" lIns="0" tIns="122555" rIns="0" bIns="0" rtlCol="0">
            <a:spAutoFit/>
          </a:bodyPr>
          <a:lstStyle/>
          <a:p>
            <a:pPr marL="91440" marR="82550" algn="just">
              <a:lnSpc>
                <a:spcPct val="100000"/>
              </a:lnSpc>
              <a:spcBef>
                <a:spcPts val="965"/>
              </a:spcBef>
            </a:pPr>
            <a:r>
              <a:rPr sz="1800" dirty="0">
                <a:solidFill>
                  <a:srgbClr val="7E7E7E"/>
                </a:solidFill>
                <a:latin typeface="Calibri"/>
                <a:cs typeface="Calibri"/>
              </a:rPr>
              <a:t>Les</a:t>
            </a:r>
            <a:r>
              <a:rPr sz="1800" spc="60" dirty="0">
                <a:solidFill>
                  <a:srgbClr val="7E7E7E"/>
                </a:solidFill>
                <a:latin typeface="Calibri"/>
                <a:cs typeface="Calibri"/>
              </a:rPr>
              <a:t>  </a:t>
            </a:r>
            <a:r>
              <a:rPr sz="1800" dirty="0">
                <a:solidFill>
                  <a:srgbClr val="7E7E7E"/>
                </a:solidFill>
                <a:latin typeface="Calibri"/>
                <a:cs typeface="Calibri"/>
              </a:rPr>
              <a:t>modifications</a:t>
            </a:r>
            <a:r>
              <a:rPr sz="1800" spc="65" dirty="0">
                <a:solidFill>
                  <a:srgbClr val="7E7E7E"/>
                </a:solidFill>
                <a:latin typeface="Calibri"/>
                <a:cs typeface="Calibri"/>
              </a:rPr>
              <a:t>  </a:t>
            </a:r>
            <a:r>
              <a:rPr sz="1800" dirty="0">
                <a:solidFill>
                  <a:srgbClr val="7E7E7E"/>
                </a:solidFill>
                <a:latin typeface="Calibri"/>
                <a:cs typeface="Calibri"/>
              </a:rPr>
              <a:t>apportées</a:t>
            </a:r>
            <a:r>
              <a:rPr sz="1800" spc="50" dirty="0">
                <a:solidFill>
                  <a:srgbClr val="7E7E7E"/>
                </a:solidFill>
                <a:latin typeface="Calibri"/>
                <a:cs typeface="Calibri"/>
              </a:rPr>
              <a:t>  </a:t>
            </a:r>
            <a:r>
              <a:rPr sz="1800" dirty="0">
                <a:solidFill>
                  <a:srgbClr val="7E7E7E"/>
                </a:solidFill>
                <a:latin typeface="Calibri"/>
                <a:cs typeface="Calibri"/>
              </a:rPr>
              <a:t>sur</a:t>
            </a:r>
            <a:r>
              <a:rPr sz="1800" spc="60" dirty="0">
                <a:solidFill>
                  <a:srgbClr val="7E7E7E"/>
                </a:solidFill>
                <a:latin typeface="Calibri"/>
                <a:cs typeface="Calibri"/>
              </a:rPr>
              <a:t>  </a:t>
            </a:r>
            <a:r>
              <a:rPr sz="1800" dirty="0">
                <a:solidFill>
                  <a:srgbClr val="7E7E7E"/>
                </a:solidFill>
                <a:latin typeface="Calibri"/>
                <a:cs typeface="Calibri"/>
              </a:rPr>
              <a:t>une</a:t>
            </a:r>
            <a:r>
              <a:rPr sz="1800" spc="60" dirty="0">
                <a:solidFill>
                  <a:srgbClr val="7E7E7E"/>
                </a:solidFill>
                <a:latin typeface="Calibri"/>
                <a:cs typeface="Calibri"/>
              </a:rPr>
              <a:t>  </a:t>
            </a:r>
            <a:r>
              <a:rPr sz="1800" spc="-10" dirty="0">
                <a:solidFill>
                  <a:srgbClr val="7E7E7E"/>
                </a:solidFill>
                <a:latin typeface="Calibri"/>
                <a:cs typeface="Calibri"/>
              </a:rPr>
              <a:t>branche </a:t>
            </a:r>
            <a:r>
              <a:rPr sz="1800" dirty="0">
                <a:solidFill>
                  <a:srgbClr val="7E7E7E"/>
                </a:solidFill>
                <a:latin typeface="Calibri"/>
                <a:cs typeface="Calibri"/>
              </a:rPr>
              <a:t>sont</a:t>
            </a:r>
            <a:r>
              <a:rPr sz="1800" spc="90" dirty="0">
                <a:solidFill>
                  <a:srgbClr val="7E7E7E"/>
                </a:solidFill>
                <a:latin typeface="Calibri"/>
                <a:cs typeface="Calibri"/>
              </a:rPr>
              <a:t>  </a:t>
            </a:r>
            <a:r>
              <a:rPr sz="1800" dirty="0">
                <a:solidFill>
                  <a:srgbClr val="7E7E7E"/>
                </a:solidFill>
                <a:latin typeface="Calibri"/>
                <a:cs typeface="Calibri"/>
              </a:rPr>
              <a:t>isolées,</a:t>
            </a:r>
            <a:r>
              <a:rPr sz="1800" spc="95" dirty="0">
                <a:solidFill>
                  <a:srgbClr val="7E7E7E"/>
                </a:solidFill>
                <a:latin typeface="Calibri"/>
                <a:cs typeface="Calibri"/>
              </a:rPr>
              <a:t>  </a:t>
            </a:r>
            <a:r>
              <a:rPr sz="1800" dirty="0">
                <a:solidFill>
                  <a:srgbClr val="7E7E7E"/>
                </a:solidFill>
                <a:latin typeface="Calibri"/>
                <a:cs typeface="Calibri"/>
              </a:rPr>
              <a:t>évitant</a:t>
            </a:r>
            <a:r>
              <a:rPr sz="1800" spc="90" dirty="0">
                <a:solidFill>
                  <a:srgbClr val="7E7E7E"/>
                </a:solidFill>
                <a:latin typeface="Calibri"/>
                <a:cs typeface="Calibri"/>
              </a:rPr>
              <a:t>  </a:t>
            </a:r>
            <a:r>
              <a:rPr sz="1800" dirty="0">
                <a:solidFill>
                  <a:srgbClr val="7E7E7E"/>
                </a:solidFill>
                <a:latin typeface="Calibri"/>
                <a:cs typeface="Calibri"/>
              </a:rPr>
              <a:t>de</a:t>
            </a:r>
            <a:r>
              <a:rPr sz="1800" spc="95" dirty="0">
                <a:solidFill>
                  <a:srgbClr val="7E7E7E"/>
                </a:solidFill>
                <a:latin typeface="Calibri"/>
                <a:cs typeface="Calibri"/>
              </a:rPr>
              <a:t>  </a:t>
            </a:r>
            <a:r>
              <a:rPr sz="1800" dirty="0">
                <a:solidFill>
                  <a:srgbClr val="7E7E7E"/>
                </a:solidFill>
                <a:latin typeface="Calibri"/>
                <a:cs typeface="Calibri"/>
              </a:rPr>
              <a:t>"polluer"</a:t>
            </a:r>
            <a:r>
              <a:rPr sz="1800" spc="90" dirty="0">
                <a:solidFill>
                  <a:srgbClr val="7E7E7E"/>
                </a:solidFill>
                <a:latin typeface="Calibri"/>
                <a:cs typeface="Calibri"/>
              </a:rPr>
              <a:t>  </a:t>
            </a:r>
            <a:r>
              <a:rPr sz="1800" dirty="0">
                <a:solidFill>
                  <a:srgbClr val="7E7E7E"/>
                </a:solidFill>
                <a:latin typeface="Calibri"/>
                <a:cs typeface="Calibri"/>
              </a:rPr>
              <a:t>la</a:t>
            </a:r>
            <a:r>
              <a:rPr sz="1800" spc="100" dirty="0">
                <a:solidFill>
                  <a:srgbClr val="7E7E7E"/>
                </a:solidFill>
                <a:latin typeface="Calibri"/>
                <a:cs typeface="Calibri"/>
              </a:rPr>
              <a:t>  </a:t>
            </a:r>
            <a:r>
              <a:rPr sz="1800" spc="-10" dirty="0">
                <a:solidFill>
                  <a:srgbClr val="7E7E7E"/>
                </a:solidFill>
                <a:latin typeface="Calibri"/>
                <a:cs typeface="Calibri"/>
              </a:rPr>
              <a:t>branche </a:t>
            </a:r>
            <a:r>
              <a:rPr sz="1800" dirty="0">
                <a:solidFill>
                  <a:srgbClr val="7E7E7E"/>
                </a:solidFill>
                <a:latin typeface="Calibri"/>
                <a:cs typeface="Calibri"/>
              </a:rPr>
              <a:t>principale</a:t>
            </a:r>
            <a:r>
              <a:rPr sz="1800" spc="70" dirty="0">
                <a:solidFill>
                  <a:srgbClr val="7E7E7E"/>
                </a:solidFill>
                <a:latin typeface="Calibri"/>
                <a:cs typeface="Calibri"/>
              </a:rPr>
              <a:t>  </a:t>
            </a:r>
            <a:r>
              <a:rPr sz="1800" dirty="0">
                <a:solidFill>
                  <a:srgbClr val="7E7E7E"/>
                </a:solidFill>
                <a:latin typeface="Calibri"/>
                <a:cs typeface="Calibri"/>
              </a:rPr>
              <a:t>(comme</a:t>
            </a:r>
            <a:r>
              <a:rPr sz="1800" spc="75" dirty="0">
                <a:solidFill>
                  <a:srgbClr val="7E7E7E"/>
                </a:solidFill>
                <a:latin typeface="Calibri"/>
                <a:cs typeface="Calibri"/>
              </a:rPr>
              <a:t>  </a:t>
            </a:r>
            <a:r>
              <a:rPr sz="1800" dirty="0">
                <a:solidFill>
                  <a:srgbClr val="7E7E7E"/>
                </a:solidFill>
                <a:latin typeface="Calibri"/>
                <a:cs typeface="Calibri"/>
              </a:rPr>
              <a:t>main</a:t>
            </a:r>
            <a:r>
              <a:rPr sz="1800" spc="70" dirty="0">
                <a:solidFill>
                  <a:srgbClr val="7E7E7E"/>
                </a:solidFill>
                <a:latin typeface="Calibri"/>
                <a:cs typeface="Calibri"/>
              </a:rPr>
              <a:t>  </a:t>
            </a:r>
            <a:r>
              <a:rPr sz="1800" dirty="0">
                <a:solidFill>
                  <a:srgbClr val="7E7E7E"/>
                </a:solidFill>
                <a:latin typeface="Calibri"/>
                <a:cs typeface="Calibri"/>
              </a:rPr>
              <a:t>ou</a:t>
            </a:r>
            <a:r>
              <a:rPr sz="1800" spc="80" dirty="0">
                <a:solidFill>
                  <a:srgbClr val="7E7E7E"/>
                </a:solidFill>
                <a:latin typeface="Calibri"/>
                <a:cs typeface="Calibri"/>
              </a:rPr>
              <a:t>  </a:t>
            </a:r>
            <a:r>
              <a:rPr sz="1800" dirty="0">
                <a:solidFill>
                  <a:srgbClr val="7E7E7E"/>
                </a:solidFill>
                <a:latin typeface="Calibri"/>
                <a:cs typeface="Calibri"/>
              </a:rPr>
              <a:t>master)</a:t>
            </a:r>
            <a:r>
              <a:rPr sz="1800" spc="70" dirty="0">
                <a:solidFill>
                  <a:srgbClr val="7E7E7E"/>
                </a:solidFill>
                <a:latin typeface="Calibri"/>
                <a:cs typeface="Calibri"/>
              </a:rPr>
              <a:t>  </a:t>
            </a:r>
            <a:r>
              <a:rPr sz="1800" dirty="0">
                <a:solidFill>
                  <a:srgbClr val="7E7E7E"/>
                </a:solidFill>
                <a:latin typeface="Calibri"/>
                <a:cs typeface="Calibri"/>
              </a:rPr>
              <a:t>avec</a:t>
            </a:r>
            <a:r>
              <a:rPr sz="1800" spc="70" dirty="0">
                <a:solidFill>
                  <a:srgbClr val="7E7E7E"/>
                </a:solidFill>
                <a:latin typeface="Calibri"/>
                <a:cs typeface="Calibri"/>
              </a:rPr>
              <a:t>  </a:t>
            </a:r>
            <a:r>
              <a:rPr sz="1800" spc="-25" dirty="0">
                <a:solidFill>
                  <a:srgbClr val="7E7E7E"/>
                </a:solidFill>
                <a:latin typeface="Calibri"/>
                <a:cs typeface="Calibri"/>
              </a:rPr>
              <a:t>du </a:t>
            </a:r>
            <a:r>
              <a:rPr sz="1800" dirty="0">
                <a:solidFill>
                  <a:srgbClr val="7E7E7E"/>
                </a:solidFill>
                <a:latin typeface="Calibri"/>
                <a:cs typeface="Calibri"/>
              </a:rPr>
              <a:t>code</a:t>
            </a:r>
            <a:r>
              <a:rPr sz="1800" spc="-20" dirty="0">
                <a:solidFill>
                  <a:srgbClr val="7E7E7E"/>
                </a:solidFill>
                <a:latin typeface="Calibri"/>
                <a:cs typeface="Calibri"/>
              </a:rPr>
              <a:t> </a:t>
            </a:r>
            <a:r>
              <a:rPr sz="1800" dirty="0">
                <a:solidFill>
                  <a:srgbClr val="7E7E7E"/>
                </a:solidFill>
                <a:latin typeface="Calibri"/>
                <a:cs typeface="Calibri"/>
              </a:rPr>
              <a:t>en</a:t>
            </a:r>
            <a:r>
              <a:rPr sz="1800" spc="-15" dirty="0">
                <a:solidFill>
                  <a:srgbClr val="7E7E7E"/>
                </a:solidFill>
                <a:latin typeface="Calibri"/>
                <a:cs typeface="Calibri"/>
              </a:rPr>
              <a:t> </a:t>
            </a:r>
            <a:r>
              <a:rPr sz="1800" dirty="0">
                <a:solidFill>
                  <a:srgbClr val="7E7E7E"/>
                </a:solidFill>
                <a:latin typeface="Calibri"/>
                <a:cs typeface="Calibri"/>
              </a:rPr>
              <a:t>cours</a:t>
            </a:r>
            <a:r>
              <a:rPr sz="1800" spc="-30" dirty="0">
                <a:solidFill>
                  <a:srgbClr val="7E7E7E"/>
                </a:solidFill>
                <a:latin typeface="Calibri"/>
                <a:cs typeface="Calibri"/>
              </a:rPr>
              <a:t> </a:t>
            </a:r>
            <a:r>
              <a:rPr sz="1800" dirty="0">
                <a:solidFill>
                  <a:srgbClr val="7E7E7E"/>
                </a:solidFill>
                <a:latin typeface="Calibri"/>
                <a:cs typeface="Calibri"/>
              </a:rPr>
              <a:t>ou</a:t>
            </a:r>
            <a:r>
              <a:rPr sz="1800" spc="-15" dirty="0">
                <a:solidFill>
                  <a:srgbClr val="7E7E7E"/>
                </a:solidFill>
                <a:latin typeface="Calibri"/>
                <a:cs typeface="Calibri"/>
              </a:rPr>
              <a:t> </a:t>
            </a:r>
            <a:r>
              <a:rPr sz="1800" spc="-10" dirty="0">
                <a:solidFill>
                  <a:srgbClr val="7E7E7E"/>
                </a:solidFill>
                <a:latin typeface="Calibri"/>
                <a:cs typeface="Calibri"/>
              </a:rPr>
              <a:t>instable.</a:t>
            </a:r>
            <a:endParaRPr sz="1800">
              <a:latin typeface="Calibri"/>
              <a:cs typeface="Calibri"/>
            </a:endParaRPr>
          </a:p>
        </p:txBody>
      </p:sp>
      <p:sp>
        <p:nvSpPr>
          <p:cNvPr id="5" name="object 5"/>
          <p:cNvSpPr/>
          <p:nvPr/>
        </p:nvSpPr>
        <p:spPr>
          <a:xfrm>
            <a:off x="8331454" y="2209800"/>
            <a:ext cx="3733800" cy="1371600"/>
          </a:xfrm>
          <a:custGeom>
            <a:avLst/>
            <a:gdLst/>
            <a:ahLst/>
            <a:cxnLst/>
            <a:rect l="l" t="t" r="r" b="b"/>
            <a:pathLst>
              <a:path w="3733800" h="1371600">
                <a:moveTo>
                  <a:pt x="3733800" y="0"/>
                </a:moveTo>
                <a:lnTo>
                  <a:pt x="0" y="0"/>
                </a:lnTo>
                <a:lnTo>
                  <a:pt x="0" y="1371600"/>
                </a:lnTo>
                <a:lnTo>
                  <a:pt x="3733800" y="1371600"/>
                </a:lnTo>
                <a:lnTo>
                  <a:pt x="3733800" y="0"/>
                </a:lnTo>
                <a:close/>
              </a:path>
            </a:pathLst>
          </a:custGeom>
          <a:solidFill>
            <a:srgbClr val="FFFFFF"/>
          </a:solidFill>
        </p:spPr>
        <p:txBody>
          <a:bodyPr wrap="square" lIns="0" tIns="0" rIns="0" bIns="0" rtlCol="0"/>
          <a:lstStyle/>
          <a:p>
            <a:endParaRPr/>
          </a:p>
        </p:txBody>
      </p:sp>
      <p:sp>
        <p:nvSpPr>
          <p:cNvPr id="6" name="object 6"/>
          <p:cNvSpPr txBox="1"/>
          <p:nvPr/>
        </p:nvSpPr>
        <p:spPr>
          <a:xfrm>
            <a:off x="8331454" y="2209800"/>
            <a:ext cx="3733800" cy="1371600"/>
          </a:xfrm>
          <a:prstGeom prst="rect">
            <a:avLst/>
          </a:prstGeom>
          <a:ln w="25400">
            <a:solidFill>
              <a:srgbClr val="1C334E"/>
            </a:solidFill>
          </a:ln>
        </p:spPr>
        <p:txBody>
          <a:bodyPr vert="horz" wrap="square" lIns="0" tIns="122555" rIns="0" bIns="0" rtlCol="0">
            <a:spAutoFit/>
          </a:bodyPr>
          <a:lstStyle/>
          <a:p>
            <a:pPr marL="92075" marR="83185" algn="just">
              <a:lnSpc>
                <a:spcPct val="100000"/>
              </a:lnSpc>
              <a:spcBef>
                <a:spcPts val="965"/>
              </a:spcBef>
            </a:pPr>
            <a:r>
              <a:rPr sz="1800" dirty="0">
                <a:solidFill>
                  <a:srgbClr val="7E7E7E"/>
                </a:solidFill>
                <a:latin typeface="Calibri"/>
                <a:cs typeface="Calibri"/>
              </a:rPr>
              <a:t>Une</a:t>
            </a:r>
            <a:r>
              <a:rPr sz="1800" spc="40" dirty="0">
                <a:solidFill>
                  <a:srgbClr val="7E7E7E"/>
                </a:solidFill>
                <a:latin typeface="Calibri"/>
                <a:cs typeface="Calibri"/>
              </a:rPr>
              <a:t>  </a:t>
            </a:r>
            <a:r>
              <a:rPr sz="1800" dirty="0">
                <a:solidFill>
                  <a:srgbClr val="7E7E7E"/>
                </a:solidFill>
                <a:latin typeface="Calibri"/>
                <a:cs typeface="Calibri"/>
              </a:rPr>
              <a:t>étiquette</a:t>
            </a:r>
            <a:r>
              <a:rPr sz="1800" spc="55" dirty="0">
                <a:solidFill>
                  <a:srgbClr val="7E7E7E"/>
                </a:solidFill>
                <a:latin typeface="Calibri"/>
                <a:cs typeface="Calibri"/>
              </a:rPr>
              <a:t>  </a:t>
            </a:r>
            <a:r>
              <a:rPr sz="1800" dirty="0">
                <a:solidFill>
                  <a:srgbClr val="7E7E7E"/>
                </a:solidFill>
                <a:latin typeface="Calibri"/>
                <a:cs typeface="Calibri"/>
              </a:rPr>
              <a:t>(un</a:t>
            </a:r>
            <a:r>
              <a:rPr sz="1800" spc="45" dirty="0">
                <a:solidFill>
                  <a:srgbClr val="7E7E7E"/>
                </a:solidFill>
                <a:latin typeface="Calibri"/>
                <a:cs typeface="Calibri"/>
              </a:rPr>
              <a:t>  </a:t>
            </a:r>
            <a:r>
              <a:rPr sz="1800" dirty="0">
                <a:solidFill>
                  <a:srgbClr val="7E7E7E"/>
                </a:solidFill>
                <a:latin typeface="Calibri"/>
                <a:cs typeface="Calibri"/>
              </a:rPr>
              <a:t>nom)</a:t>
            </a:r>
            <a:r>
              <a:rPr sz="1800" spc="45" dirty="0">
                <a:solidFill>
                  <a:srgbClr val="7E7E7E"/>
                </a:solidFill>
                <a:latin typeface="Calibri"/>
                <a:cs typeface="Calibri"/>
              </a:rPr>
              <a:t>  </a:t>
            </a:r>
            <a:r>
              <a:rPr sz="1800" dirty="0">
                <a:solidFill>
                  <a:srgbClr val="7E7E7E"/>
                </a:solidFill>
                <a:latin typeface="Calibri"/>
                <a:cs typeface="Calibri"/>
              </a:rPr>
              <a:t>qui</a:t>
            </a:r>
            <a:r>
              <a:rPr sz="1800" spc="40" dirty="0">
                <a:solidFill>
                  <a:srgbClr val="7E7E7E"/>
                </a:solidFill>
                <a:latin typeface="Calibri"/>
                <a:cs typeface="Calibri"/>
              </a:rPr>
              <a:t>  </a:t>
            </a:r>
            <a:r>
              <a:rPr sz="1800" spc="-10" dirty="0">
                <a:solidFill>
                  <a:srgbClr val="7E7E7E"/>
                </a:solidFill>
                <a:latin typeface="Calibri"/>
                <a:cs typeface="Calibri"/>
              </a:rPr>
              <a:t>pointe </a:t>
            </a:r>
            <a:r>
              <a:rPr sz="1800" dirty="0">
                <a:solidFill>
                  <a:srgbClr val="7E7E7E"/>
                </a:solidFill>
                <a:latin typeface="Calibri"/>
                <a:cs typeface="Calibri"/>
              </a:rPr>
              <a:t>vers</a:t>
            </a:r>
            <a:r>
              <a:rPr sz="1800" spc="325" dirty="0">
                <a:solidFill>
                  <a:srgbClr val="7E7E7E"/>
                </a:solidFill>
                <a:latin typeface="Calibri"/>
                <a:cs typeface="Calibri"/>
              </a:rPr>
              <a:t> </a:t>
            </a:r>
            <a:r>
              <a:rPr sz="1800" dirty="0">
                <a:solidFill>
                  <a:srgbClr val="7E7E7E"/>
                </a:solidFill>
                <a:latin typeface="Calibri"/>
                <a:cs typeface="Calibri"/>
              </a:rPr>
              <a:t>un</a:t>
            </a:r>
            <a:r>
              <a:rPr sz="1800" spc="330" dirty="0">
                <a:solidFill>
                  <a:srgbClr val="7E7E7E"/>
                </a:solidFill>
                <a:latin typeface="Calibri"/>
                <a:cs typeface="Calibri"/>
              </a:rPr>
              <a:t> </a:t>
            </a:r>
            <a:r>
              <a:rPr sz="1800" dirty="0">
                <a:solidFill>
                  <a:srgbClr val="7E7E7E"/>
                </a:solidFill>
                <a:latin typeface="Calibri"/>
                <a:cs typeface="Calibri"/>
              </a:rPr>
              <a:t>point</a:t>
            </a:r>
            <a:r>
              <a:rPr sz="1800" spc="320" dirty="0">
                <a:solidFill>
                  <a:srgbClr val="7E7E7E"/>
                </a:solidFill>
                <a:latin typeface="Calibri"/>
                <a:cs typeface="Calibri"/>
              </a:rPr>
              <a:t> </a:t>
            </a:r>
            <a:r>
              <a:rPr sz="1800" dirty="0">
                <a:solidFill>
                  <a:srgbClr val="7E7E7E"/>
                </a:solidFill>
                <a:latin typeface="Calibri"/>
                <a:cs typeface="Calibri"/>
              </a:rPr>
              <a:t>fixe</a:t>
            </a:r>
            <a:r>
              <a:rPr sz="1800" spc="335" dirty="0">
                <a:solidFill>
                  <a:srgbClr val="7E7E7E"/>
                </a:solidFill>
                <a:latin typeface="Calibri"/>
                <a:cs typeface="Calibri"/>
              </a:rPr>
              <a:t> </a:t>
            </a:r>
            <a:r>
              <a:rPr sz="1800" dirty="0">
                <a:solidFill>
                  <a:srgbClr val="7E7E7E"/>
                </a:solidFill>
                <a:latin typeface="Calibri"/>
                <a:cs typeface="Calibri"/>
              </a:rPr>
              <a:t>de</a:t>
            </a:r>
            <a:r>
              <a:rPr sz="1800" spc="335" dirty="0">
                <a:solidFill>
                  <a:srgbClr val="7E7E7E"/>
                </a:solidFill>
                <a:latin typeface="Calibri"/>
                <a:cs typeface="Calibri"/>
              </a:rPr>
              <a:t> </a:t>
            </a:r>
            <a:r>
              <a:rPr sz="1800" dirty="0">
                <a:solidFill>
                  <a:srgbClr val="7E7E7E"/>
                </a:solidFill>
                <a:latin typeface="Calibri"/>
                <a:cs typeface="Calibri"/>
              </a:rPr>
              <a:t>l'historique</a:t>
            </a:r>
            <a:r>
              <a:rPr sz="1800" spc="335" dirty="0">
                <a:solidFill>
                  <a:srgbClr val="7E7E7E"/>
                </a:solidFill>
                <a:latin typeface="Calibri"/>
                <a:cs typeface="Calibri"/>
              </a:rPr>
              <a:t> </a:t>
            </a:r>
            <a:r>
              <a:rPr sz="1800" spc="-25" dirty="0">
                <a:solidFill>
                  <a:srgbClr val="7E7E7E"/>
                </a:solidFill>
                <a:latin typeface="Calibri"/>
                <a:cs typeface="Calibri"/>
              </a:rPr>
              <a:t>de </a:t>
            </a:r>
            <a:r>
              <a:rPr sz="1800" dirty="0">
                <a:solidFill>
                  <a:srgbClr val="7E7E7E"/>
                </a:solidFill>
                <a:latin typeface="Calibri"/>
                <a:cs typeface="Calibri"/>
              </a:rPr>
              <a:t>votre</a:t>
            </a:r>
            <a:r>
              <a:rPr sz="1800" spc="175" dirty="0">
                <a:solidFill>
                  <a:srgbClr val="7E7E7E"/>
                </a:solidFill>
                <a:latin typeface="Calibri"/>
                <a:cs typeface="Calibri"/>
              </a:rPr>
              <a:t>  </a:t>
            </a:r>
            <a:r>
              <a:rPr sz="1800" dirty="0">
                <a:solidFill>
                  <a:srgbClr val="7E7E7E"/>
                </a:solidFill>
                <a:latin typeface="Calibri"/>
                <a:cs typeface="Calibri"/>
              </a:rPr>
              <a:t>projet</a:t>
            </a:r>
            <a:r>
              <a:rPr sz="1800" spc="175" dirty="0">
                <a:solidFill>
                  <a:srgbClr val="7E7E7E"/>
                </a:solidFill>
                <a:latin typeface="Calibri"/>
                <a:cs typeface="Calibri"/>
              </a:rPr>
              <a:t>  </a:t>
            </a:r>
            <a:r>
              <a:rPr sz="1800" dirty="0">
                <a:solidFill>
                  <a:srgbClr val="7E7E7E"/>
                </a:solidFill>
                <a:latin typeface="Calibri"/>
                <a:cs typeface="Calibri"/>
              </a:rPr>
              <a:t>Git,</a:t>
            </a:r>
            <a:r>
              <a:rPr sz="1800" spc="175" dirty="0">
                <a:solidFill>
                  <a:srgbClr val="7E7E7E"/>
                </a:solidFill>
                <a:latin typeface="Calibri"/>
                <a:cs typeface="Calibri"/>
              </a:rPr>
              <a:t>  </a:t>
            </a:r>
            <a:r>
              <a:rPr sz="1800" dirty="0">
                <a:solidFill>
                  <a:srgbClr val="7E7E7E"/>
                </a:solidFill>
                <a:latin typeface="Calibri"/>
                <a:cs typeface="Calibri"/>
              </a:rPr>
              <a:t>généralement</a:t>
            </a:r>
            <a:r>
              <a:rPr sz="1800" spc="185" dirty="0">
                <a:solidFill>
                  <a:srgbClr val="7E7E7E"/>
                </a:solidFill>
                <a:latin typeface="Calibri"/>
                <a:cs typeface="Calibri"/>
              </a:rPr>
              <a:t>  </a:t>
            </a:r>
            <a:r>
              <a:rPr sz="1800" spc="-25" dirty="0">
                <a:solidFill>
                  <a:srgbClr val="7E7E7E"/>
                </a:solidFill>
                <a:latin typeface="Calibri"/>
                <a:cs typeface="Calibri"/>
              </a:rPr>
              <a:t>un </a:t>
            </a:r>
            <a:r>
              <a:rPr sz="1800" spc="-10" dirty="0">
                <a:solidFill>
                  <a:srgbClr val="7E7E7E"/>
                </a:solidFill>
                <a:latin typeface="Calibri"/>
                <a:cs typeface="Calibri"/>
              </a:rPr>
              <a:t>commit</a:t>
            </a:r>
            <a:endParaRPr sz="1800">
              <a:latin typeface="Calibri"/>
              <a:cs typeface="Calibri"/>
            </a:endParaRPr>
          </a:p>
        </p:txBody>
      </p:sp>
      <p:sp>
        <p:nvSpPr>
          <p:cNvPr id="7" name="object 7"/>
          <p:cNvSpPr/>
          <p:nvPr/>
        </p:nvSpPr>
        <p:spPr>
          <a:xfrm>
            <a:off x="1549653" y="4572000"/>
            <a:ext cx="4724400" cy="1238250"/>
          </a:xfrm>
          <a:custGeom>
            <a:avLst/>
            <a:gdLst/>
            <a:ahLst/>
            <a:cxnLst/>
            <a:rect l="l" t="t" r="r" b="b"/>
            <a:pathLst>
              <a:path w="4724400" h="1238250">
                <a:moveTo>
                  <a:pt x="4724400" y="0"/>
                </a:moveTo>
                <a:lnTo>
                  <a:pt x="0" y="0"/>
                </a:lnTo>
                <a:lnTo>
                  <a:pt x="0" y="1238199"/>
                </a:lnTo>
                <a:lnTo>
                  <a:pt x="4724400" y="1238199"/>
                </a:lnTo>
                <a:lnTo>
                  <a:pt x="4724400" y="0"/>
                </a:lnTo>
                <a:close/>
              </a:path>
            </a:pathLst>
          </a:custGeom>
          <a:solidFill>
            <a:srgbClr val="FFFFFF"/>
          </a:solidFill>
        </p:spPr>
        <p:txBody>
          <a:bodyPr wrap="square" lIns="0" tIns="0" rIns="0" bIns="0" rtlCol="0"/>
          <a:lstStyle/>
          <a:p>
            <a:endParaRPr/>
          </a:p>
        </p:txBody>
      </p:sp>
      <p:sp>
        <p:nvSpPr>
          <p:cNvPr id="8" name="object 8"/>
          <p:cNvSpPr txBox="1"/>
          <p:nvPr/>
        </p:nvSpPr>
        <p:spPr>
          <a:xfrm>
            <a:off x="1549653" y="4572000"/>
            <a:ext cx="4724400" cy="1238250"/>
          </a:xfrm>
          <a:prstGeom prst="rect">
            <a:avLst/>
          </a:prstGeom>
          <a:ln w="25400">
            <a:solidFill>
              <a:srgbClr val="1C334E"/>
            </a:solidFill>
          </a:ln>
        </p:spPr>
        <p:txBody>
          <a:bodyPr vert="horz" wrap="square" lIns="0" tIns="193675" rIns="0" bIns="0" rtlCol="0">
            <a:spAutoFit/>
          </a:bodyPr>
          <a:lstStyle/>
          <a:p>
            <a:pPr marL="91440" marR="83185" algn="just">
              <a:lnSpc>
                <a:spcPct val="100000"/>
              </a:lnSpc>
              <a:spcBef>
                <a:spcPts val="1525"/>
              </a:spcBef>
            </a:pPr>
            <a:r>
              <a:rPr sz="1800" dirty="0">
                <a:solidFill>
                  <a:srgbClr val="7E7E7E"/>
                </a:solidFill>
                <a:latin typeface="Calibri"/>
                <a:cs typeface="Calibri"/>
              </a:rPr>
              <a:t>Il</a:t>
            </a:r>
            <a:r>
              <a:rPr sz="1800" spc="484" dirty="0">
                <a:solidFill>
                  <a:srgbClr val="7E7E7E"/>
                </a:solidFill>
                <a:latin typeface="Calibri"/>
                <a:cs typeface="Calibri"/>
              </a:rPr>
              <a:t>  </a:t>
            </a:r>
            <a:r>
              <a:rPr sz="1800" dirty="0">
                <a:solidFill>
                  <a:srgbClr val="7E7E7E"/>
                </a:solidFill>
                <a:latin typeface="Calibri"/>
                <a:cs typeface="Calibri"/>
              </a:rPr>
              <a:t>sert</a:t>
            </a:r>
            <a:r>
              <a:rPr sz="1800" spc="480" dirty="0">
                <a:solidFill>
                  <a:srgbClr val="7E7E7E"/>
                </a:solidFill>
                <a:latin typeface="Calibri"/>
                <a:cs typeface="Calibri"/>
              </a:rPr>
              <a:t>  </a:t>
            </a:r>
            <a:r>
              <a:rPr sz="1800" dirty="0">
                <a:solidFill>
                  <a:srgbClr val="7E7E7E"/>
                </a:solidFill>
                <a:latin typeface="Calibri"/>
                <a:cs typeface="Calibri"/>
              </a:rPr>
              <a:t>à</a:t>
            </a:r>
            <a:r>
              <a:rPr sz="1800" spc="490" dirty="0">
                <a:solidFill>
                  <a:srgbClr val="7E7E7E"/>
                </a:solidFill>
                <a:latin typeface="Calibri"/>
                <a:cs typeface="Calibri"/>
              </a:rPr>
              <a:t>  </a:t>
            </a:r>
            <a:r>
              <a:rPr sz="1800" dirty="0">
                <a:solidFill>
                  <a:srgbClr val="7E7E7E"/>
                </a:solidFill>
                <a:latin typeface="Calibri"/>
                <a:cs typeface="Calibri"/>
              </a:rPr>
              <a:t>enregistrer</a:t>
            </a:r>
            <a:r>
              <a:rPr sz="1800" spc="490" dirty="0">
                <a:solidFill>
                  <a:srgbClr val="7E7E7E"/>
                </a:solidFill>
                <a:latin typeface="Calibri"/>
                <a:cs typeface="Calibri"/>
              </a:rPr>
              <a:t>  </a:t>
            </a:r>
            <a:r>
              <a:rPr sz="1800" dirty="0">
                <a:solidFill>
                  <a:srgbClr val="7E7E7E"/>
                </a:solidFill>
                <a:latin typeface="Calibri"/>
                <a:cs typeface="Calibri"/>
              </a:rPr>
              <a:t>un</a:t>
            </a:r>
            <a:r>
              <a:rPr sz="1800" spc="490" dirty="0">
                <a:solidFill>
                  <a:srgbClr val="7E7E7E"/>
                </a:solidFill>
                <a:latin typeface="Calibri"/>
                <a:cs typeface="Calibri"/>
              </a:rPr>
              <a:t>  </a:t>
            </a:r>
            <a:r>
              <a:rPr sz="1800" dirty="0">
                <a:solidFill>
                  <a:srgbClr val="7E7E7E"/>
                </a:solidFill>
                <a:latin typeface="Calibri"/>
                <a:cs typeface="Calibri"/>
              </a:rPr>
              <a:t>instantané</a:t>
            </a:r>
            <a:r>
              <a:rPr sz="1800" spc="490" dirty="0">
                <a:solidFill>
                  <a:srgbClr val="7E7E7E"/>
                </a:solidFill>
                <a:latin typeface="Calibri"/>
                <a:cs typeface="Calibri"/>
              </a:rPr>
              <a:t>  </a:t>
            </a:r>
            <a:r>
              <a:rPr sz="1800" spc="-25" dirty="0">
                <a:solidFill>
                  <a:srgbClr val="7E7E7E"/>
                </a:solidFill>
                <a:latin typeface="Calibri"/>
                <a:cs typeface="Calibri"/>
              </a:rPr>
              <a:t>des </a:t>
            </a:r>
            <a:r>
              <a:rPr sz="1800" dirty="0">
                <a:solidFill>
                  <a:srgbClr val="7E7E7E"/>
                </a:solidFill>
                <a:latin typeface="Calibri"/>
                <a:cs typeface="Calibri"/>
              </a:rPr>
              <a:t>modifications</a:t>
            </a:r>
            <a:r>
              <a:rPr sz="1800" spc="240" dirty="0">
                <a:solidFill>
                  <a:srgbClr val="7E7E7E"/>
                </a:solidFill>
                <a:latin typeface="Calibri"/>
                <a:cs typeface="Calibri"/>
              </a:rPr>
              <a:t> </a:t>
            </a:r>
            <a:r>
              <a:rPr sz="1800" dirty="0">
                <a:solidFill>
                  <a:srgbClr val="7E7E7E"/>
                </a:solidFill>
                <a:latin typeface="Calibri"/>
                <a:cs typeface="Calibri"/>
              </a:rPr>
              <a:t>stagées</a:t>
            </a:r>
            <a:r>
              <a:rPr sz="1800" spc="240" dirty="0">
                <a:solidFill>
                  <a:srgbClr val="7E7E7E"/>
                </a:solidFill>
                <a:latin typeface="Calibri"/>
                <a:cs typeface="Calibri"/>
              </a:rPr>
              <a:t> </a:t>
            </a:r>
            <a:r>
              <a:rPr sz="1800" dirty="0">
                <a:solidFill>
                  <a:srgbClr val="7E7E7E"/>
                </a:solidFill>
                <a:latin typeface="Calibri"/>
                <a:cs typeface="Calibri"/>
              </a:rPr>
              <a:t>de</a:t>
            </a:r>
            <a:r>
              <a:rPr sz="1800" spc="235" dirty="0">
                <a:solidFill>
                  <a:srgbClr val="7E7E7E"/>
                </a:solidFill>
                <a:latin typeface="Calibri"/>
                <a:cs typeface="Calibri"/>
              </a:rPr>
              <a:t> </a:t>
            </a:r>
            <a:r>
              <a:rPr sz="1800" dirty="0">
                <a:solidFill>
                  <a:srgbClr val="7E7E7E"/>
                </a:solidFill>
                <a:latin typeface="Calibri"/>
                <a:cs typeface="Calibri"/>
              </a:rPr>
              <a:t>votre</a:t>
            </a:r>
            <a:r>
              <a:rPr sz="1800" spc="220" dirty="0">
                <a:solidFill>
                  <a:srgbClr val="7E7E7E"/>
                </a:solidFill>
                <a:latin typeface="Calibri"/>
                <a:cs typeface="Calibri"/>
              </a:rPr>
              <a:t> </a:t>
            </a:r>
            <a:r>
              <a:rPr sz="1800" dirty="0">
                <a:solidFill>
                  <a:srgbClr val="7E7E7E"/>
                </a:solidFill>
                <a:latin typeface="Calibri"/>
                <a:cs typeface="Calibri"/>
              </a:rPr>
              <a:t>projet</a:t>
            </a:r>
            <a:r>
              <a:rPr sz="1800" spc="229" dirty="0">
                <a:solidFill>
                  <a:srgbClr val="7E7E7E"/>
                </a:solidFill>
                <a:latin typeface="Calibri"/>
                <a:cs typeface="Calibri"/>
              </a:rPr>
              <a:t> </a:t>
            </a:r>
            <a:r>
              <a:rPr sz="1800" dirty="0">
                <a:solidFill>
                  <a:srgbClr val="7E7E7E"/>
                </a:solidFill>
                <a:latin typeface="Calibri"/>
                <a:cs typeface="Calibri"/>
              </a:rPr>
              <a:t>dans</a:t>
            </a:r>
            <a:r>
              <a:rPr sz="1800" spc="240" dirty="0">
                <a:solidFill>
                  <a:srgbClr val="7E7E7E"/>
                </a:solidFill>
                <a:latin typeface="Calibri"/>
                <a:cs typeface="Calibri"/>
              </a:rPr>
              <a:t> </a:t>
            </a:r>
            <a:r>
              <a:rPr sz="1800" spc="-25" dirty="0">
                <a:solidFill>
                  <a:srgbClr val="7E7E7E"/>
                </a:solidFill>
                <a:latin typeface="Calibri"/>
                <a:cs typeface="Calibri"/>
              </a:rPr>
              <a:t>son </a:t>
            </a:r>
            <a:r>
              <a:rPr sz="1800" dirty="0">
                <a:solidFill>
                  <a:srgbClr val="7E7E7E"/>
                </a:solidFill>
                <a:latin typeface="Calibri"/>
                <a:cs typeface="Calibri"/>
              </a:rPr>
              <a:t>historique</a:t>
            </a:r>
            <a:r>
              <a:rPr sz="1800" spc="-55" dirty="0">
                <a:solidFill>
                  <a:srgbClr val="7E7E7E"/>
                </a:solidFill>
                <a:latin typeface="Calibri"/>
                <a:cs typeface="Calibri"/>
              </a:rPr>
              <a:t> </a:t>
            </a:r>
            <a:r>
              <a:rPr sz="1800" spc="-20" dirty="0">
                <a:solidFill>
                  <a:srgbClr val="7E7E7E"/>
                </a:solidFill>
                <a:latin typeface="Calibri"/>
                <a:cs typeface="Calibri"/>
              </a:rPr>
              <a:t>local</a:t>
            </a:r>
            <a:endParaRPr sz="1800" dirty="0">
              <a:latin typeface="Calibri"/>
              <a:cs typeface="Calibri"/>
            </a:endParaRPr>
          </a:p>
        </p:txBody>
      </p:sp>
      <p:sp>
        <p:nvSpPr>
          <p:cNvPr id="9" name="object 9"/>
          <p:cNvSpPr/>
          <p:nvPr/>
        </p:nvSpPr>
        <p:spPr>
          <a:xfrm>
            <a:off x="8331454" y="4572000"/>
            <a:ext cx="3733800" cy="1371600"/>
          </a:xfrm>
          <a:custGeom>
            <a:avLst/>
            <a:gdLst/>
            <a:ahLst/>
            <a:cxnLst/>
            <a:rect l="l" t="t" r="r" b="b"/>
            <a:pathLst>
              <a:path w="3733800" h="1371600">
                <a:moveTo>
                  <a:pt x="3733800" y="0"/>
                </a:moveTo>
                <a:lnTo>
                  <a:pt x="0" y="0"/>
                </a:lnTo>
                <a:lnTo>
                  <a:pt x="0" y="1371600"/>
                </a:lnTo>
                <a:lnTo>
                  <a:pt x="3733800" y="1371600"/>
                </a:lnTo>
                <a:lnTo>
                  <a:pt x="3733800" y="0"/>
                </a:lnTo>
                <a:close/>
              </a:path>
            </a:pathLst>
          </a:custGeom>
          <a:solidFill>
            <a:srgbClr val="FFFFFF"/>
          </a:solidFill>
        </p:spPr>
        <p:txBody>
          <a:bodyPr wrap="square" lIns="0" tIns="0" rIns="0" bIns="0" rtlCol="0"/>
          <a:lstStyle/>
          <a:p>
            <a:endParaRPr/>
          </a:p>
        </p:txBody>
      </p:sp>
      <p:sp>
        <p:nvSpPr>
          <p:cNvPr id="10" name="object 10"/>
          <p:cNvSpPr txBox="1"/>
          <p:nvPr/>
        </p:nvSpPr>
        <p:spPr>
          <a:xfrm>
            <a:off x="8331454" y="4572000"/>
            <a:ext cx="3733800" cy="1371600"/>
          </a:xfrm>
          <a:prstGeom prst="rect">
            <a:avLst/>
          </a:prstGeom>
          <a:ln w="25400">
            <a:solidFill>
              <a:srgbClr val="1C334E"/>
            </a:solidFill>
          </a:ln>
        </p:spPr>
        <p:txBody>
          <a:bodyPr vert="horz" wrap="square" lIns="0" tIns="123190" rIns="0" bIns="0" rtlCol="0">
            <a:spAutoFit/>
          </a:bodyPr>
          <a:lstStyle/>
          <a:p>
            <a:pPr marL="92075" marR="83185" algn="just">
              <a:lnSpc>
                <a:spcPct val="100000"/>
              </a:lnSpc>
              <a:spcBef>
                <a:spcPts val="970"/>
              </a:spcBef>
            </a:pPr>
            <a:r>
              <a:rPr sz="1800" dirty="0">
                <a:solidFill>
                  <a:srgbClr val="7E7E7E"/>
                </a:solidFill>
                <a:latin typeface="Calibri"/>
                <a:cs typeface="Calibri"/>
              </a:rPr>
              <a:t>est</a:t>
            </a:r>
            <a:r>
              <a:rPr sz="1800" spc="200" dirty="0">
                <a:solidFill>
                  <a:srgbClr val="7E7E7E"/>
                </a:solidFill>
                <a:latin typeface="Calibri"/>
                <a:cs typeface="Calibri"/>
              </a:rPr>
              <a:t>  </a:t>
            </a:r>
            <a:r>
              <a:rPr sz="1800" dirty="0">
                <a:solidFill>
                  <a:srgbClr val="7E7E7E"/>
                </a:solidFill>
                <a:latin typeface="Calibri"/>
                <a:cs typeface="Calibri"/>
              </a:rPr>
              <a:t>une</a:t>
            </a:r>
            <a:r>
              <a:rPr sz="1800" spc="210" dirty="0">
                <a:solidFill>
                  <a:srgbClr val="7E7E7E"/>
                </a:solidFill>
                <a:latin typeface="Calibri"/>
                <a:cs typeface="Calibri"/>
              </a:rPr>
              <a:t>  </a:t>
            </a:r>
            <a:r>
              <a:rPr sz="1800" dirty="0">
                <a:solidFill>
                  <a:srgbClr val="7E7E7E"/>
                </a:solidFill>
                <a:latin typeface="Calibri"/>
                <a:cs typeface="Calibri"/>
              </a:rPr>
              <a:t>référence</a:t>
            </a:r>
            <a:r>
              <a:rPr sz="1800" spc="204" dirty="0">
                <a:solidFill>
                  <a:srgbClr val="7E7E7E"/>
                </a:solidFill>
                <a:latin typeface="Calibri"/>
                <a:cs typeface="Calibri"/>
              </a:rPr>
              <a:t>  </a:t>
            </a:r>
            <a:r>
              <a:rPr sz="1800" dirty="0">
                <a:solidFill>
                  <a:srgbClr val="7E7E7E"/>
                </a:solidFill>
                <a:latin typeface="Calibri"/>
                <a:cs typeface="Calibri"/>
              </a:rPr>
              <a:t>symbolique</a:t>
            </a:r>
            <a:r>
              <a:rPr sz="1800" spc="215" dirty="0">
                <a:solidFill>
                  <a:srgbClr val="7E7E7E"/>
                </a:solidFill>
                <a:latin typeface="Calibri"/>
                <a:cs typeface="Calibri"/>
              </a:rPr>
              <a:t>  </a:t>
            </a:r>
            <a:r>
              <a:rPr sz="1800" spc="-25" dirty="0">
                <a:solidFill>
                  <a:srgbClr val="7E7E7E"/>
                </a:solidFill>
                <a:latin typeface="Calibri"/>
                <a:cs typeface="Calibri"/>
              </a:rPr>
              <a:t>qui </a:t>
            </a:r>
            <a:r>
              <a:rPr sz="1800" dirty="0">
                <a:solidFill>
                  <a:srgbClr val="7E7E7E"/>
                </a:solidFill>
                <a:latin typeface="Calibri"/>
                <a:cs typeface="Calibri"/>
              </a:rPr>
              <a:t>pointe</a:t>
            </a:r>
            <a:r>
              <a:rPr sz="1800" spc="350" dirty="0">
                <a:solidFill>
                  <a:srgbClr val="7E7E7E"/>
                </a:solidFill>
                <a:latin typeface="Calibri"/>
                <a:cs typeface="Calibri"/>
              </a:rPr>
              <a:t> </a:t>
            </a:r>
            <a:r>
              <a:rPr sz="1800" dirty="0">
                <a:solidFill>
                  <a:srgbClr val="7E7E7E"/>
                </a:solidFill>
                <a:latin typeface="Calibri"/>
                <a:cs typeface="Calibri"/>
              </a:rPr>
              <a:t>vers</a:t>
            </a:r>
            <a:r>
              <a:rPr sz="1800" spc="360" dirty="0">
                <a:solidFill>
                  <a:srgbClr val="7E7E7E"/>
                </a:solidFill>
                <a:latin typeface="Calibri"/>
                <a:cs typeface="Calibri"/>
              </a:rPr>
              <a:t> </a:t>
            </a:r>
            <a:r>
              <a:rPr sz="1800" dirty="0">
                <a:solidFill>
                  <a:srgbClr val="7E7E7E"/>
                </a:solidFill>
                <a:latin typeface="Calibri"/>
                <a:cs typeface="Calibri"/>
              </a:rPr>
              <a:t>le</a:t>
            </a:r>
            <a:r>
              <a:rPr sz="1800" spc="360" dirty="0">
                <a:solidFill>
                  <a:srgbClr val="7E7E7E"/>
                </a:solidFill>
                <a:latin typeface="Calibri"/>
                <a:cs typeface="Calibri"/>
              </a:rPr>
              <a:t> </a:t>
            </a:r>
            <a:r>
              <a:rPr sz="1800" dirty="0">
                <a:solidFill>
                  <a:srgbClr val="7E7E7E"/>
                </a:solidFill>
                <a:latin typeface="Calibri"/>
                <a:cs typeface="Calibri"/>
              </a:rPr>
              <a:t>dernier</a:t>
            </a:r>
            <a:r>
              <a:rPr sz="1800" spc="360" dirty="0">
                <a:solidFill>
                  <a:srgbClr val="7E7E7E"/>
                </a:solidFill>
                <a:latin typeface="Calibri"/>
                <a:cs typeface="Calibri"/>
              </a:rPr>
              <a:t> </a:t>
            </a:r>
            <a:r>
              <a:rPr sz="1800" dirty="0">
                <a:solidFill>
                  <a:srgbClr val="7E7E7E"/>
                </a:solidFill>
                <a:latin typeface="Calibri"/>
                <a:cs typeface="Calibri"/>
              </a:rPr>
              <a:t>commit</a:t>
            </a:r>
            <a:r>
              <a:rPr sz="1800" spc="355" dirty="0">
                <a:solidFill>
                  <a:srgbClr val="7E7E7E"/>
                </a:solidFill>
                <a:latin typeface="Calibri"/>
                <a:cs typeface="Calibri"/>
              </a:rPr>
              <a:t> </a:t>
            </a:r>
            <a:r>
              <a:rPr sz="1800" dirty="0">
                <a:solidFill>
                  <a:srgbClr val="7E7E7E"/>
                </a:solidFill>
                <a:latin typeface="Calibri"/>
                <a:cs typeface="Calibri"/>
              </a:rPr>
              <a:t>de</a:t>
            </a:r>
            <a:r>
              <a:rPr sz="1800" spc="360" dirty="0">
                <a:solidFill>
                  <a:srgbClr val="7E7E7E"/>
                </a:solidFill>
                <a:latin typeface="Calibri"/>
                <a:cs typeface="Calibri"/>
              </a:rPr>
              <a:t> </a:t>
            </a:r>
            <a:r>
              <a:rPr sz="1800" spc="-25" dirty="0">
                <a:solidFill>
                  <a:srgbClr val="7E7E7E"/>
                </a:solidFill>
                <a:latin typeface="Calibri"/>
                <a:cs typeface="Calibri"/>
              </a:rPr>
              <a:t>la </a:t>
            </a:r>
            <a:r>
              <a:rPr sz="1800" dirty="0">
                <a:solidFill>
                  <a:srgbClr val="7E7E7E"/>
                </a:solidFill>
                <a:latin typeface="Calibri"/>
                <a:cs typeface="Calibri"/>
              </a:rPr>
              <a:t>branche</a:t>
            </a:r>
            <a:r>
              <a:rPr sz="1800" spc="495" dirty="0">
                <a:solidFill>
                  <a:srgbClr val="7E7E7E"/>
                </a:solidFill>
                <a:latin typeface="Calibri"/>
                <a:cs typeface="Calibri"/>
              </a:rPr>
              <a:t> </a:t>
            </a:r>
            <a:r>
              <a:rPr sz="1800" dirty="0">
                <a:solidFill>
                  <a:srgbClr val="7E7E7E"/>
                </a:solidFill>
                <a:latin typeface="Calibri"/>
                <a:cs typeface="Calibri"/>
              </a:rPr>
              <a:t>sur</a:t>
            </a:r>
            <a:r>
              <a:rPr sz="1800" spc="45" dirty="0">
                <a:solidFill>
                  <a:srgbClr val="7E7E7E"/>
                </a:solidFill>
                <a:latin typeface="Calibri"/>
                <a:cs typeface="Calibri"/>
              </a:rPr>
              <a:t>  </a:t>
            </a:r>
            <a:r>
              <a:rPr sz="1800" dirty="0">
                <a:solidFill>
                  <a:srgbClr val="7E7E7E"/>
                </a:solidFill>
                <a:latin typeface="Calibri"/>
                <a:cs typeface="Calibri"/>
              </a:rPr>
              <a:t>laquelle</a:t>
            </a:r>
            <a:r>
              <a:rPr sz="1800" spc="45" dirty="0">
                <a:solidFill>
                  <a:srgbClr val="7E7E7E"/>
                </a:solidFill>
                <a:latin typeface="Calibri"/>
                <a:cs typeface="Calibri"/>
              </a:rPr>
              <a:t>  </a:t>
            </a:r>
            <a:r>
              <a:rPr sz="1800" dirty="0">
                <a:solidFill>
                  <a:srgbClr val="7E7E7E"/>
                </a:solidFill>
                <a:latin typeface="Calibri"/>
                <a:cs typeface="Calibri"/>
              </a:rPr>
              <a:t>vous</a:t>
            </a:r>
            <a:r>
              <a:rPr sz="1800" spc="50" dirty="0">
                <a:solidFill>
                  <a:srgbClr val="7E7E7E"/>
                </a:solidFill>
                <a:latin typeface="Calibri"/>
                <a:cs typeface="Calibri"/>
              </a:rPr>
              <a:t>  </a:t>
            </a:r>
            <a:r>
              <a:rPr sz="1800" spc="-10" dirty="0">
                <a:solidFill>
                  <a:srgbClr val="7E7E7E"/>
                </a:solidFill>
                <a:latin typeface="Calibri"/>
                <a:cs typeface="Calibri"/>
              </a:rPr>
              <a:t>travaillez actuellement</a:t>
            </a:r>
            <a:endParaRPr sz="1800" dirty="0">
              <a:latin typeface="Calibri"/>
              <a:cs typeface="Calibri"/>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4395" y="4699"/>
            <a:ext cx="6089650" cy="696595"/>
          </a:xfrm>
          <a:prstGeom prst="rect">
            <a:avLst/>
          </a:prstGeom>
        </p:spPr>
        <p:txBody>
          <a:bodyPr vert="horz" wrap="square" lIns="0" tIns="12700" rIns="0" bIns="0" rtlCol="0">
            <a:spAutoFit/>
          </a:bodyPr>
          <a:lstStyle/>
          <a:p>
            <a:pPr marL="12700">
              <a:lnSpc>
                <a:spcPct val="100000"/>
              </a:lnSpc>
              <a:spcBef>
                <a:spcPts val="100"/>
              </a:spcBef>
            </a:pPr>
            <a:r>
              <a:rPr dirty="0"/>
              <a:t>Comment</a:t>
            </a:r>
            <a:r>
              <a:rPr spc="-114" dirty="0"/>
              <a:t> </a:t>
            </a:r>
            <a:r>
              <a:rPr dirty="0"/>
              <a:t>fonctionne</a:t>
            </a:r>
            <a:r>
              <a:rPr spc="-110" dirty="0"/>
              <a:t> </a:t>
            </a:r>
            <a:r>
              <a:rPr dirty="0"/>
              <a:t>GIT</a:t>
            </a:r>
            <a:r>
              <a:rPr spc="-120" dirty="0"/>
              <a:t> </a:t>
            </a:r>
            <a:r>
              <a:rPr spc="-50" dirty="0"/>
              <a:t>?</a:t>
            </a:r>
          </a:p>
        </p:txBody>
      </p:sp>
      <p:grpSp>
        <p:nvGrpSpPr>
          <p:cNvPr id="3" name="object 3"/>
          <p:cNvGrpSpPr/>
          <p:nvPr/>
        </p:nvGrpSpPr>
        <p:grpSpPr>
          <a:xfrm>
            <a:off x="2390584" y="1447761"/>
            <a:ext cx="8506460" cy="4330065"/>
            <a:chOff x="2390584" y="1447761"/>
            <a:chExt cx="8506460" cy="4330065"/>
          </a:xfrm>
        </p:grpSpPr>
        <p:pic>
          <p:nvPicPr>
            <p:cNvPr id="4" name="object 4"/>
            <p:cNvPicPr/>
            <p:nvPr/>
          </p:nvPicPr>
          <p:blipFill>
            <a:blip r:embed="rId2" cstate="print"/>
            <a:stretch>
              <a:fillRect/>
            </a:stretch>
          </p:blipFill>
          <p:spPr>
            <a:xfrm>
              <a:off x="2885694" y="1447761"/>
              <a:ext cx="8010906" cy="4329938"/>
            </a:xfrm>
            <a:prstGeom prst="rect">
              <a:avLst/>
            </a:prstGeom>
          </p:spPr>
        </p:pic>
        <p:sp>
          <p:nvSpPr>
            <p:cNvPr id="5" name="object 5"/>
            <p:cNvSpPr/>
            <p:nvPr/>
          </p:nvSpPr>
          <p:spPr>
            <a:xfrm>
              <a:off x="2395347" y="2286000"/>
              <a:ext cx="685800" cy="2438400"/>
            </a:xfrm>
            <a:custGeom>
              <a:avLst/>
              <a:gdLst/>
              <a:ahLst/>
              <a:cxnLst/>
              <a:rect l="l" t="t" r="r" b="b"/>
              <a:pathLst>
                <a:path w="685800" h="2438400">
                  <a:moveTo>
                    <a:pt x="685800" y="2438400"/>
                  </a:moveTo>
                  <a:lnTo>
                    <a:pt x="0" y="2438400"/>
                  </a:lnTo>
                </a:path>
                <a:path w="685800" h="2438400">
                  <a:moveTo>
                    <a:pt x="0" y="2438400"/>
                  </a:moveTo>
                  <a:lnTo>
                    <a:pt x="0" y="0"/>
                  </a:lnTo>
                </a:path>
              </a:pathLst>
            </a:custGeom>
            <a:ln w="9525">
              <a:solidFill>
                <a:srgbClr val="000000"/>
              </a:solidFill>
            </a:ln>
          </p:spPr>
          <p:txBody>
            <a:bodyPr wrap="square" lIns="0" tIns="0" rIns="0" bIns="0" rtlCol="0"/>
            <a:lstStyle/>
            <a:p>
              <a:endParaRPr/>
            </a:p>
          </p:txBody>
        </p:sp>
        <p:sp>
          <p:nvSpPr>
            <p:cNvPr id="6" name="object 6"/>
            <p:cNvSpPr/>
            <p:nvPr/>
          </p:nvSpPr>
          <p:spPr>
            <a:xfrm>
              <a:off x="2395347" y="2247900"/>
              <a:ext cx="685800" cy="76200"/>
            </a:xfrm>
            <a:custGeom>
              <a:avLst/>
              <a:gdLst/>
              <a:ahLst/>
              <a:cxnLst/>
              <a:rect l="l" t="t" r="r" b="b"/>
              <a:pathLst>
                <a:path w="685800" h="76200">
                  <a:moveTo>
                    <a:pt x="609600" y="0"/>
                  </a:moveTo>
                  <a:lnTo>
                    <a:pt x="609600" y="76200"/>
                  </a:lnTo>
                  <a:lnTo>
                    <a:pt x="676401" y="42799"/>
                  </a:lnTo>
                  <a:lnTo>
                    <a:pt x="622300" y="42799"/>
                  </a:lnTo>
                  <a:lnTo>
                    <a:pt x="622300" y="33274"/>
                  </a:lnTo>
                  <a:lnTo>
                    <a:pt x="676148" y="33274"/>
                  </a:lnTo>
                  <a:lnTo>
                    <a:pt x="609600" y="0"/>
                  </a:lnTo>
                  <a:close/>
                </a:path>
                <a:path w="685800" h="76200">
                  <a:moveTo>
                    <a:pt x="609600" y="33274"/>
                  </a:moveTo>
                  <a:lnTo>
                    <a:pt x="0" y="33274"/>
                  </a:lnTo>
                  <a:lnTo>
                    <a:pt x="0" y="42799"/>
                  </a:lnTo>
                  <a:lnTo>
                    <a:pt x="609600" y="42799"/>
                  </a:lnTo>
                  <a:lnTo>
                    <a:pt x="609600" y="33274"/>
                  </a:lnTo>
                  <a:close/>
                </a:path>
                <a:path w="685800" h="76200">
                  <a:moveTo>
                    <a:pt x="676148" y="33274"/>
                  </a:moveTo>
                  <a:lnTo>
                    <a:pt x="622300" y="33274"/>
                  </a:lnTo>
                  <a:lnTo>
                    <a:pt x="622300" y="42799"/>
                  </a:lnTo>
                  <a:lnTo>
                    <a:pt x="676401" y="42799"/>
                  </a:lnTo>
                  <a:lnTo>
                    <a:pt x="685800" y="38100"/>
                  </a:lnTo>
                  <a:lnTo>
                    <a:pt x="676148" y="33274"/>
                  </a:lnTo>
                  <a:close/>
                </a:path>
              </a:pathLst>
            </a:custGeom>
            <a:solidFill>
              <a:srgbClr val="000000"/>
            </a:solidFill>
          </p:spPr>
          <p:txBody>
            <a:bodyPr wrap="square" lIns="0" tIns="0" rIns="0" bIns="0" rtlCol="0"/>
            <a:lstStyle/>
            <a:p>
              <a:endParaRPr/>
            </a:p>
          </p:txBody>
        </p:sp>
      </p:grpSp>
      <p:sp>
        <p:nvSpPr>
          <p:cNvPr id="7" name="object 7"/>
          <p:cNvSpPr txBox="1"/>
          <p:nvPr/>
        </p:nvSpPr>
        <p:spPr>
          <a:xfrm>
            <a:off x="1483613" y="3456813"/>
            <a:ext cx="875665" cy="574040"/>
          </a:xfrm>
          <a:prstGeom prst="rect">
            <a:avLst/>
          </a:prstGeom>
        </p:spPr>
        <p:txBody>
          <a:bodyPr vert="horz" wrap="square" lIns="0" tIns="12700" rIns="0" bIns="0" rtlCol="0">
            <a:spAutoFit/>
          </a:bodyPr>
          <a:lstStyle/>
          <a:p>
            <a:pPr marL="12700" marR="5080">
              <a:lnSpc>
                <a:spcPct val="100000"/>
              </a:lnSpc>
              <a:spcBef>
                <a:spcPts val="100"/>
              </a:spcBef>
            </a:pPr>
            <a:r>
              <a:rPr sz="1800" dirty="0">
                <a:latin typeface="Arial MT"/>
                <a:cs typeface="Arial MT"/>
              </a:rPr>
              <a:t>git</a:t>
            </a:r>
            <a:r>
              <a:rPr sz="1800" spc="-10" dirty="0">
                <a:latin typeface="Arial MT"/>
                <a:cs typeface="Arial MT"/>
              </a:rPr>
              <a:t> </a:t>
            </a:r>
            <a:r>
              <a:rPr sz="1800" spc="-20" dirty="0">
                <a:latin typeface="Arial MT"/>
                <a:cs typeface="Arial MT"/>
              </a:rPr>
              <a:t>clone </a:t>
            </a:r>
            <a:r>
              <a:rPr sz="1800" dirty="0">
                <a:latin typeface="Arial MT"/>
                <a:cs typeface="Arial MT"/>
              </a:rPr>
              <a:t>git</a:t>
            </a:r>
            <a:r>
              <a:rPr sz="1800" spc="-20" dirty="0">
                <a:latin typeface="Arial MT"/>
                <a:cs typeface="Arial MT"/>
              </a:rPr>
              <a:t> pull</a:t>
            </a:r>
            <a:endParaRPr sz="1800">
              <a:latin typeface="Arial MT"/>
              <a:cs typeface="Arial MT"/>
            </a:endParaRPr>
          </a:p>
        </p:txBody>
      </p:sp>
      <p:sp>
        <p:nvSpPr>
          <p:cNvPr id="8" name="object 8"/>
          <p:cNvSpPr txBox="1"/>
          <p:nvPr/>
        </p:nvSpPr>
        <p:spPr>
          <a:xfrm>
            <a:off x="3388867" y="5805932"/>
            <a:ext cx="763905"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Arial"/>
                <a:cs typeface="Arial"/>
              </a:rPr>
              <a:t>Github</a:t>
            </a:r>
            <a:endParaRPr sz="1800">
              <a:latin typeface="Arial"/>
              <a:cs typeface="Arial"/>
            </a:endParaRPr>
          </a:p>
        </p:txBody>
      </p:sp>
      <p:grpSp>
        <p:nvGrpSpPr>
          <p:cNvPr id="9" name="object 9"/>
          <p:cNvGrpSpPr/>
          <p:nvPr/>
        </p:nvGrpSpPr>
        <p:grpSpPr>
          <a:xfrm>
            <a:off x="6396037" y="985837"/>
            <a:ext cx="4810125" cy="4005579"/>
            <a:chOff x="6396037" y="985837"/>
            <a:chExt cx="4810125" cy="4005579"/>
          </a:xfrm>
        </p:grpSpPr>
        <p:sp>
          <p:nvSpPr>
            <p:cNvPr id="10" name="object 10"/>
            <p:cNvSpPr/>
            <p:nvPr/>
          </p:nvSpPr>
          <p:spPr>
            <a:xfrm>
              <a:off x="6400800" y="990600"/>
              <a:ext cx="4800600" cy="3886200"/>
            </a:xfrm>
            <a:custGeom>
              <a:avLst/>
              <a:gdLst/>
              <a:ahLst/>
              <a:cxnLst/>
              <a:rect l="l" t="t" r="r" b="b"/>
              <a:pathLst>
                <a:path w="4800600" h="3886200">
                  <a:moveTo>
                    <a:pt x="0" y="609600"/>
                  </a:moveTo>
                  <a:lnTo>
                    <a:pt x="0" y="0"/>
                  </a:lnTo>
                </a:path>
                <a:path w="4800600" h="3886200">
                  <a:moveTo>
                    <a:pt x="0" y="0"/>
                  </a:moveTo>
                  <a:lnTo>
                    <a:pt x="4800600" y="36449"/>
                  </a:lnTo>
                </a:path>
                <a:path w="4800600" h="3886200">
                  <a:moveTo>
                    <a:pt x="4800600" y="18161"/>
                  </a:moveTo>
                  <a:lnTo>
                    <a:pt x="4800600" y="3886200"/>
                  </a:lnTo>
                </a:path>
              </a:pathLst>
            </a:custGeom>
            <a:ln w="9525">
              <a:solidFill>
                <a:srgbClr val="000000"/>
              </a:solidFill>
            </a:ln>
          </p:spPr>
          <p:txBody>
            <a:bodyPr wrap="square" lIns="0" tIns="0" rIns="0" bIns="0" rtlCol="0"/>
            <a:lstStyle/>
            <a:p>
              <a:endParaRPr/>
            </a:p>
          </p:txBody>
        </p:sp>
        <p:sp>
          <p:nvSpPr>
            <p:cNvPr id="11" name="object 11"/>
            <p:cNvSpPr/>
            <p:nvPr/>
          </p:nvSpPr>
          <p:spPr>
            <a:xfrm>
              <a:off x="7010400" y="4914900"/>
              <a:ext cx="4191000" cy="76200"/>
            </a:xfrm>
            <a:custGeom>
              <a:avLst/>
              <a:gdLst/>
              <a:ahLst/>
              <a:cxnLst/>
              <a:rect l="l" t="t" r="r" b="b"/>
              <a:pathLst>
                <a:path w="4191000" h="76200">
                  <a:moveTo>
                    <a:pt x="76200" y="0"/>
                  </a:moveTo>
                  <a:lnTo>
                    <a:pt x="0" y="38100"/>
                  </a:lnTo>
                  <a:lnTo>
                    <a:pt x="76200" y="76200"/>
                  </a:lnTo>
                  <a:lnTo>
                    <a:pt x="76200" y="42799"/>
                  </a:lnTo>
                  <a:lnTo>
                    <a:pt x="63500" y="42799"/>
                  </a:lnTo>
                  <a:lnTo>
                    <a:pt x="63500" y="33274"/>
                  </a:lnTo>
                  <a:lnTo>
                    <a:pt x="76200" y="33274"/>
                  </a:lnTo>
                  <a:lnTo>
                    <a:pt x="76200" y="0"/>
                  </a:lnTo>
                  <a:close/>
                </a:path>
                <a:path w="4191000" h="76200">
                  <a:moveTo>
                    <a:pt x="76200" y="33274"/>
                  </a:moveTo>
                  <a:lnTo>
                    <a:pt x="63500" y="33274"/>
                  </a:lnTo>
                  <a:lnTo>
                    <a:pt x="63500" y="42799"/>
                  </a:lnTo>
                  <a:lnTo>
                    <a:pt x="76200" y="42799"/>
                  </a:lnTo>
                  <a:lnTo>
                    <a:pt x="76200" y="33274"/>
                  </a:lnTo>
                  <a:close/>
                </a:path>
                <a:path w="4191000" h="76200">
                  <a:moveTo>
                    <a:pt x="4191000" y="33274"/>
                  </a:moveTo>
                  <a:lnTo>
                    <a:pt x="76200" y="33274"/>
                  </a:lnTo>
                  <a:lnTo>
                    <a:pt x="76200" y="42799"/>
                  </a:lnTo>
                  <a:lnTo>
                    <a:pt x="4191000" y="42799"/>
                  </a:lnTo>
                  <a:lnTo>
                    <a:pt x="4191000" y="33274"/>
                  </a:lnTo>
                  <a:close/>
                </a:path>
              </a:pathLst>
            </a:custGeom>
            <a:solidFill>
              <a:srgbClr val="000000"/>
            </a:solidFill>
          </p:spPr>
          <p:txBody>
            <a:bodyPr wrap="square" lIns="0" tIns="0" rIns="0" bIns="0" rtlCol="0"/>
            <a:lstStyle/>
            <a:p>
              <a:endParaRPr/>
            </a:p>
          </p:txBody>
        </p:sp>
      </p:grpSp>
      <p:sp>
        <p:nvSpPr>
          <p:cNvPr id="12" name="object 12"/>
          <p:cNvSpPr txBox="1"/>
          <p:nvPr/>
        </p:nvSpPr>
        <p:spPr>
          <a:xfrm>
            <a:off x="8881109" y="622808"/>
            <a:ext cx="133413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MT"/>
                <a:cs typeface="Arial MT"/>
              </a:rPr>
              <a:t>git</a:t>
            </a:r>
            <a:r>
              <a:rPr sz="1800" spc="-20" dirty="0">
                <a:latin typeface="Arial MT"/>
                <a:cs typeface="Arial MT"/>
              </a:rPr>
              <a:t> </a:t>
            </a:r>
            <a:r>
              <a:rPr sz="1800" dirty="0">
                <a:latin typeface="Arial MT"/>
                <a:cs typeface="Arial MT"/>
              </a:rPr>
              <a:t>commit</a:t>
            </a:r>
            <a:r>
              <a:rPr sz="1800" spc="-10" dirty="0">
                <a:latin typeface="Arial MT"/>
                <a:cs typeface="Arial MT"/>
              </a:rPr>
              <a:t> -</a:t>
            </a:r>
            <a:r>
              <a:rPr sz="1800" spc="-50" dirty="0">
                <a:latin typeface="Arial MT"/>
                <a:cs typeface="Arial MT"/>
              </a:rPr>
              <a:t>a</a:t>
            </a:r>
            <a:endParaRPr sz="1800">
              <a:latin typeface="Arial MT"/>
              <a:cs typeface="Arial MT"/>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1695" y="-36753"/>
            <a:ext cx="11337925" cy="1408898"/>
          </a:xfrm>
          <a:prstGeom prst="rect">
            <a:avLst/>
          </a:prstGeom>
        </p:spPr>
        <p:txBody>
          <a:bodyPr vert="horz" wrap="square" lIns="0" tIns="54152" rIns="0" bIns="0" rtlCol="0">
            <a:spAutoFit/>
          </a:bodyPr>
          <a:lstStyle/>
          <a:p>
            <a:pPr marL="25400">
              <a:lnSpc>
                <a:spcPct val="100000"/>
              </a:lnSpc>
              <a:spcBef>
                <a:spcPts val="100"/>
              </a:spcBef>
            </a:pPr>
            <a:r>
              <a:rPr dirty="0"/>
              <a:t>Installation</a:t>
            </a:r>
            <a:r>
              <a:rPr spc="-55" dirty="0"/>
              <a:t> </a:t>
            </a:r>
            <a:r>
              <a:rPr dirty="0"/>
              <a:t>de</a:t>
            </a:r>
            <a:r>
              <a:rPr spc="-50" dirty="0"/>
              <a:t> </a:t>
            </a:r>
            <a:r>
              <a:rPr spc="-25" dirty="0" smtClean="0"/>
              <a:t>WSL</a:t>
            </a:r>
            <a:r>
              <a:rPr lang="fr-FR" spc="-25" dirty="0" smtClean="0"/>
              <a:t>: Windows </a:t>
            </a:r>
            <a:r>
              <a:rPr lang="fr-FR" spc="-25" dirty="0" err="1" smtClean="0"/>
              <a:t>Subsystem</a:t>
            </a:r>
            <a:r>
              <a:rPr lang="fr-FR" spc="-25" dirty="0" smtClean="0"/>
              <a:t> for Linux</a:t>
            </a:r>
            <a:br>
              <a:rPr lang="fr-FR" spc="-25" dirty="0" smtClean="0"/>
            </a:br>
            <a:r>
              <a:rPr lang="fr-FR" spc="-25" dirty="0" smtClean="0"/>
              <a:t>(distribution Ubuntu)</a:t>
            </a:r>
            <a:endParaRPr spc="-25" dirty="0"/>
          </a:p>
        </p:txBody>
      </p:sp>
      <p:sp>
        <p:nvSpPr>
          <p:cNvPr id="3" name="object 3"/>
          <p:cNvSpPr txBox="1"/>
          <p:nvPr/>
        </p:nvSpPr>
        <p:spPr>
          <a:xfrm>
            <a:off x="551337" y="2851948"/>
            <a:ext cx="11290300" cy="382156"/>
          </a:xfrm>
          <a:prstGeom prst="rect">
            <a:avLst/>
          </a:prstGeom>
        </p:spPr>
        <p:txBody>
          <a:bodyPr vert="horz" wrap="square" lIns="0" tIns="12700" rIns="0" bIns="0" rtlCol="0">
            <a:spAutoFit/>
          </a:bodyPr>
          <a:lstStyle/>
          <a:p>
            <a:pPr marL="354965" indent="-342265">
              <a:lnSpc>
                <a:spcPct val="100000"/>
              </a:lnSpc>
              <a:spcBef>
                <a:spcPts val="100"/>
              </a:spcBef>
              <a:buFont typeface="Arial MT"/>
              <a:buChar char="•"/>
              <a:tabLst>
                <a:tab pos="354965" algn="l"/>
              </a:tabLst>
            </a:pPr>
            <a:r>
              <a:rPr lang="fr-FR" sz="2400" dirty="0" smtClean="0">
                <a:latin typeface="Calibri"/>
                <a:cs typeface="Calibri"/>
              </a:rPr>
              <a:t>Ouvrir l’invite de commandes en tant qu’administrateur</a:t>
            </a:r>
            <a:endParaRPr sz="2400" dirty="0">
              <a:solidFill>
                <a:schemeClr val="accent1"/>
              </a:solidFill>
              <a:latin typeface="Calibri"/>
              <a:cs typeface="Calibri"/>
            </a:endParaRPr>
          </a:p>
        </p:txBody>
      </p:sp>
      <p:sp>
        <p:nvSpPr>
          <p:cNvPr id="7" name="object 7"/>
          <p:cNvSpPr txBox="1"/>
          <p:nvPr/>
        </p:nvSpPr>
        <p:spPr>
          <a:xfrm>
            <a:off x="551337" y="3581400"/>
            <a:ext cx="8724799" cy="382156"/>
          </a:xfrm>
          <a:prstGeom prst="rect">
            <a:avLst/>
          </a:prstGeom>
        </p:spPr>
        <p:txBody>
          <a:bodyPr vert="horz" wrap="square" lIns="0" tIns="12700" rIns="0" bIns="0" rtlCol="0">
            <a:spAutoFit/>
          </a:bodyPr>
          <a:lstStyle/>
          <a:p>
            <a:pPr marL="354965" indent="-342265">
              <a:lnSpc>
                <a:spcPct val="100000"/>
              </a:lnSpc>
              <a:spcBef>
                <a:spcPts val="100"/>
              </a:spcBef>
              <a:buFont typeface="Arial MT"/>
              <a:buChar char="•"/>
              <a:tabLst>
                <a:tab pos="354965" algn="l"/>
              </a:tabLst>
            </a:pPr>
            <a:r>
              <a:rPr sz="2400" dirty="0">
                <a:latin typeface="Calibri"/>
                <a:cs typeface="Calibri"/>
              </a:rPr>
              <a:t>Installer</a:t>
            </a:r>
            <a:r>
              <a:rPr sz="2400" spc="-85" dirty="0">
                <a:latin typeface="Calibri"/>
                <a:cs typeface="Calibri"/>
              </a:rPr>
              <a:t> </a:t>
            </a:r>
            <a:r>
              <a:rPr lang="fr-FR" sz="2400" spc="-25" dirty="0" smtClean="0">
                <a:latin typeface="Calibri"/>
                <a:cs typeface="Calibri"/>
              </a:rPr>
              <a:t>WSL</a:t>
            </a:r>
            <a:r>
              <a:rPr lang="fr-FR" sz="2400" spc="-25" dirty="0" smtClean="0">
                <a:solidFill>
                  <a:schemeClr val="accent1"/>
                </a:solidFill>
                <a:latin typeface="Calibri"/>
                <a:cs typeface="Calibri"/>
              </a:rPr>
              <a:t>:  </a:t>
            </a:r>
            <a:r>
              <a:rPr lang="fr-FR" sz="2400" spc="-25" dirty="0" err="1" smtClean="0">
                <a:solidFill>
                  <a:schemeClr val="accent1"/>
                </a:solidFill>
                <a:latin typeface="Calibri"/>
                <a:cs typeface="Calibri"/>
              </a:rPr>
              <a:t>wsl</a:t>
            </a:r>
            <a:r>
              <a:rPr lang="fr-FR" sz="2400" spc="-25" dirty="0" smtClean="0">
                <a:solidFill>
                  <a:schemeClr val="accent1"/>
                </a:solidFill>
                <a:latin typeface="Calibri"/>
                <a:cs typeface="Calibri"/>
              </a:rPr>
              <a:t> --</a:t>
            </a:r>
            <a:r>
              <a:rPr lang="fr-FR" sz="2400" spc="-25" dirty="0" err="1" smtClean="0">
                <a:solidFill>
                  <a:schemeClr val="accent1"/>
                </a:solidFill>
                <a:latin typeface="Calibri"/>
                <a:cs typeface="Calibri"/>
              </a:rPr>
              <a:t>install</a:t>
            </a:r>
            <a:endParaRPr sz="2400" dirty="0">
              <a:solidFill>
                <a:schemeClr val="accent1"/>
              </a:solidFill>
              <a:latin typeface="Calibri"/>
              <a:cs typeface="Calibri"/>
            </a:endParaRPr>
          </a:p>
        </p:txBody>
      </p:sp>
      <p:sp>
        <p:nvSpPr>
          <p:cNvPr id="8" name="object 8"/>
          <p:cNvSpPr txBox="1"/>
          <p:nvPr/>
        </p:nvSpPr>
        <p:spPr>
          <a:xfrm>
            <a:off x="551337" y="4305833"/>
            <a:ext cx="9690100" cy="382156"/>
          </a:xfrm>
          <a:prstGeom prst="rect">
            <a:avLst/>
          </a:prstGeom>
        </p:spPr>
        <p:txBody>
          <a:bodyPr vert="horz" wrap="square" lIns="0" tIns="12700" rIns="0" bIns="0" rtlCol="0">
            <a:spAutoFit/>
          </a:bodyPr>
          <a:lstStyle/>
          <a:p>
            <a:pPr marL="354965" indent="-342265">
              <a:lnSpc>
                <a:spcPct val="100000"/>
              </a:lnSpc>
              <a:spcBef>
                <a:spcPts val="100"/>
              </a:spcBef>
              <a:buFont typeface="Arial MT"/>
              <a:buChar char="•"/>
              <a:tabLst>
                <a:tab pos="354965" algn="l"/>
              </a:tabLst>
            </a:pPr>
            <a:r>
              <a:rPr lang="fr-FR" sz="2400" dirty="0" smtClean="0">
                <a:latin typeface="Calibri"/>
                <a:cs typeface="Calibri"/>
              </a:rPr>
              <a:t>Lancer WSL</a:t>
            </a:r>
            <a:r>
              <a:rPr lang="fr-FR" sz="2400" spc="-25" dirty="0" smtClean="0">
                <a:latin typeface="Calibri"/>
                <a:cs typeface="Calibri"/>
              </a:rPr>
              <a:t>:  </a:t>
            </a:r>
            <a:r>
              <a:rPr lang="fr-FR" sz="2400" spc="-25" dirty="0" err="1" smtClean="0">
                <a:solidFill>
                  <a:schemeClr val="accent1"/>
                </a:solidFill>
                <a:latin typeface="Calibri"/>
                <a:cs typeface="Calibri"/>
              </a:rPr>
              <a:t>wsl</a:t>
            </a:r>
            <a:endParaRPr sz="2400" dirty="0">
              <a:solidFill>
                <a:schemeClr val="accent1"/>
              </a:solidFill>
              <a:latin typeface="Calibri"/>
              <a:cs typeface="Calibri"/>
            </a:endParaRPr>
          </a:p>
        </p:txBody>
      </p:sp>
    </p:spTree>
    <p:extLst>
      <p:ext uri="{BB962C8B-B14F-4D97-AF65-F5344CB8AC3E}">
        <p14:creationId xmlns:p14="http://schemas.microsoft.com/office/powerpoint/2010/main" val="407800426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dirty="0"/>
              <a:t>Installation</a:t>
            </a:r>
            <a:r>
              <a:rPr spc="-55" dirty="0"/>
              <a:t> </a:t>
            </a:r>
            <a:r>
              <a:rPr dirty="0"/>
              <a:t>de</a:t>
            </a:r>
            <a:r>
              <a:rPr spc="-50" dirty="0"/>
              <a:t> </a:t>
            </a:r>
            <a:r>
              <a:rPr dirty="0"/>
              <a:t>GIT</a:t>
            </a:r>
            <a:r>
              <a:rPr spc="-55" dirty="0"/>
              <a:t> </a:t>
            </a:r>
            <a:r>
              <a:rPr dirty="0"/>
              <a:t>sous</a:t>
            </a:r>
            <a:r>
              <a:rPr spc="-50" dirty="0"/>
              <a:t> </a:t>
            </a:r>
            <a:r>
              <a:rPr spc="-25" dirty="0"/>
              <a:t>WSL</a:t>
            </a:r>
          </a:p>
        </p:txBody>
      </p:sp>
      <p:sp>
        <p:nvSpPr>
          <p:cNvPr id="3" name="object 3"/>
          <p:cNvSpPr txBox="1"/>
          <p:nvPr/>
        </p:nvSpPr>
        <p:spPr>
          <a:xfrm>
            <a:off x="534055" y="2874614"/>
            <a:ext cx="11290300" cy="382156"/>
          </a:xfrm>
          <a:prstGeom prst="rect">
            <a:avLst/>
          </a:prstGeom>
        </p:spPr>
        <p:txBody>
          <a:bodyPr vert="horz" wrap="square" lIns="0" tIns="12700" rIns="0" bIns="0" rtlCol="0">
            <a:spAutoFit/>
          </a:bodyPr>
          <a:lstStyle/>
          <a:p>
            <a:pPr marL="354965" indent="-342265">
              <a:lnSpc>
                <a:spcPct val="100000"/>
              </a:lnSpc>
              <a:spcBef>
                <a:spcPts val="100"/>
              </a:spcBef>
              <a:buFont typeface="Arial MT"/>
              <a:buChar char="•"/>
              <a:tabLst>
                <a:tab pos="354965" algn="l"/>
              </a:tabLst>
            </a:pPr>
            <a:r>
              <a:rPr sz="2400" dirty="0">
                <a:latin typeface="Calibri"/>
                <a:cs typeface="Calibri"/>
              </a:rPr>
              <a:t>Lancer</a:t>
            </a:r>
            <a:r>
              <a:rPr sz="2400" spc="-60" dirty="0">
                <a:latin typeface="Calibri"/>
                <a:cs typeface="Calibri"/>
              </a:rPr>
              <a:t> </a:t>
            </a:r>
            <a:r>
              <a:rPr sz="2400" dirty="0">
                <a:latin typeface="Calibri"/>
                <a:cs typeface="Calibri"/>
              </a:rPr>
              <a:t>les</a:t>
            </a:r>
            <a:r>
              <a:rPr sz="2400" spc="-45" dirty="0">
                <a:latin typeface="Calibri"/>
                <a:cs typeface="Calibri"/>
              </a:rPr>
              <a:t> </a:t>
            </a:r>
            <a:r>
              <a:rPr sz="2400" dirty="0">
                <a:latin typeface="Calibri"/>
                <a:cs typeface="Calibri"/>
              </a:rPr>
              <a:t>mises</a:t>
            </a:r>
            <a:r>
              <a:rPr sz="2400" spc="-50" dirty="0">
                <a:latin typeface="Calibri"/>
                <a:cs typeface="Calibri"/>
              </a:rPr>
              <a:t> </a:t>
            </a:r>
            <a:r>
              <a:rPr sz="2400" dirty="0">
                <a:latin typeface="Calibri"/>
                <a:cs typeface="Calibri"/>
              </a:rPr>
              <a:t>à</a:t>
            </a:r>
            <a:r>
              <a:rPr sz="2400" spc="-45" dirty="0">
                <a:latin typeface="Calibri"/>
                <a:cs typeface="Calibri"/>
              </a:rPr>
              <a:t> </a:t>
            </a:r>
            <a:r>
              <a:rPr sz="2400" dirty="0">
                <a:latin typeface="Calibri"/>
                <a:cs typeface="Calibri"/>
              </a:rPr>
              <a:t>jours</a:t>
            </a:r>
            <a:r>
              <a:rPr sz="2400" spc="-50" dirty="0">
                <a:latin typeface="Calibri"/>
                <a:cs typeface="Calibri"/>
              </a:rPr>
              <a:t> </a:t>
            </a:r>
            <a:r>
              <a:rPr sz="2400" dirty="0">
                <a:latin typeface="Calibri"/>
                <a:cs typeface="Calibri"/>
              </a:rPr>
              <a:t>de</a:t>
            </a:r>
            <a:r>
              <a:rPr sz="2400" spc="-40" dirty="0">
                <a:latin typeface="Calibri"/>
                <a:cs typeface="Calibri"/>
              </a:rPr>
              <a:t> </a:t>
            </a:r>
            <a:r>
              <a:rPr sz="2400" dirty="0">
                <a:latin typeface="Calibri"/>
                <a:cs typeface="Calibri"/>
              </a:rPr>
              <a:t>WSL</a:t>
            </a:r>
            <a:r>
              <a:rPr sz="2400" spc="-45" dirty="0">
                <a:latin typeface="Calibri"/>
                <a:cs typeface="Calibri"/>
              </a:rPr>
              <a:t> </a:t>
            </a:r>
            <a:r>
              <a:rPr sz="2400" dirty="0">
                <a:latin typeface="Calibri"/>
                <a:cs typeface="Calibri"/>
              </a:rPr>
              <a:t>avant</a:t>
            </a:r>
            <a:r>
              <a:rPr sz="2400" spc="-50" dirty="0">
                <a:latin typeface="Calibri"/>
                <a:cs typeface="Calibri"/>
              </a:rPr>
              <a:t> </a:t>
            </a:r>
            <a:r>
              <a:rPr sz="2400" dirty="0" err="1">
                <a:latin typeface="Calibri"/>
                <a:cs typeface="Calibri"/>
              </a:rPr>
              <a:t>d’installer</a:t>
            </a:r>
            <a:r>
              <a:rPr sz="2400" spc="-50" dirty="0">
                <a:latin typeface="Calibri"/>
                <a:cs typeface="Calibri"/>
              </a:rPr>
              <a:t> </a:t>
            </a:r>
            <a:r>
              <a:rPr sz="2400" spc="-25" dirty="0" smtClean="0">
                <a:latin typeface="Calibri"/>
                <a:cs typeface="Calibri"/>
              </a:rPr>
              <a:t>GIT</a:t>
            </a:r>
            <a:r>
              <a:rPr lang="fr-FR" sz="2400" spc="-25" dirty="0" smtClean="0">
                <a:latin typeface="Calibri"/>
                <a:cs typeface="Calibri"/>
              </a:rPr>
              <a:t>:  </a:t>
            </a:r>
            <a:r>
              <a:rPr lang="fr-FR" sz="2400" spc="-25" dirty="0" err="1" smtClean="0">
                <a:solidFill>
                  <a:schemeClr val="accent1"/>
                </a:solidFill>
                <a:latin typeface="Calibri"/>
                <a:cs typeface="Calibri"/>
              </a:rPr>
              <a:t>sudo</a:t>
            </a:r>
            <a:r>
              <a:rPr lang="fr-FR" sz="2400" spc="-25" dirty="0" smtClean="0">
                <a:solidFill>
                  <a:schemeClr val="accent1"/>
                </a:solidFill>
                <a:latin typeface="Calibri"/>
                <a:cs typeface="Calibri"/>
              </a:rPr>
              <a:t> </a:t>
            </a:r>
            <a:r>
              <a:rPr lang="fr-FR" sz="2400" spc="-25" dirty="0" err="1" smtClean="0">
                <a:solidFill>
                  <a:schemeClr val="accent1"/>
                </a:solidFill>
                <a:latin typeface="Calibri"/>
                <a:cs typeface="Calibri"/>
              </a:rPr>
              <a:t>apt-get</a:t>
            </a:r>
            <a:r>
              <a:rPr lang="fr-FR" sz="2400" spc="-25" dirty="0" smtClean="0">
                <a:solidFill>
                  <a:schemeClr val="accent1"/>
                </a:solidFill>
                <a:latin typeface="Calibri"/>
                <a:cs typeface="Calibri"/>
              </a:rPr>
              <a:t> update</a:t>
            </a:r>
            <a:endParaRPr sz="2400" dirty="0">
              <a:solidFill>
                <a:schemeClr val="accent1"/>
              </a:solidFill>
              <a:latin typeface="Calibri"/>
              <a:cs typeface="Calibri"/>
            </a:endParaRPr>
          </a:p>
        </p:txBody>
      </p:sp>
      <p:sp>
        <p:nvSpPr>
          <p:cNvPr id="7" name="object 7"/>
          <p:cNvSpPr txBox="1"/>
          <p:nvPr/>
        </p:nvSpPr>
        <p:spPr>
          <a:xfrm>
            <a:off x="534055" y="3581400"/>
            <a:ext cx="8724799" cy="382156"/>
          </a:xfrm>
          <a:prstGeom prst="rect">
            <a:avLst/>
          </a:prstGeom>
        </p:spPr>
        <p:txBody>
          <a:bodyPr vert="horz" wrap="square" lIns="0" tIns="12700" rIns="0" bIns="0" rtlCol="0">
            <a:spAutoFit/>
          </a:bodyPr>
          <a:lstStyle/>
          <a:p>
            <a:pPr marL="354965" indent="-342265">
              <a:lnSpc>
                <a:spcPct val="100000"/>
              </a:lnSpc>
              <a:spcBef>
                <a:spcPts val="100"/>
              </a:spcBef>
              <a:buFont typeface="Arial MT"/>
              <a:buChar char="•"/>
              <a:tabLst>
                <a:tab pos="354965" algn="l"/>
              </a:tabLst>
            </a:pPr>
            <a:r>
              <a:rPr sz="2400" dirty="0">
                <a:latin typeface="Calibri"/>
                <a:cs typeface="Calibri"/>
              </a:rPr>
              <a:t>Installer</a:t>
            </a:r>
            <a:r>
              <a:rPr sz="2400" spc="-85" dirty="0">
                <a:latin typeface="Calibri"/>
                <a:cs typeface="Calibri"/>
              </a:rPr>
              <a:t> </a:t>
            </a:r>
            <a:r>
              <a:rPr sz="2400" spc="-25" dirty="0" smtClean="0">
                <a:latin typeface="Calibri"/>
                <a:cs typeface="Calibri"/>
              </a:rPr>
              <a:t>GIT</a:t>
            </a:r>
            <a:r>
              <a:rPr lang="fr-FR" sz="2400" spc="-25" dirty="0" smtClean="0">
                <a:solidFill>
                  <a:schemeClr val="accent1"/>
                </a:solidFill>
                <a:latin typeface="Calibri"/>
                <a:cs typeface="Calibri"/>
              </a:rPr>
              <a:t>:  </a:t>
            </a:r>
            <a:r>
              <a:rPr lang="fr-FR" sz="2400" spc="-25" dirty="0" err="1" smtClean="0">
                <a:solidFill>
                  <a:schemeClr val="accent1"/>
                </a:solidFill>
                <a:latin typeface="Calibri"/>
                <a:cs typeface="Calibri"/>
              </a:rPr>
              <a:t>sudo</a:t>
            </a:r>
            <a:r>
              <a:rPr lang="fr-FR" sz="2400" spc="-25" dirty="0" smtClean="0">
                <a:solidFill>
                  <a:schemeClr val="accent1"/>
                </a:solidFill>
                <a:latin typeface="Calibri"/>
                <a:cs typeface="Calibri"/>
              </a:rPr>
              <a:t> </a:t>
            </a:r>
            <a:r>
              <a:rPr lang="fr-FR" sz="2400" spc="-25" dirty="0" err="1" smtClean="0">
                <a:solidFill>
                  <a:schemeClr val="accent1"/>
                </a:solidFill>
                <a:latin typeface="Calibri"/>
                <a:cs typeface="Calibri"/>
              </a:rPr>
              <a:t>apt-get</a:t>
            </a:r>
            <a:r>
              <a:rPr lang="fr-FR" sz="2400" spc="-25" dirty="0" smtClean="0">
                <a:solidFill>
                  <a:schemeClr val="accent1"/>
                </a:solidFill>
                <a:latin typeface="Calibri"/>
                <a:cs typeface="Calibri"/>
              </a:rPr>
              <a:t> </a:t>
            </a:r>
            <a:r>
              <a:rPr lang="fr-FR" sz="2400" spc="-25" dirty="0" err="1" smtClean="0">
                <a:solidFill>
                  <a:schemeClr val="accent1"/>
                </a:solidFill>
                <a:latin typeface="Calibri"/>
                <a:cs typeface="Calibri"/>
              </a:rPr>
              <a:t>install</a:t>
            </a:r>
            <a:r>
              <a:rPr lang="fr-FR" sz="2400" spc="-25" dirty="0" smtClean="0">
                <a:solidFill>
                  <a:schemeClr val="accent1"/>
                </a:solidFill>
                <a:latin typeface="Calibri"/>
                <a:cs typeface="Calibri"/>
              </a:rPr>
              <a:t> git -y</a:t>
            </a:r>
            <a:endParaRPr sz="2400" dirty="0">
              <a:solidFill>
                <a:schemeClr val="accent1"/>
              </a:solidFill>
              <a:latin typeface="Calibri"/>
              <a:cs typeface="Calibri"/>
            </a:endParaRPr>
          </a:p>
        </p:txBody>
      </p:sp>
      <p:sp>
        <p:nvSpPr>
          <p:cNvPr id="8" name="object 8"/>
          <p:cNvSpPr txBox="1"/>
          <p:nvPr/>
        </p:nvSpPr>
        <p:spPr>
          <a:xfrm>
            <a:off x="520700" y="4343400"/>
            <a:ext cx="9690100" cy="382156"/>
          </a:xfrm>
          <a:prstGeom prst="rect">
            <a:avLst/>
          </a:prstGeom>
        </p:spPr>
        <p:txBody>
          <a:bodyPr vert="horz" wrap="square" lIns="0" tIns="12700" rIns="0" bIns="0" rtlCol="0">
            <a:spAutoFit/>
          </a:bodyPr>
          <a:lstStyle/>
          <a:p>
            <a:pPr marL="354965" indent="-342265">
              <a:lnSpc>
                <a:spcPct val="100000"/>
              </a:lnSpc>
              <a:spcBef>
                <a:spcPts val="100"/>
              </a:spcBef>
              <a:buFont typeface="Arial MT"/>
              <a:buChar char="•"/>
              <a:tabLst>
                <a:tab pos="354965" algn="l"/>
              </a:tabLst>
            </a:pPr>
            <a:r>
              <a:rPr sz="2400" dirty="0">
                <a:latin typeface="Calibri"/>
                <a:cs typeface="Calibri"/>
              </a:rPr>
              <a:t>Vérifier</a:t>
            </a:r>
            <a:r>
              <a:rPr sz="2400" spc="-50" dirty="0">
                <a:latin typeface="Calibri"/>
                <a:cs typeface="Calibri"/>
              </a:rPr>
              <a:t> </a:t>
            </a:r>
            <a:r>
              <a:rPr sz="2400" dirty="0">
                <a:latin typeface="Calibri"/>
                <a:cs typeface="Calibri"/>
              </a:rPr>
              <a:t>que</a:t>
            </a:r>
            <a:r>
              <a:rPr sz="2400" spc="-45" dirty="0">
                <a:latin typeface="Calibri"/>
                <a:cs typeface="Calibri"/>
              </a:rPr>
              <a:t> </a:t>
            </a:r>
            <a:r>
              <a:rPr sz="2400" dirty="0">
                <a:latin typeface="Calibri"/>
                <a:cs typeface="Calibri"/>
              </a:rPr>
              <a:t>GIT</a:t>
            </a:r>
            <a:r>
              <a:rPr sz="2400" spc="-50" dirty="0">
                <a:latin typeface="Calibri"/>
                <a:cs typeface="Calibri"/>
              </a:rPr>
              <a:t> </a:t>
            </a:r>
            <a:r>
              <a:rPr sz="2400" spc="-25" dirty="0" err="1" smtClean="0">
                <a:latin typeface="Calibri"/>
                <a:cs typeface="Calibri"/>
              </a:rPr>
              <a:t>est</a:t>
            </a:r>
            <a:r>
              <a:rPr lang="fr-FR" sz="2400" spc="-25" dirty="0" smtClean="0">
                <a:latin typeface="Calibri"/>
                <a:cs typeface="Calibri"/>
              </a:rPr>
              <a:t> bien installé:  </a:t>
            </a:r>
            <a:r>
              <a:rPr lang="fr-FR" sz="2400" spc="-25" dirty="0" smtClean="0">
                <a:solidFill>
                  <a:schemeClr val="accent1"/>
                </a:solidFill>
                <a:latin typeface="Calibri"/>
                <a:cs typeface="Calibri"/>
              </a:rPr>
              <a:t>git --version</a:t>
            </a:r>
            <a:endParaRPr sz="2400" dirty="0">
              <a:solidFill>
                <a:schemeClr val="accent1"/>
              </a:solidFill>
              <a:latin typeface="Calibri"/>
              <a:cs typeface="Calibri"/>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dirty="0"/>
              <a:t>Configuration</a:t>
            </a:r>
            <a:r>
              <a:rPr spc="-5" dirty="0"/>
              <a:t> </a:t>
            </a:r>
            <a:r>
              <a:rPr dirty="0"/>
              <a:t>de</a:t>
            </a:r>
            <a:r>
              <a:rPr spc="-5" dirty="0"/>
              <a:t> </a:t>
            </a:r>
            <a:r>
              <a:rPr dirty="0"/>
              <a:t>GIT</a:t>
            </a:r>
            <a:r>
              <a:rPr spc="-10" dirty="0"/>
              <a:t> </a:t>
            </a:r>
            <a:r>
              <a:rPr dirty="0"/>
              <a:t>sous </a:t>
            </a:r>
            <a:r>
              <a:rPr spc="-25" dirty="0"/>
              <a:t>WSL</a:t>
            </a:r>
          </a:p>
        </p:txBody>
      </p:sp>
      <p:sp>
        <p:nvSpPr>
          <p:cNvPr id="4" name="object 4"/>
          <p:cNvSpPr txBox="1"/>
          <p:nvPr/>
        </p:nvSpPr>
        <p:spPr>
          <a:xfrm>
            <a:off x="520700" y="1034541"/>
            <a:ext cx="7861300" cy="382156"/>
          </a:xfrm>
          <a:prstGeom prst="rect">
            <a:avLst/>
          </a:prstGeom>
        </p:spPr>
        <p:txBody>
          <a:bodyPr vert="horz" wrap="square" lIns="0" tIns="12700" rIns="0" bIns="0" rtlCol="0">
            <a:spAutoFit/>
          </a:bodyPr>
          <a:lstStyle/>
          <a:p>
            <a:pPr marL="354965" indent="-342265">
              <a:lnSpc>
                <a:spcPct val="100000"/>
              </a:lnSpc>
              <a:spcBef>
                <a:spcPts val="100"/>
              </a:spcBef>
              <a:buFont typeface="Arial MT"/>
              <a:buChar char="•"/>
              <a:tabLst>
                <a:tab pos="354965" algn="l"/>
              </a:tabLst>
            </a:pPr>
            <a:r>
              <a:rPr sz="2400" dirty="0">
                <a:latin typeface="Calibri"/>
                <a:cs typeface="Calibri"/>
              </a:rPr>
              <a:t>Vérifier</a:t>
            </a:r>
            <a:r>
              <a:rPr sz="2400" spc="-45" dirty="0">
                <a:latin typeface="Calibri"/>
                <a:cs typeface="Calibri"/>
              </a:rPr>
              <a:t> </a:t>
            </a:r>
            <a:r>
              <a:rPr sz="2400" dirty="0">
                <a:latin typeface="Calibri"/>
                <a:cs typeface="Calibri"/>
              </a:rPr>
              <a:t>que</a:t>
            </a:r>
            <a:r>
              <a:rPr sz="2400" spc="-45" dirty="0">
                <a:latin typeface="Calibri"/>
                <a:cs typeface="Calibri"/>
              </a:rPr>
              <a:t> </a:t>
            </a:r>
            <a:r>
              <a:rPr sz="2400" dirty="0">
                <a:latin typeface="Calibri"/>
                <a:cs typeface="Calibri"/>
              </a:rPr>
              <a:t>GIT</a:t>
            </a:r>
            <a:r>
              <a:rPr sz="2400" spc="-45" dirty="0">
                <a:latin typeface="Calibri"/>
                <a:cs typeface="Calibri"/>
              </a:rPr>
              <a:t> </a:t>
            </a:r>
            <a:r>
              <a:rPr sz="2400" dirty="0">
                <a:latin typeface="Calibri"/>
                <a:cs typeface="Calibri"/>
              </a:rPr>
              <a:t>est</a:t>
            </a:r>
            <a:r>
              <a:rPr sz="2400" spc="-50" dirty="0">
                <a:latin typeface="Calibri"/>
                <a:cs typeface="Calibri"/>
              </a:rPr>
              <a:t> </a:t>
            </a:r>
            <a:r>
              <a:rPr sz="2400" dirty="0" err="1">
                <a:latin typeface="Calibri"/>
                <a:cs typeface="Calibri"/>
              </a:rPr>
              <a:t>correctement</a:t>
            </a:r>
            <a:r>
              <a:rPr sz="2400" spc="-80" dirty="0">
                <a:latin typeface="Calibri"/>
                <a:cs typeface="Calibri"/>
              </a:rPr>
              <a:t> </a:t>
            </a:r>
            <a:r>
              <a:rPr sz="2400" spc="-10" dirty="0" err="1" smtClean="0">
                <a:latin typeface="Calibri"/>
                <a:cs typeface="Calibri"/>
              </a:rPr>
              <a:t>installé</a:t>
            </a:r>
            <a:r>
              <a:rPr lang="fr-FR" sz="2400" spc="-10" dirty="0" smtClean="0">
                <a:latin typeface="Calibri"/>
                <a:cs typeface="Calibri"/>
              </a:rPr>
              <a:t>:  </a:t>
            </a:r>
            <a:r>
              <a:rPr lang="fr-FR" sz="2400" spc="-10" dirty="0" smtClean="0">
                <a:solidFill>
                  <a:schemeClr val="accent1"/>
                </a:solidFill>
                <a:latin typeface="Calibri"/>
                <a:cs typeface="Calibri"/>
              </a:rPr>
              <a:t>git --</a:t>
            </a:r>
            <a:r>
              <a:rPr lang="fr-FR" sz="2400" spc="-10" dirty="0">
                <a:solidFill>
                  <a:schemeClr val="accent1"/>
                </a:solidFill>
                <a:latin typeface="Calibri"/>
                <a:cs typeface="Calibri"/>
              </a:rPr>
              <a:t>v</a:t>
            </a:r>
            <a:r>
              <a:rPr lang="fr-FR" sz="2400" spc="-10" dirty="0" smtClean="0">
                <a:solidFill>
                  <a:schemeClr val="accent1"/>
                </a:solidFill>
                <a:latin typeface="Calibri"/>
                <a:cs typeface="Calibri"/>
              </a:rPr>
              <a:t>ersion</a:t>
            </a:r>
            <a:endParaRPr sz="2400" dirty="0">
              <a:solidFill>
                <a:schemeClr val="accent1"/>
              </a:solidFill>
              <a:latin typeface="Calibri"/>
              <a:cs typeface="Calibri"/>
            </a:endParaRPr>
          </a:p>
        </p:txBody>
      </p:sp>
      <p:sp>
        <p:nvSpPr>
          <p:cNvPr id="5" name="object 5"/>
          <p:cNvSpPr txBox="1"/>
          <p:nvPr/>
        </p:nvSpPr>
        <p:spPr>
          <a:xfrm>
            <a:off x="520700" y="2582417"/>
            <a:ext cx="11029315" cy="1897955"/>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sz="2400" dirty="0" err="1" smtClean="0">
                <a:latin typeface="Calibri"/>
                <a:cs typeface="Calibri"/>
              </a:rPr>
              <a:t>Définis</a:t>
            </a:r>
            <a:r>
              <a:rPr lang="fr-FR" sz="2400" dirty="0" err="1" smtClean="0">
                <a:latin typeface="Calibri"/>
                <a:cs typeface="Calibri"/>
              </a:rPr>
              <a:t>sez</a:t>
            </a:r>
            <a:r>
              <a:rPr sz="2400" spc="-35" dirty="0" smtClean="0">
                <a:latin typeface="Calibri"/>
                <a:cs typeface="Calibri"/>
              </a:rPr>
              <a:t> </a:t>
            </a:r>
            <a:r>
              <a:rPr sz="2400" dirty="0">
                <a:latin typeface="Calibri"/>
                <a:cs typeface="Calibri"/>
              </a:rPr>
              <a:t>votre</a:t>
            </a:r>
            <a:r>
              <a:rPr sz="2400" spc="-20" dirty="0">
                <a:latin typeface="Calibri"/>
                <a:cs typeface="Calibri"/>
              </a:rPr>
              <a:t> </a:t>
            </a:r>
            <a:r>
              <a:rPr sz="2400" dirty="0">
                <a:latin typeface="Calibri"/>
                <a:cs typeface="Calibri"/>
              </a:rPr>
              <a:t>nom</a:t>
            </a:r>
            <a:r>
              <a:rPr sz="2400" spc="-40" dirty="0">
                <a:latin typeface="Calibri"/>
                <a:cs typeface="Calibri"/>
              </a:rPr>
              <a:t> </a:t>
            </a:r>
            <a:r>
              <a:rPr sz="2400" dirty="0">
                <a:latin typeface="Calibri"/>
                <a:cs typeface="Calibri"/>
              </a:rPr>
              <a:t>d'utilisateur</a:t>
            </a:r>
            <a:r>
              <a:rPr sz="2400" spc="-40" dirty="0">
                <a:latin typeface="Calibri"/>
                <a:cs typeface="Calibri"/>
              </a:rPr>
              <a:t> </a:t>
            </a:r>
            <a:r>
              <a:rPr sz="2400" dirty="0">
                <a:latin typeface="Calibri"/>
                <a:cs typeface="Calibri"/>
              </a:rPr>
              <a:t>et</a:t>
            </a:r>
            <a:r>
              <a:rPr sz="2400" spc="-40" dirty="0">
                <a:latin typeface="Calibri"/>
                <a:cs typeface="Calibri"/>
              </a:rPr>
              <a:t> </a:t>
            </a:r>
            <a:r>
              <a:rPr sz="2400" dirty="0">
                <a:latin typeface="Calibri"/>
                <a:cs typeface="Calibri"/>
              </a:rPr>
              <a:t>votre</a:t>
            </a:r>
            <a:r>
              <a:rPr sz="2400" spc="-30" dirty="0">
                <a:latin typeface="Calibri"/>
                <a:cs typeface="Calibri"/>
              </a:rPr>
              <a:t> </a:t>
            </a:r>
            <a:r>
              <a:rPr sz="2400" dirty="0">
                <a:latin typeface="Calibri"/>
                <a:cs typeface="Calibri"/>
              </a:rPr>
              <a:t>adresse</a:t>
            </a:r>
            <a:r>
              <a:rPr sz="2400" spc="-30" dirty="0">
                <a:latin typeface="Calibri"/>
                <a:cs typeface="Calibri"/>
              </a:rPr>
              <a:t> </a:t>
            </a:r>
            <a:r>
              <a:rPr sz="2400" spc="-20" dirty="0">
                <a:latin typeface="Calibri"/>
                <a:cs typeface="Calibri"/>
              </a:rPr>
              <a:t>e-</a:t>
            </a:r>
            <a:r>
              <a:rPr sz="2400" dirty="0">
                <a:latin typeface="Calibri"/>
                <a:cs typeface="Calibri"/>
              </a:rPr>
              <a:t>mail</a:t>
            </a:r>
            <a:r>
              <a:rPr sz="2400" spc="-40" dirty="0">
                <a:latin typeface="Calibri"/>
                <a:cs typeface="Calibri"/>
              </a:rPr>
              <a:t> </a:t>
            </a:r>
            <a:r>
              <a:rPr sz="2400" dirty="0">
                <a:latin typeface="Calibri"/>
                <a:cs typeface="Calibri"/>
              </a:rPr>
              <a:t>avec</a:t>
            </a:r>
            <a:r>
              <a:rPr sz="2400" spc="-25" dirty="0">
                <a:latin typeface="Calibri"/>
                <a:cs typeface="Calibri"/>
              </a:rPr>
              <a:t> </a:t>
            </a:r>
            <a:r>
              <a:rPr sz="2400" dirty="0">
                <a:latin typeface="Calibri"/>
                <a:cs typeface="Calibri"/>
              </a:rPr>
              <a:t>la</a:t>
            </a:r>
            <a:r>
              <a:rPr sz="2400" spc="-35" dirty="0">
                <a:latin typeface="Calibri"/>
                <a:cs typeface="Calibri"/>
              </a:rPr>
              <a:t> </a:t>
            </a:r>
            <a:r>
              <a:rPr sz="2400" dirty="0">
                <a:latin typeface="Calibri"/>
                <a:cs typeface="Calibri"/>
              </a:rPr>
              <a:t>commande</a:t>
            </a:r>
            <a:r>
              <a:rPr sz="2400" spc="-50" dirty="0">
                <a:latin typeface="Calibri"/>
                <a:cs typeface="Calibri"/>
              </a:rPr>
              <a:t> </a:t>
            </a:r>
            <a:r>
              <a:rPr sz="2400" dirty="0">
                <a:latin typeface="Calibri"/>
                <a:cs typeface="Calibri"/>
              </a:rPr>
              <a:t>git</a:t>
            </a:r>
            <a:r>
              <a:rPr sz="2400" spc="-50" dirty="0">
                <a:latin typeface="Calibri"/>
                <a:cs typeface="Calibri"/>
              </a:rPr>
              <a:t> </a:t>
            </a:r>
            <a:r>
              <a:rPr sz="2400" spc="-10" dirty="0">
                <a:latin typeface="Calibri"/>
                <a:cs typeface="Calibri"/>
              </a:rPr>
              <a:t>config </a:t>
            </a:r>
            <a:r>
              <a:rPr sz="2400" dirty="0">
                <a:latin typeface="Calibri"/>
                <a:cs typeface="Calibri"/>
              </a:rPr>
              <a:t>pour</a:t>
            </a:r>
            <a:r>
              <a:rPr sz="2400" spc="-40" dirty="0">
                <a:latin typeface="Calibri"/>
                <a:cs typeface="Calibri"/>
              </a:rPr>
              <a:t> </a:t>
            </a:r>
            <a:r>
              <a:rPr sz="2400" dirty="0">
                <a:latin typeface="Calibri"/>
                <a:cs typeface="Calibri"/>
              </a:rPr>
              <a:t>éviter</a:t>
            </a:r>
            <a:r>
              <a:rPr sz="2400" spc="-40" dirty="0">
                <a:latin typeface="Calibri"/>
                <a:cs typeface="Calibri"/>
              </a:rPr>
              <a:t> </a:t>
            </a:r>
            <a:r>
              <a:rPr sz="2400" dirty="0">
                <a:latin typeface="Calibri"/>
                <a:cs typeface="Calibri"/>
              </a:rPr>
              <a:t>d'être</a:t>
            </a:r>
            <a:r>
              <a:rPr sz="2400" spc="-50" dirty="0">
                <a:latin typeface="Calibri"/>
                <a:cs typeface="Calibri"/>
              </a:rPr>
              <a:t> </a:t>
            </a:r>
            <a:r>
              <a:rPr sz="2400" dirty="0">
                <a:latin typeface="Calibri"/>
                <a:cs typeface="Calibri"/>
              </a:rPr>
              <a:t>invité</a:t>
            </a:r>
            <a:r>
              <a:rPr sz="2400" spc="-35" dirty="0">
                <a:latin typeface="Calibri"/>
                <a:cs typeface="Calibri"/>
              </a:rPr>
              <a:t> </a:t>
            </a:r>
            <a:r>
              <a:rPr sz="2400" dirty="0">
                <a:latin typeface="Calibri"/>
                <a:cs typeface="Calibri"/>
              </a:rPr>
              <a:t>à</a:t>
            </a:r>
            <a:r>
              <a:rPr sz="2400" spc="-45" dirty="0">
                <a:latin typeface="Calibri"/>
                <a:cs typeface="Calibri"/>
              </a:rPr>
              <a:t> </a:t>
            </a:r>
            <a:r>
              <a:rPr sz="2400" dirty="0">
                <a:latin typeface="Calibri"/>
                <a:cs typeface="Calibri"/>
              </a:rPr>
              <a:t>le</a:t>
            </a:r>
            <a:r>
              <a:rPr sz="2400" spc="-55" dirty="0">
                <a:latin typeface="Calibri"/>
                <a:cs typeface="Calibri"/>
              </a:rPr>
              <a:t> </a:t>
            </a:r>
            <a:r>
              <a:rPr sz="2400" dirty="0">
                <a:latin typeface="Calibri"/>
                <a:cs typeface="Calibri"/>
              </a:rPr>
              <a:t>faire</a:t>
            </a:r>
            <a:r>
              <a:rPr sz="2400" spc="-30" dirty="0">
                <a:latin typeface="Calibri"/>
                <a:cs typeface="Calibri"/>
              </a:rPr>
              <a:t> </a:t>
            </a:r>
            <a:r>
              <a:rPr sz="2400" dirty="0">
                <a:latin typeface="Calibri"/>
                <a:cs typeface="Calibri"/>
              </a:rPr>
              <a:t>à</a:t>
            </a:r>
            <a:r>
              <a:rPr sz="2400" spc="-45" dirty="0">
                <a:latin typeface="Calibri"/>
                <a:cs typeface="Calibri"/>
              </a:rPr>
              <a:t> </a:t>
            </a:r>
            <a:r>
              <a:rPr sz="2400" dirty="0">
                <a:latin typeface="Calibri"/>
                <a:cs typeface="Calibri"/>
              </a:rPr>
              <a:t>chaque</a:t>
            </a:r>
            <a:r>
              <a:rPr sz="2400" spc="-50" dirty="0">
                <a:latin typeface="Calibri"/>
                <a:cs typeface="Calibri"/>
              </a:rPr>
              <a:t> </a:t>
            </a:r>
            <a:r>
              <a:rPr sz="2400" dirty="0">
                <a:latin typeface="Calibri"/>
                <a:cs typeface="Calibri"/>
              </a:rPr>
              <a:t>action</a:t>
            </a:r>
            <a:r>
              <a:rPr sz="2400" spc="-60" dirty="0">
                <a:latin typeface="Calibri"/>
                <a:cs typeface="Calibri"/>
              </a:rPr>
              <a:t> </a:t>
            </a:r>
            <a:r>
              <a:rPr sz="2400" spc="-50" dirty="0" smtClean="0">
                <a:latin typeface="Calibri"/>
                <a:cs typeface="Calibri"/>
              </a:rPr>
              <a:t>:</a:t>
            </a:r>
            <a:endParaRPr lang="fr-FR" sz="2400" spc="-50" dirty="0" smtClean="0">
              <a:latin typeface="Calibri"/>
              <a:cs typeface="Calibri"/>
            </a:endParaRPr>
          </a:p>
          <a:p>
            <a:pPr marL="12700" marR="5080">
              <a:lnSpc>
                <a:spcPct val="100000"/>
              </a:lnSpc>
              <a:spcBef>
                <a:spcPts val="100"/>
              </a:spcBef>
              <a:tabLst>
                <a:tab pos="355600" algn="l"/>
              </a:tabLst>
            </a:pPr>
            <a:r>
              <a:rPr lang="fr-FR" sz="2400" spc="-50" dirty="0" smtClean="0">
                <a:latin typeface="Calibri"/>
                <a:cs typeface="Calibri"/>
              </a:rPr>
              <a:t>		</a:t>
            </a:r>
            <a:r>
              <a:rPr lang="fr-FR" sz="2400" spc="-50" dirty="0" smtClean="0">
                <a:solidFill>
                  <a:schemeClr val="accent1"/>
                </a:solidFill>
                <a:latin typeface="Calibri"/>
                <a:cs typeface="Calibri"/>
              </a:rPr>
              <a:t>git config --global user.name «</a:t>
            </a:r>
            <a:r>
              <a:rPr lang="fr-FR" sz="2400" spc="-50" dirty="0" err="1" smtClean="0">
                <a:solidFill>
                  <a:schemeClr val="accent1"/>
                </a:solidFill>
                <a:latin typeface="Calibri"/>
                <a:cs typeface="Calibri"/>
              </a:rPr>
              <a:t>name</a:t>
            </a:r>
            <a:r>
              <a:rPr lang="fr-FR" sz="2400" spc="-50" dirty="0" smtClean="0">
                <a:solidFill>
                  <a:schemeClr val="accent1"/>
                </a:solidFill>
                <a:latin typeface="Calibri"/>
                <a:cs typeface="Calibri"/>
              </a:rPr>
              <a:t> »</a:t>
            </a:r>
          </a:p>
          <a:p>
            <a:pPr marL="12700" marR="5080">
              <a:spcBef>
                <a:spcPts val="100"/>
              </a:spcBef>
              <a:tabLst>
                <a:tab pos="355600" algn="l"/>
              </a:tabLst>
            </a:pPr>
            <a:r>
              <a:rPr lang="fr-FR" sz="2400" spc="-50" dirty="0">
                <a:solidFill>
                  <a:schemeClr val="accent1"/>
                </a:solidFill>
                <a:latin typeface="Calibri"/>
                <a:cs typeface="Calibri"/>
              </a:rPr>
              <a:t>	</a:t>
            </a:r>
            <a:r>
              <a:rPr lang="fr-FR" sz="2400" spc="-50" dirty="0" smtClean="0">
                <a:solidFill>
                  <a:schemeClr val="accent1"/>
                </a:solidFill>
                <a:latin typeface="Calibri"/>
                <a:cs typeface="Calibri"/>
              </a:rPr>
              <a:t>	git config --global </a:t>
            </a:r>
            <a:r>
              <a:rPr lang="fr-FR" sz="2400" spc="-50" dirty="0" err="1" smtClean="0">
                <a:solidFill>
                  <a:schemeClr val="accent1"/>
                </a:solidFill>
                <a:latin typeface="Calibri"/>
                <a:cs typeface="Calibri"/>
              </a:rPr>
              <a:t>user.email</a:t>
            </a:r>
            <a:r>
              <a:rPr lang="fr-FR" sz="2400" spc="-50" dirty="0" smtClean="0">
                <a:solidFill>
                  <a:schemeClr val="accent1"/>
                </a:solidFill>
                <a:latin typeface="Calibri"/>
                <a:cs typeface="Calibri"/>
              </a:rPr>
              <a:t> «email »</a:t>
            </a:r>
          </a:p>
          <a:p>
            <a:pPr marL="355600" marR="5080" indent="-342900">
              <a:lnSpc>
                <a:spcPct val="100000"/>
              </a:lnSpc>
              <a:spcBef>
                <a:spcPts val="100"/>
              </a:spcBef>
              <a:buFont typeface="Arial MT"/>
              <a:buChar char="•"/>
              <a:tabLst>
                <a:tab pos="355600" algn="l"/>
              </a:tabLst>
            </a:pPr>
            <a:endParaRPr sz="2400" dirty="0">
              <a:latin typeface="Calibri"/>
              <a:cs typeface="Calibri"/>
            </a:endParaRPr>
          </a:p>
        </p:txBody>
      </p:sp>
      <p:sp>
        <p:nvSpPr>
          <p:cNvPr id="7" name="object 7"/>
          <p:cNvSpPr txBox="1"/>
          <p:nvPr/>
        </p:nvSpPr>
        <p:spPr>
          <a:xfrm>
            <a:off x="520700" y="4802885"/>
            <a:ext cx="9161145" cy="391160"/>
          </a:xfrm>
          <a:prstGeom prst="rect">
            <a:avLst/>
          </a:prstGeom>
        </p:spPr>
        <p:txBody>
          <a:bodyPr vert="horz" wrap="square" lIns="0" tIns="12700" rIns="0" bIns="0" rtlCol="0">
            <a:spAutoFit/>
          </a:bodyPr>
          <a:lstStyle/>
          <a:p>
            <a:pPr marL="354965" indent="-342265">
              <a:lnSpc>
                <a:spcPct val="100000"/>
              </a:lnSpc>
              <a:spcBef>
                <a:spcPts val="100"/>
              </a:spcBef>
              <a:buFont typeface="Arial MT"/>
              <a:buChar char="•"/>
              <a:tabLst>
                <a:tab pos="354965" algn="l"/>
              </a:tabLst>
            </a:pPr>
            <a:r>
              <a:rPr lang="fr-FR" sz="2400" dirty="0" smtClean="0">
                <a:latin typeface="Calibri"/>
                <a:cs typeface="Calibri"/>
              </a:rPr>
              <a:t>A</a:t>
            </a:r>
            <a:r>
              <a:rPr sz="2400" dirty="0" err="1" smtClean="0">
                <a:latin typeface="Calibri"/>
                <a:cs typeface="Calibri"/>
              </a:rPr>
              <a:t>ffiche</a:t>
            </a:r>
            <a:r>
              <a:rPr lang="fr-FR" sz="2400" dirty="0">
                <a:latin typeface="Calibri"/>
                <a:cs typeface="Calibri"/>
              </a:rPr>
              <a:t>r</a:t>
            </a:r>
            <a:r>
              <a:rPr sz="2400" spc="-25" dirty="0" smtClean="0">
                <a:latin typeface="Calibri"/>
                <a:cs typeface="Calibri"/>
              </a:rPr>
              <a:t> </a:t>
            </a:r>
            <a:r>
              <a:rPr sz="2400" dirty="0">
                <a:latin typeface="Calibri"/>
                <a:cs typeface="Calibri"/>
              </a:rPr>
              <a:t>toutes</a:t>
            </a:r>
            <a:r>
              <a:rPr sz="2400" spc="-40" dirty="0">
                <a:latin typeface="Calibri"/>
                <a:cs typeface="Calibri"/>
              </a:rPr>
              <a:t> </a:t>
            </a:r>
            <a:r>
              <a:rPr sz="2400" dirty="0">
                <a:latin typeface="Calibri"/>
                <a:cs typeface="Calibri"/>
              </a:rPr>
              <a:t>les</a:t>
            </a:r>
            <a:r>
              <a:rPr sz="2400" spc="-30" dirty="0">
                <a:latin typeface="Calibri"/>
                <a:cs typeface="Calibri"/>
              </a:rPr>
              <a:t> </a:t>
            </a:r>
            <a:r>
              <a:rPr sz="2400" dirty="0">
                <a:latin typeface="Calibri"/>
                <a:cs typeface="Calibri"/>
              </a:rPr>
              <a:t>configurations</a:t>
            </a:r>
            <a:r>
              <a:rPr sz="2400" spc="-45" dirty="0">
                <a:latin typeface="Calibri"/>
                <a:cs typeface="Calibri"/>
              </a:rPr>
              <a:t> </a:t>
            </a:r>
            <a:r>
              <a:rPr sz="2400" dirty="0">
                <a:latin typeface="Calibri"/>
                <a:cs typeface="Calibri"/>
              </a:rPr>
              <a:t>Git</a:t>
            </a:r>
            <a:r>
              <a:rPr sz="2400" spc="-30" dirty="0">
                <a:latin typeface="Calibri"/>
                <a:cs typeface="Calibri"/>
              </a:rPr>
              <a:t> </a:t>
            </a:r>
            <a:r>
              <a:rPr sz="2400" dirty="0">
                <a:latin typeface="Calibri"/>
                <a:cs typeface="Calibri"/>
              </a:rPr>
              <a:t>de</a:t>
            </a:r>
            <a:r>
              <a:rPr sz="2400" spc="-25" dirty="0">
                <a:latin typeface="Calibri"/>
                <a:cs typeface="Calibri"/>
              </a:rPr>
              <a:t> </a:t>
            </a:r>
            <a:r>
              <a:rPr sz="2400" dirty="0" err="1">
                <a:latin typeface="Calibri"/>
                <a:cs typeface="Calibri"/>
              </a:rPr>
              <a:t>votre</a:t>
            </a:r>
            <a:r>
              <a:rPr sz="2400" spc="-25" dirty="0">
                <a:latin typeface="Calibri"/>
                <a:cs typeface="Calibri"/>
              </a:rPr>
              <a:t> </a:t>
            </a:r>
            <a:r>
              <a:rPr sz="2400" spc="-10" dirty="0" err="1" smtClean="0">
                <a:latin typeface="Calibri"/>
                <a:cs typeface="Calibri"/>
              </a:rPr>
              <a:t>système</a:t>
            </a:r>
            <a:r>
              <a:rPr lang="fr-FR" sz="2400" spc="-10" dirty="0" smtClean="0">
                <a:latin typeface="Calibri"/>
                <a:cs typeface="Calibri"/>
              </a:rPr>
              <a:t>:  </a:t>
            </a:r>
            <a:r>
              <a:rPr lang="fr-FR" sz="2400" spc="-10" dirty="0" smtClean="0">
                <a:solidFill>
                  <a:schemeClr val="accent1"/>
                </a:solidFill>
                <a:latin typeface="Calibri"/>
                <a:cs typeface="Calibri"/>
              </a:rPr>
              <a:t>git config --</a:t>
            </a:r>
            <a:r>
              <a:rPr lang="fr-FR" sz="2400" spc="-10" dirty="0" err="1" smtClean="0">
                <a:solidFill>
                  <a:schemeClr val="accent1"/>
                </a:solidFill>
                <a:latin typeface="Calibri"/>
                <a:cs typeface="Calibri"/>
              </a:rPr>
              <a:t>list</a:t>
            </a:r>
            <a:endParaRPr sz="2400" dirty="0">
              <a:solidFill>
                <a:schemeClr val="accent1"/>
              </a:solidFill>
              <a:latin typeface="Calibri"/>
              <a:cs typeface="Calibri"/>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dirty="0"/>
              <a:t>Génération</a:t>
            </a:r>
            <a:r>
              <a:rPr spc="-60" dirty="0"/>
              <a:t> </a:t>
            </a:r>
            <a:r>
              <a:rPr dirty="0"/>
              <a:t>du</a:t>
            </a:r>
            <a:r>
              <a:rPr spc="-60" dirty="0"/>
              <a:t> </a:t>
            </a:r>
            <a:r>
              <a:rPr dirty="0"/>
              <a:t>token</a:t>
            </a:r>
            <a:r>
              <a:rPr spc="-60" dirty="0"/>
              <a:t> </a:t>
            </a:r>
            <a:r>
              <a:rPr dirty="0"/>
              <a:t>sur</a:t>
            </a:r>
            <a:r>
              <a:rPr spc="-60" dirty="0"/>
              <a:t> </a:t>
            </a:r>
            <a:r>
              <a:rPr spc="-10" dirty="0"/>
              <a:t>github</a:t>
            </a:r>
          </a:p>
        </p:txBody>
      </p:sp>
      <p:sp>
        <p:nvSpPr>
          <p:cNvPr id="3" name="object 3"/>
          <p:cNvSpPr txBox="1"/>
          <p:nvPr/>
        </p:nvSpPr>
        <p:spPr>
          <a:xfrm>
            <a:off x="520700" y="1340561"/>
            <a:ext cx="11484610" cy="3317240"/>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a:cs typeface="Calibri"/>
              </a:rPr>
              <a:t>Pour</a:t>
            </a:r>
            <a:r>
              <a:rPr sz="2400" spc="-40" dirty="0">
                <a:latin typeface="Calibri"/>
                <a:cs typeface="Calibri"/>
              </a:rPr>
              <a:t> </a:t>
            </a:r>
            <a:r>
              <a:rPr sz="2400" dirty="0">
                <a:latin typeface="Calibri"/>
                <a:cs typeface="Calibri"/>
              </a:rPr>
              <a:t>générer</a:t>
            </a:r>
            <a:r>
              <a:rPr sz="2400" spc="-45" dirty="0">
                <a:latin typeface="Calibri"/>
                <a:cs typeface="Calibri"/>
              </a:rPr>
              <a:t> </a:t>
            </a:r>
            <a:r>
              <a:rPr sz="2400" dirty="0">
                <a:latin typeface="Calibri"/>
                <a:cs typeface="Calibri"/>
              </a:rPr>
              <a:t>un</a:t>
            </a:r>
            <a:r>
              <a:rPr sz="2400" spc="-40" dirty="0">
                <a:latin typeface="Calibri"/>
                <a:cs typeface="Calibri"/>
              </a:rPr>
              <a:t> </a:t>
            </a:r>
            <a:r>
              <a:rPr sz="2400" dirty="0">
                <a:latin typeface="Calibri"/>
                <a:cs typeface="Calibri"/>
              </a:rPr>
              <a:t>jeton</a:t>
            </a:r>
            <a:r>
              <a:rPr sz="2400" spc="-55" dirty="0">
                <a:latin typeface="Calibri"/>
                <a:cs typeface="Calibri"/>
              </a:rPr>
              <a:t> </a:t>
            </a:r>
            <a:r>
              <a:rPr sz="2400" dirty="0">
                <a:latin typeface="Calibri"/>
                <a:cs typeface="Calibri"/>
              </a:rPr>
              <a:t>d'accès</a:t>
            </a:r>
            <a:r>
              <a:rPr sz="2400" spc="-55" dirty="0">
                <a:latin typeface="Calibri"/>
                <a:cs typeface="Calibri"/>
              </a:rPr>
              <a:t> </a:t>
            </a:r>
            <a:r>
              <a:rPr sz="2400" dirty="0">
                <a:latin typeface="Calibri"/>
                <a:cs typeface="Calibri"/>
              </a:rPr>
              <a:t>personnel</a:t>
            </a:r>
            <a:r>
              <a:rPr sz="2400" spc="-40" dirty="0">
                <a:latin typeface="Calibri"/>
                <a:cs typeface="Calibri"/>
              </a:rPr>
              <a:t> </a:t>
            </a:r>
            <a:r>
              <a:rPr sz="2400" dirty="0">
                <a:latin typeface="Calibri"/>
                <a:cs typeface="Calibri"/>
              </a:rPr>
              <a:t>(PAT)</a:t>
            </a:r>
            <a:r>
              <a:rPr sz="2400" spc="-40" dirty="0">
                <a:latin typeface="Calibri"/>
                <a:cs typeface="Calibri"/>
              </a:rPr>
              <a:t> </a:t>
            </a:r>
            <a:r>
              <a:rPr sz="2400" dirty="0">
                <a:latin typeface="Calibri"/>
                <a:cs typeface="Calibri"/>
              </a:rPr>
              <a:t>sur</a:t>
            </a:r>
            <a:r>
              <a:rPr sz="2400" spc="-35" dirty="0">
                <a:latin typeface="Calibri"/>
                <a:cs typeface="Calibri"/>
              </a:rPr>
              <a:t> </a:t>
            </a:r>
            <a:r>
              <a:rPr sz="2400" dirty="0">
                <a:latin typeface="Calibri"/>
                <a:cs typeface="Calibri"/>
              </a:rPr>
              <a:t>GitHub</a:t>
            </a:r>
            <a:r>
              <a:rPr sz="2400" spc="-55" dirty="0">
                <a:latin typeface="Calibri"/>
                <a:cs typeface="Calibri"/>
              </a:rPr>
              <a:t> </a:t>
            </a:r>
            <a:r>
              <a:rPr sz="2400" dirty="0">
                <a:latin typeface="Calibri"/>
                <a:cs typeface="Calibri"/>
              </a:rPr>
              <a:t>et</a:t>
            </a:r>
            <a:r>
              <a:rPr sz="2400" spc="-35" dirty="0">
                <a:latin typeface="Calibri"/>
                <a:cs typeface="Calibri"/>
              </a:rPr>
              <a:t> </a:t>
            </a:r>
            <a:r>
              <a:rPr sz="2400" dirty="0">
                <a:latin typeface="Calibri"/>
                <a:cs typeface="Calibri"/>
              </a:rPr>
              <a:t>l'utiliser</a:t>
            </a:r>
            <a:r>
              <a:rPr sz="2400" spc="-60" dirty="0">
                <a:latin typeface="Calibri"/>
                <a:cs typeface="Calibri"/>
              </a:rPr>
              <a:t> </a:t>
            </a:r>
            <a:r>
              <a:rPr sz="2400" dirty="0">
                <a:latin typeface="Calibri"/>
                <a:cs typeface="Calibri"/>
              </a:rPr>
              <a:t>pour</a:t>
            </a:r>
            <a:r>
              <a:rPr sz="2400" spc="-30" dirty="0">
                <a:latin typeface="Calibri"/>
                <a:cs typeface="Calibri"/>
              </a:rPr>
              <a:t> </a:t>
            </a:r>
            <a:r>
              <a:rPr sz="2400" dirty="0">
                <a:latin typeface="Calibri"/>
                <a:cs typeface="Calibri"/>
              </a:rPr>
              <a:t>des</a:t>
            </a:r>
            <a:r>
              <a:rPr sz="2400" spc="-40" dirty="0">
                <a:latin typeface="Calibri"/>
                <a:cs typeface="Calibri"/>
              </a:rPr>
              <a:t> </a:t>
            </a:r>
            <a:r>
              <a:rPr sz="2400" dirty="0">
                <a:latin typeface="Calibri"/>
                <a:cs typeface="Calibri"/>
              </a:rPr>
              <a:t>opérations</a:t>
            </a:r>
            <a:r>
              <a:rPr sz="2400" spc="-45" dirty="0">
                <a:latin typeface="Calibri"/>
                <a:cs typeface="Calibri"/>
              </a:rPr>
              <a:t> </a:t>
            </a:r>
            <a:r>
              <a:rPr sz="2400" spc="-25" dirty="0">
                <a:latin typeface="Calibri"/>
                <a:cs typeface="Calibri"/>
              </a:rPr>
              <a:t>de</a:t>
            </a:r>
            <a:endParaRPr sz="2400">
              <a:latin typeface="Calibri"/>
              <a:cs typeface="Calibri"/>
            </a:endParaRPr>
          </a:p>
          <a:p>
            <a:pPr marL="12700">
              <a:lnSpc>
                <a:spcPts val="2875"/>
              </a:lnSpc>
              <a:spcBef>
                <a:spcPts val="5"/>
              </a:spcBef>
            </a:pPr>
            <a:r>
              <a:rPr sz="2400" dirty="0">
                <a:latin typeface="Calibri"/>
                <a:cs typeface="Calibri"/>
              </a:rPr>
              <a:t>push,</a:t>
            </a:r>
            <a:r>
              <a:rPr sz="2400" spc="-45" dirty="0">
                <a:latin typeface="Calibri"/>
                <a:cs typeface="Calibri"/>
              </a:rPr>
              <a:t> </a:t>
            </a:r>
            <a:r>
              <a:rPr sz="2400" dirty="0">
                <a:latin typeface="Calibri"/>
                <a:cs typeface="Calibri"/>
              </a:rPr>
              <a:t>suivez</a:t>
            </a:r>
            <a:r>
              <a:rPr sz="2400" spc="-50" dirty="0">
                <a:latin typeface="Calibri"/>
                <a:cs typeface="Calibri"/>
              </a:rPr>
              <a:t> </a:t>
            </a:r>
            <a:r>
              <a:rPr sz="2400" dirty="0">
                <a:latin typeface="Calibri"/>
                <a:cs typeface="Calibri"/>
              </a:rPr>
              <a:t>ces</a:t>
            </a:r>
            <a:r>
              <a:rPr sz="2400" spc="-50" dirty="0">
                <a:latin typeface="Calibri"/>
                <a:cs typeface="Calibri"/>
              </a:rPr>
              <a:t> </a:t>
            </a:r>
            <a:r>
              <a:rPr sz="2400" dirty="0">
                <a:latin typeface="Calibri"/>
                <a:cs typeface="Calibri"/>
              </a:rPr>
              <a:t>étapes</a:t>
            </a:r>
            <a:r>
              <a:rPr sz="2400" spc="-65" dirty="0">
                <a:latin typeface="Calibri"/>
                <a:cs typeface="Calibri"/>
              </a:rPr>
              <a:t> </a:t>
            </a:r>
            <a:r>
              <a:rPr sz="2400" spc="-50" dirty="0">
                <a:latin typeface="Calibri"/>
                <a:cs typeface="Calibri"/>
              </a:rPr>
              <a:t>:</a:t>
            </a:r>
            <a:endParaRPr sz="2400">
              <a:latin typeface="Calibri"/>
              <a:cs typeface="Calibri"/>
            </a:endParaRPr>
          </a:p>
          <a:p>
            <a:pPr marL="314325" indent="-301625">
              <a:lnSpc>
                <a:spcPts val="2875"/>
              </a:lnSpc>
              <a:buAutoNum type="arabicPeriod"/>
              <a:tabLst>
                <a:tab pos="314325" algn="l"/>
              </a:tabLst>
            </a:pPr>
            <a:r>
              <a:rPr sz="2400" b="1" dirty="0">
                <a:latin typeface="Calibri"/>
                <a:cs typeface="Calibri"/>
              </a:rPr>
              <a:t>Accédez</a:t>
            </a:r>
            <a:r>
              <a:rPr sz="2400" b="1" spc="-70" dirty="0">
                <a:latin typeface="Calibri"/>
                <a:cs typeface="Calibri"/>
              </a:rPr>
              <a:t> </a:t>
            </a:r>
            <a:r>
              <a:rPr sz="2400" b="1" dirty="0">
                <a:latin typeface="Calibri"/>
                <a:cs typeface="Calibri"/>
              </a:rPr>
              <a:t>aux</a:t>
            </a:r>
            <a:r>
              <a:rPr sz="2400" b="1" spc="-45" dirty="0">
                <a:latin typeface="Calibri"/>
                <a:cs typeface="Calibri"/>
              </a:rPr>
              <a:t> </a:t>
            </a:r>
            <a:r>
              <a:rPr sz="2400" b="1" dirty="0">
                <a:latin typeface="Calibri"/>
                <a:cs typeface="Calibri"/>
              </a:rPr>
              <a:t>paramètres</a:t>
            </a:r>
            <a:r>
              <a:rPr sz="2400" b="1" spc="-45" dirty="0">
                <a:latin typeface="Calibri"/>
                <a:cs typeface="Calibri"/>
              </a:rPr>
              <a:t> </a:t>
            </a:r>
            <a:r>
              <a:rPr sz="2400" b="1" dirty="0">
                <a:latin typeface="Calibri"/>
                <a:cs typeface="Calibri"/>
              </a:rPr>
              <a:t>de</a:t>
            </a:r>
            <a:r>
              <a:rPr sz="2400" b="1" spc="-50" dirty="0">
                <a:latin typeface="Calibri"/>
                <a:cs typeface="Calibri"/>
              </a:rPr>
              <a:t> </a:t>
            </a:r>
            <a:r>
              <a:rPr sz="2400" b="1" dirty="0">
                <a:latin typeface="Calibri"/>
                <a:cs typeface="Calibri"/>
              </a:rPr>
              <a:t>votre</a:t>
            </a:r>
            <a:r>
              <a:rPr sz="2400" b="1" spc="-55" dirty="0">
                <a:latin typeface="Calibri"/>
                <a:cs typeface="Calibri"/>
              </a:rPr>
              <a:t> </a:t>
            </a:r>
            <a:r>
              <a:rPr sz="2400" b="1" dirty="0">
                <a:latin typeface="Calibri"/>
                <a:cs typeface="Calibri"/>
              </a:rPr>
              <a:t>compte</a:t>
            </a:r>
            <a:r>
              <a:rPr sz="2400" b="1" spc="-60" dirty="0">
                <a:latin typeface="Calibri"/>
                <a:cs typeface="Calibri"/>
              </a:rPr>
              <a:t> </a:t>
            </a:r>
            <a:r>
              <a:rPr sz="2400" b="1" spc="-10" dirty="0">
                <a:latin typeface="Calibri"/>
                <a:cs typeface="Calibri"/>
              </a:rPr>
              <a:t>GitHub:</a:t>
            </a:r>
            <a:endParaRPr sz="2400">
              <a:latin typeface="Calibri"/>
              <a:cs typeface="Calibri"/>
            </a:endParaRPr>
          </a:p>
          <a:p>
            <a:pPr marL="12700">
              <a:lnSpc>
                <a:spcPts val="2875"/>
              </a:lnSpc>
              <a:spcBef>
                <a:spcPts val="10"/>
              </a:spcBef>
            </a:pPr>
            <a:r>
              <a:rPr sz="2400" dirty="0">
                <a:latin typeface="Calibri"/>
                <a:cs typeface="Calibri"/>
              </a:rPr>
              <a:t>Cliquez</a:t>
            </a:r>
            <a:r>
              <a:rPr sz="2400" spc="-60" dirty="0">
                <a:latin typeface="Calibri"/>
                <a:cs typeface="Calibri"/>
              </a:rPr>
              <a:t> </a:t>
            </a:r>
            <a:r>
              <a:rPr sz="2400" dirty="0">
                <a:latin typeface="Calibri"/>
                <a:cs typeface="Calibri"/>
              </a:rPr>
              <a:t>sur</a:t>
            </a:r>
            <a:r>
              <a:rPr sz="2400" spc="-50" dirty="0">
                <a:latin typeface="Calibri"/>
                <a:cs typeface="Calibri"/>
              </a:rPr>
              <a:t> </a:t>
            </a:r>
            <a:r>
              <a:rPr sz="2400" dirty="0">
                <a:latin typeface="Calibri"/>
                <a:cs typeface="Calibri"/>
              </a:rPr>
              <a:t>votre</a:t>
            </a:r>
            <a:r>
              <a:rPr sz="2400" spc="-45" dirty="0">
                <a:latin typeface="Calibri"/>
                <a:cs typeface="Calibri"/>
              </a:rPr>
              <a:t> </a:t>
            </a:r>
            <a:r>
              <a:rPr sz="2400" dirty="0">
                <a:latin typeface="Calibri"/>
                <a:cs typeface="Calibri"/>
              </a:rPr>
              <a:t>photo</a:t>
            </a:r>
            <a:r>
              <a:rPr sz="2400" spc="-50" dirty="0">
                <a:latin typeface="Calibri"/>
                <a:cs typeface="Calibri"/>
              </a:rPr>
              <a:t> </a:t>
            </a:r>
            <a:r>
              <a:rPr sz="2400" dirty="0">
                <a:latin typeface="Calibri"/>
                <a:cs typeface="Calibri"/>
              </a:rPr>
              <a:t>de</a:t>
            </a:r>
            <a:r>
              <a:rPr sz="2400" spc="-40" dirty="0">
                <a:latin typeface="Calibri"/>
                <a:cs typeface="Calibri"/>
              </a:rPr>
              <a:t> </a:t>
            </a:r>
            <a:r>
              <a:rPr sz="2400" dirty="0">
                <a:latin typeface="Calibri"/>
                <a:cs typeface="Calibri"/>
              </a:rPr>
              <a:t>profil</a:t>
            </a:r>
            <a:r>
              <a:rPr sz="2400" spc="-55" dirty="0">
                <a:latin typeface="Calibri"/>
                <a:cs typeface="Calibri"/>
              </a:rPr>
              <a:t> </a:t>
            </a:r>
            <a:r>
              <a:rPr sz="2400" dirty="0">
                <a:latin typeface="Calibri"/>
                <a:cs typeface="Calibri"/>
              </a:rPr>
              <a:t>en</a:t>
            </a:r>
            <a:r>
              <a:rPr sz="2400" spc="-50" dirty="0">
                <a:latin typeface="Calibri"/>
                <a:cs typeface="Calibri"/>
              </a:rPr>
              <a:t> </a:t>
            </a:r>
            <a:r>
              <a:rPr sz="2400" dirty="0">
                <a:latin typeface="Calibri"/>
                <a:cs typeface="Calibri"/>
              </a:rPr>
              <a:t>haut</a:t>
            </a:r>
            <a:r>
              <a:rPr sz="2400" spc="-55" dirty="0">
                <a:latin typeface="Calibri"/>
                <a:cs typeface="Calibri"/>
              </a:rPr>
              <a:t> </a:t>
            </a:r>
            <a:r>
              <a:rPr sz="2400" dirty="0">
                <a:latin typeface="Calibri"/>
                <a:cs typeface="Calibri"/>
              </a:rPr>
              <a:t>à</a:t>
            </a:r>
            <a:r>
              <a:rPr sz="2400" spc="-50" dirty="0">
                <a:latin typeface="Calibri"/>
                <a:cs typeface="Calibri"/>
              </a:rPr>
              <a:t> </a:t>
            </a:r>
            <a:r>
              <a:rPr sz="2400" dirty="0">
                <a:latin typeface="Calibri"/>
                <a:cs typeface="Calibri"/>
              </a:rPr>
              <a:t>droite,</a:t>
            </a:r>
            <a:r>
              <a:rPr sz="2400" spc="-45" dirty="0">
                <a:latin typeface="Calibri"/>
                <a:cs typeface="Calibri"/>
              </a:rPr>
              <a:t> </a:t>
            </a:r>
            <a:r>
              <a:rPr sz="2400" dirty="0">
                <a:latin typeface="Calibri"/>
                <a:cs typeface="Calibri"/>
              </a:rPr>
              <a:t>puis</a:t>
            </a:r>
            <a:r>
              <a:rPr sz="2400" spc="-50" dirty="0">
                <a:latin typeface="Calibri"/>
                <a:cs typeface="Calibri"/>
              </a:rPr>
              <a:t> </a:t>
            </a:r>
            <a:r>
              <a:rPr sz="2400" dirty="0">
                <a:latin typeface="Calibri"/>
                <a:cs typeface="Calibri"/>
              </a:rPr>
              <a:t>sélectionnez</a:t>
            </a:r>
            <a:r>
              <a:rPr sz="2400" spc="-60" dirty="0">
                <a:latin typeface="Calibri"/>
                <a:cs typeface="Calibri"/>
              </a:rPr>
              <a:t> </a:t>
            </a:r>
            <a:r>
              <a:rPr sz="2400" spc="-10" dirty="0">
                <a:latin typeface="Calibri"/>
                <a:cs typeface="Calibri"/>
              </a:rPr>
              <a:t>"Paramètres".</a:t>
            </a:r>
            <a:endParaRPr sz="2400">
              <a:latin typeface="Calibri"/>
              <a:cs typeface="Calibri"/>
            </a:endParaRPr>
          </a:p>
          <a:p>
            <a:pPr marL="314325" indent="-301625">
              <a:lnSpc>
                <a:spcPts val="2875"/>
              </a:lnSpc>
              <a:buAutoNum type="arabicPeriod" startAt="2"/>
              <a:tabLst>
                <a:tab pos="314325" algn="l"/>
              </a:tabLst>
            </a:pPr>
            <a:r>
              <a:rPr sz="2400" b="1" dirty="0">
                <a:latin typeface="Calibri"/>
                <a:cs typeface="Calibri"/>
              </a:rPr>
              <a:t>Allez</a:t>
            </a:r>
            <a:r>
              <a:rPr sz="2400" b="1" spc="-45" dirty="0">
                <a:latin typeface="Calibri"/>
                <a:cs typeface="Calibri"/>
              </a:rPr>
              <a:t> </a:t>
            </a:r>
            <a:r>
              <a:rPr sz="2400" b="1" dirty="0">
                <a:latin typeface="Calibri"/>
                <a:cs typeface="Calibri"/>
              </a:rPr>
              <a:t>dans</a:t>
            </a:r>
            <a:r>
              <a:rPr sz="2400" b="1" spc="-35" dirty="0">
                <a:latin typeface="Calibri"/>
                <a:cs typeface="Calibri"/>
              </a:rPr>
              <a:t> </a:t>
            </a:r>
            <a:r>
              <a:rPr sz="2400" b="1" dirty="0">
                <a:latin typeface="Calibri"/>
                <a:cs typeface="Calibri"/>
              </a:rPr>
              <a:t>les</a:t>
            </a:r>
            <a:r>
              <a:rPr sz="2400" b="1" spc="-35" dirty="0">
                <a:latin typeface="Calibri"/>
                <a:cs typeface="Calibri"/>
              </a:rPr>
              <a:t> </a:t>
            </a:r>
            <a:r>
              <a:rPr sz="2400" b="1" dirty="0">
                <a:latin typeface="Calibri"/>
                <a:cs typeface="Calibri"/>
              </a:rPr>
              <a:t>paramètres</a:t>
            </a:r>
            <a:r>
              <a:rPr sz="2400" b="1" spc="-30" dirty="0">
                <a:latin typeface="Calibri"/>
                <a:cs typeface="Calibri"/>
              </a:rPr>
              <a:t> </a:t>
            </a:r>
            <a:r>
              <a:rPr sz="2400" b="1" spc="-10" dirty="0">
                <a:latin typeface="Calibri"/>
                <a:cs typeface="Calibri"/>
              </a:rPr>
              <a:t>développeur:</a:t>
            </a:r>
            <a:endParaRPr sz="2400">
              <a:latin typeface="Calibri"/>
              <a:cs typeface="Calibri"/>
            </a:endParaRPr>
          </a:p>
          <a:p>
            <a:pPr marL="12700" marR="479425">
              <a:lnSpc>
                <a:spcPct val="100000"/>
              </a:lnSpc>
              <a:spcBef>
                <a:spcPts val="15"/>
              </a:spcBef>
            </a:pPr>
            <a:r>
              <a:rPr sz="2400" dirty="0">
                <a:latin typeface="Calibri"/>
                <a:cs typeface="Calibri"/>
              </a:rPr>
              <a:t>Dans</a:t>
            </a:r>
            <a:r>
              <a:rPr sz="2400" spc="-60" dirty="0">
                <a:latin typeface="Calibri"/>
                <a:cs typeface="Calibri"/>
              </a:rPr>
              <a:t> </a:t>
            </a:r>
            <a:r>
              <a:rPr sz="2400" dirty="0">
                <a:latin typeface="Calibri"/>
                <a:cs typeface="Calibri"/>
              </a:rPr>
              <a:t>la</a:t>
            </a:r>
            <a:r>
              <a:rPr sz="2400" spc="-65" dirty="0">
                <a:latin typeface="Calibri"/>
                <a:cs typeface="Calibri"/>
              </a:rPr>
              <a:t> </a:t>
            </a:r>
            <a:r>
              <a:rPr sz="2400" dirty="0">
                <a:latin typeface="Calibri"/>
                <a:cs typeface="Calibri"/>
              </a:rPr>
              <a:t>barre</a:t>
            </a:r>
            <a:r>
              <a:rPr sz="2400" spc="-55" dirty="0">
                <a:latin typeface="Calibri"/>
                <a:cs typeface="Calibri"/>
              </a:rPr>
              <a:t> </a:t>
            </a:r>
            <a:r>
              <a:rPr sz="2400" dirty="0">
                <a:latin typeface="Calibri"/>
                <a:cs typeface="Calibri"/>
              </a:rPr>
              <a:t>latérale</a:t>
            </a:r>
            <a:r>
              <a:rPr sz="2400" spc="-70" dirty="0">
                <a:latin typeface="Calibri"/>
                <a:cs typeface="Calibri"/>
              </a:rPr>
              <a:t> </a:t>
            </a:r>
            <a:r>
              <a:rPr sz="2400" dirty="0">
                <a:latin typeface="Calibri"/>
                <a:cs typeface="Calibri"/>
              </a:rPr>
              <a:t>gauche,</a:t>
            </a:r>
            <a:r>
              <a:rPr sz="2400" spc="-50" dirty="0">
                <a:latin typeface="Calibri"/>
                <a:cs typeface="Calibri"/>
              </a:rPr>
              <a:t> </a:t>
            </a:r>
            <a:r>
              <a:rPr sz="2400" dirty="0">
                <a:latin typeface="Calibri"/>
                <a:cs typeface="Calibri"/>
              </a:rPr>
              <a:t>cliquez</a:t>
            </a:r>
            <a:r>
              <a:rPr sz="2400" spc="-65" dirty="0">
                <a:latin typeface="Calibri"/>
                <a:cs typeface="Calibri"/>
              </a:rPr>
              <a:t> </a:t>
            </a:r>
            <a:r>
              <a:rPr sz="2400" dirty="0">
                <a:latin typeface="Calibri"/>
                <a:cs typeface="Calibri"/>
              </a:rPr>
              <a:t>sur</a:t>
            </a:r>
            <a:r>
              <a:rPr sz="2400" spc="-55" dirty="0">
                <a:latin typeface="Calibri"/>
                <a:cs typeface="Calibri"/>
              </a:rPr>
              <a:t> </a:t>
            </a:r>
            <a:r>
              <a:rPr sz="2400" dirty="0">
                <a:latin typeface="Calibri"/>
                <a:cs typeface="Calibri"/>
              </a:rPr>
              <a:t>"Paramètres</a:t>
            </a:r>
            <a:r>
              <a:rPr sz="2400" spc="-75" dirty="0">
                <a:latin typeface="Calibri"/>
                <a:cs typeface="Calibri"/>
              </a:rPr>
              <a:t> </a:t>
            </a:r>
            <a:r>
              <a:rPr sz="2400" dirty="0">
                <a:latin typeface="Calibri"/>
                <a:cs typeface="Calibri"/>
              </a:rPr>
              <a:t>développeur"</a:t>
            </a:r>
            <a:r>
              <a:rPr sz="2400" spc="-35" dirty="0">
                <a:latin typeface="Calibri"/>
                <a:cs typeface="Calibri"/>
              </a:rPr>
              <a:t> </a:t>
            </a:r>
            <a:r>
              <a:rPr sz="2400" dirty="0">
                <a:latin typeface="Calibri"/>
                <a:cs typeface="Calibri"/>
              </a:rPr>
              <a:t>puis</a:t>
            </a:r>
            <a:r>
              <a:rPr sz="2400" spc="-55" dirty="0">
                <a:latin typeface="Calibri"/>
                <a:cs typeface="Calibri"/>
              </a:rPr>
              <a:t> </a:t>
            </a:r>
            <a:r>
              <a:rPr sz="2400" dirty="0">
                <a:latin typeface="Calibri"/>
                <a:cs typeface="Calibri"/>
              </a:rPr>
              <a:t>"Jetons</a:t>
            </a:r>
            <a:r>
              <a:rPr sz="2400" spc="-65" dirty="0">
                <a:latin typeface="Calibri"/>
                <a:cs typeface="Calibri"/>
              </a:rPr>
              <a:t> </a:t>
            </a:r>
            <a:r>
              <a:rPr sz="2400" spc="-10" dirty="0">
                <a:latin typeface="Calibri"/>
                <a:cs typeface="Calibri"/>
              </a:rPr>
              <a:t>d'accès personnels".</a:t>
            </a:r>
            <a:endParaRPr sz="2400">
              <a:latin typeface="Calibri"/>
              <a:cs typeface="Calibri"/>
            </a:endParaRPr>
          </a:p>
          <a:p>
            <a:pPr marL="314325" indent="-301625">
              <a:lnSpc>
                <a:spcPts val="2870"/>
              </a:lnSpc>
              <a:buAutoNum type="arabicPeriod" startAt="3"/>
              <a:tabLst>
                <a:tab pos="314325" algn="l"/>
              </a:tabLst>
            </a:pPr>
            <a:r>
              <a:rPr sz="2400" b="1" dirty="0">
                <a:latin typeface="Calibri"/>
                <a:cs typeface="Calibri"/>
              </a:rPr>
              <a:t>Générez</a:t>
            </a:r>
            <a:r>
              <a:rPr sz="2400" b="1" spc="-75" dirty="0">
                <a:latin typeface="Calibri"/>
                <a:cs typeface="Calibri"/>
              </a:rPr>
              <a:t> </a:t>
            </a:r>
            <a:r>
              <a:rPr sz="2400" b="1" dirty="0">
                <a:latin typeface="Calibri"/>
                <a:cs typeface="Calibri"/>
              </a:rPr>
              <a:t>un</a:t>
            </a:r>
            <a:r>
              <a:rPr sz="2400" b="1" spc="-65" dirty="0">
                <a:latin typeface="Calibri"/>
                <a:cs typeface="Calibri"/>
              </a:rPr>
              <a:t> </a:t>
            </a:r>
            <a:r>
              <a:rPr sz="2400" b="1" dirty="0">
                <a:latin typeface="Calibri"/>
                <a:cs typeface="Calibri"/>
              </a:rPr>
              <a:t>nouveau</a:t>
            </a:r>
            <a:r>
              <a:rPr sz="2400" b="1" spc="-80" dirty="0">
                <a:latin typeface="Calibri"/>
                <a:cs typeface="Calibri"/>
              </a:rPr>
              <a:t> </a:t>
            </a:r>
            <a:r>
              <a:rPr sz="2400" b="1" spc="-10" dirty="0">
                <a:latin typeface="Calibri"/>
                <a:cs typeface="Calibri"/>
              </a:rPr>
              <a:t>jeton:</a:t>
            </a:r>
            <a:endParaRPr sz="2400">
              <a:latin typeface="Calibri"/>
              <a:cs typeface="Calibri"/>
            </a:endParaRPr>
          </a:p>
          <a:p>
            <a:pPr marL="12700">
              <a:lnSpc>
                <a:spcPct val="100000"/>
              </a:lnSpc>
            </a:pPr>
            <a:r>
              <a:rPr sz="2400" dirty="0">
                <a:latin typeface="Calibri"/>
                <a:cs typeface="Calibri"/>
              </a:rPr>
              <a:t>Cliquez</a:t>
            </a:r>
            <a:r>
              <a:rPr sz="2400" spc="-55" dirty="0">
                <a:latin typeface="Calibri"/>
                <a:cs typeface="Calibri"/>
              </a:rPr>
              <a:t> </a:t>
            </a:r>
            <a:r>
              <a:rPr sz="2400" dirty="0">
                <a:latin typeface="Calibri"/>
                <a:cs typeface="Calibri"/>
              </a:rPr>
              <a:t>sur</a:t>
            </a:r>
            <a:r>
              <a:rPr sz="2400" spc="-40" dirty="0">
                <a:latin typeface="Calibri"/>
                <a:cs typeface="Calibri"/>
              </a:rPr>
              <a:t> </a:t>
            </a:r>
            <a:r>
              <a:rPr sz="2400" dirty="0">
                <a:latin typeface="Calibri"/>
                <a:cs typeface="Calibri"/>
              </a:rPr>
              <a:t>"Générer</a:t>
            </a:r>
            <a:r>
              <a:rPr sz="2400" spc="-35" dirty="0">
                <a:latin typeface="Calibri"/>
                <a:cs typeface="Calibri"/>
              </a:rPr>
              <a:t> </a:t>
            </a:r>
            <a:r>
              <a:rPr sz="2400" dirty="0">
                <a:latin typeface="Calibri"/>
                <a:cs typeface="Calibri"/>
              </a:rPr>
              <a:t>un</a:t>
            </a:r>
            <a:r>
              <a:rPr sz="2400" spc="-50" dirty="0">
                <a:latin typeface="Calibri"/>
                <a:cs typeface="Calibri"/>
              </a:rPr>
              <a:t> </a:t>
            </a:r>
            <a:r>
              <a:rPr sz="2400" dirty="0">
                <a:latin typeface="Calibri"/>
                <a:cs typeface="Calibri"/>
              </a:rPr>
              <a:t>nouveau</a:t>
            </a:r>
            <a:r>
              <a:rPr sz="2400" spc="-45" dirty="0">
                <a:latin typeface="Calibri"/>
                <a:cs typeface="Calibri"/>
              </a:rPr>
              <a:t> </a:t>
            </a:r>
            <a:r>
              <a:rPr sz="2400" dirty="0">
                <a:latin typeface="Calibri"/>
                <a:cs typeface="Calibri"/>
              </a:rPr>
              <a:t>jeton",</a:t>
            </a:r>
            <a:r>
              <a:rPr sz="2400" spc="-35" dirty="0">
                <a:latin typeface="Calibri"/>
                <a:cs typeface="Calibri"/>
              </a:rPr>
              <a:t> </a:t>
            </a:r>
            <a:r>
              <a:rPr sz="2400" dirty="0">
                <a:latin typeface="Calibri"/>
                <a:cs typeface="Calibri"/>
              </a:rPr>
              <a:t>puis</a:t>
            </a:r>
            <a:r>
              <a:rPr sz="2400" spc="-45" dirty="0">
                <a:latin typeface="Calibri"/>
                <a:cs typeface="Calibri"/>
              </a:rPr>
              <a:t> </a:t>
            </a:r>
            <a:r>
              <a:rPr sz="2400" dirty="0">
                <a:latin typeface="Calibri"/>
                <a:cs typeface="Calibri"/>
              </a:rPr>
              <a:t>"Générer</a:t>
            </a:r>
            <a:r>
              <a:rPr sz="2400" spc="-50" dirty="0">
                <a:latin typeface="Calibri"/>
                <a:cs typeface="Calibri"/>
              </a:rPr>
              <a:t> </a:t>
            </a:r>
            <a:r>
              <a:rPr sz="2400" dirty="0">
                <a:latin typeface="Calibri"/>
                <a:cs typeface="Calibri"/>
              </a:rPr>
              <a:t>un</a:t>
            </a:r>
            <a:r>
              <a:rPr sz="2400" spc="-45" dirty="0">
                <a:latin typeface="Calibri"/>
                <a:cs typeface="Calibri"/>
              </a:rPr>
              <a:t> </a:t>
            </a:r>
            <a:r>
              <a:rPr sz="2400" dirty="0">
                <a:latin typeface="Calibri"/>
                <a:cs typeface="Calibri"/>
              </a:rPr>
              <a:t>nouveau</a:t>
            </a:r>
            <a:r>
              <a:rPr sz="2400" spc="-35" dirty="0">
                <a:latin typeface="Calibri"/>
                <a:cs typeface="Calibri"/>
              </a:rPr>
              <a:t> </a:t>
            </a:r>
            <a:r>
              <a:rPr sz="2400" dirty="0">
                <a:latin typeface="Calibri"/>
                <a:cs typeface="Calibri"/>
              </a:rPr>
              <a:t>jeton</a:t>
            </a:r>
            <a:r>
              <a:rPr sz="2400" spc="-55" dirty="0">
                <a:latin typeface="Calibri"/>
                <a:cs typeface="Calibri"/>
              </a:rPr>
              <a:t> </a:t>
            </a:r>
            <a:r>
              <a:rPr sz="2400" spc="-10" dirty="0">
                <a:latin typeface="Calibri"/>
                <a:cs typeface="Calibri"/>
              </a:rPr>
              <a:t>(classique)".</a:t>
            </a:r>
            <a:endParaRPr sz="2400">
              <a:latin typeface="Calibri"/>
              <a:cs typeface="Calibri"/>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0538" y="3504133"/>
            <a:ext cx="8995461" cy="936154"/>
          </a:xfrm>
          <a:prstGeom prst="rect">
            <a:avLst/>
          </a:prstGeom>
        </p:spPr>
        <p:txBody>
          <a:bodyPr vert="horz" wrap="square" lIns="0" tIns="12700" rIns="0" bIns="0" rtlCol="0">
            <a:spAutoFit/>
          </a:bodyPr>
          <a:lstStyle/>
          <a:p>
            <a:pPr marL="12700">
              <a:lnSpc>
                <a:spcPct val="100000"/>
              </a:lnSpc>
              <a:spcBef>
                <a:spcPts val="100"/>
              </a:spcBef>
            </a:pPr>
            <a:r>
              <a:rPr lang="fr-FR" sz="6000" dirty="0"/>
              <a:t>4</a:t>
            </a:r>
            <a:r>
              <a:rPr sz="6000" dirty="0" smtClean="0"/>
              <a:t>.</a:t>
            </a:r>
            <a:r>
              <a:rPr sz="6000" spc="-150" dirty="0" smtClean="0"/>
              <a:t> </a:t>
            </a:r>
            <a:r>
              <a:rPr lang="fr-FR" sz="6000" dirty="0" smtClean="0"/>
              <a:t>Création d’un repo </a:t>
            </a:r>
            <a:r>
              <a:rPr lang="fr-FR" sz="6000" dirty="0" err="1" smtClean="0"/>
              <a:t>github</a:t>
            </a:r>
            <a:endParaRPr sz="6000" dirty="0"/>
          </a:p>
        </p:txBody>
      </p:sp>
      <p:sp>
        <p:nvSpPr>
          <p:cNvPr id="3" name="object 3"/>
          <p:cNvSpPr txBox="1"/>
          <p:nvPr/>
        </p:nvSpPr>
        <p:spPr>
          <a:xfrm>
            <a:off x="11176507" y="6419494"/>
            <a:ext cx="102870" cy="208279"/>
          </a:xfrm>
          <a:prstGeom prst="rect">
            <a:avLst/>
          </a:prstGeom>
        </p:spPr>
        <p:txBody>
          <a:bodyPr vert="horz" wrap="square" lIns="0" tIns="12700" rIns="0" bIns="0" rtlCol="0">
            <a:spAutoFit/>
          </a:bodyPr>
          <a:lstStyle/>
          <a:p>
            <a:pPr marL="12700">
              <a:lnSpc>
                <a:spcPct val="100000"/>
              </a:lnSpc>
              <a:spcBef>
                <a:spcPts val="100"/>
              </a:spcBef>
            </a:pPr>
            <a:r>
              <a:rPr sz="1200" spc="-50" dirty="0">
                <a:solidFill>
                  <a:srgbClr val="A3A3A3"/>
                </a:solidFill>
                <a:latin typeface="Calibri"/>
                <a:cs typeface="Calibri"/>
              </a:rPr>
              <a:t>3</a:t>
            </a:r>
            <a:endParaRPr sz="1200">
              <a:latin typeface="Calibri"/>
              <a:cs typeface="Calibri"/>
            </a:endParaRPr>
          </a:p>
        </p:txBody>
      </p:sp>
    </p:spTree>
    <p:extLst>
      <p:ext uri="{BB962C8B-B14F-4D97-AF65-F5344CB8AC3E}">
        <p14:creationId xmlns:p14="http://schemas.microsoft.com/office/powerpoint/2010/main" val="33476900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lang="fr-FR" dirty="0" smtClean="0"/>
              <a:t>Introduction git/</a:t>
            </a:r>
            <a:r>
              <a:rPr lang="fr-FR" dirty="0" err="1" smtClean="0"/>
              <a:t>github</a:t>
            </a:r>
            <a:endParaRPr spc="-25" dirty="0"/>
          </a:p>
        </p:txBody>
      </p:sp>
      <p:sp>
        <p:nvSpPr>
          <p:cNvPr id="4" name="object 4"/>
          <p:cNvSpPr txBox="1"/>
          <p:nvPr/>
        </p:nvSpPr>
        <p:spPr>
          <a:xfrm>
            <a:off x="520700" y="1034541"/>
            <a:ext cx="11366500" cy="751488"/>
          </a:xfrm>
          <a:prstGeom prst="rect">
            <a:avLst/>
          </a:prstGeom>
        </p:spPr>
        <p:txBody>
          <a:bodyPr vert="horz" wrap="square" lIns="0" tIns="12700" rIns="0" bIns="0" rtlCol="0">
            <a:spAutoFit/>
          </a:bodyPr>
          <a:lstStyle/>
          <a:p>
            <a:pPr marL="354965" indent="-342265">
              <a:lnSpc>
                <a:spcPct val="100000"/>
              </a:lnSpc>
              <a:spcBef>
                <a:spcPts val="100"/>
              </a:spcBef>
              <a:buFont typeface="Arial MT"/>
              <a:buChar char="•"/>
              <a:tabLst>
                <a:tab pos="354965" algn="l"/>
              </a:tabLst>
            </a:pPr>
            <a:r>
              <a:rPr lang="fr-FR" sz="2400" dirty="0" smtClean="0"/>
              <a:t>Git est un logiciel de </a:t>
            </a:r>
            <a:r>
              <a:rPr lang="fr-FR" sz="2400" dirty="0" err="1" smtClean="0"/>
              <a:t>versioning</a:t>
            </a:r>
            <a:r>
              <a:rPr lang="fr-FR" sz="2400" dirty="0" smtClean="0"/>
              <a:t> créé en 2005 par Linus </a:t>
            </a:r>
            <a:r>
              <a:rPr lang="fr-FR" sz="2400" dirty="0" err="1" smtClean="0"/>
              <a:t>Torvalds</a:t>
            </a:r>
            <a:r>
              <a:rPr lang="fr-FR" sz="2400" dirty="0" smtClean="0"/>
              <a:t>, le créateur de Linux. </a:t>
            </a:r>
            <a:endParaRPr sz="2400" dirty="0">
              <a:latin typeface="Calibri"/>
              <a:cs typeface="Calibri"/>
            </a:endParaRPr>
          </a:p>
        </p:txBody>
      </p:sp>
      <p:sp>
        <p:nvSpPr>
          <p:cNvPr id="5" name="object 5"/>
          <p:cNvSpPr txBox="1"/>
          <p:nvPr/>
        </p:nvSpPr>
        <p:spPr>
          <a:xfrm>
            <a:off x="520700" y="2123781"/>
            <a:ext cx="11366500" cy="1490152"/>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dirty="0" smtClean="0"/>
              <a:t>Un logiciel de </a:t>
            </a:r>
            <a:r>
              <a:rPr lang="fr-FR" sz="2400" dirty="0" err="1" smtClean="0"/>
              <a:t>versioning</a:t>
            </a:r>
            <a:r>
              <a:rPr lang="fr-FR" sz="2400" dirty="0" smtClean="0"/>
              <a:t>, ou logiciel de gestion de version est un logiciel qui permet de conserver un historique des modifications effectuées sur un projet afin de pouvoir rapidement identifier les changements effectuées et de revenir à une ancienne version en cas de problème.</a:t>
            </a:r>
            <a:endParaRPr sz="2400" dirty="0">
              <a:latin typeface="Calibri"/>
              <a:cs typeface="Calibri"/>
            </a:endParaRPr>
          </a:p>
        </p:txBody>
      </p:sp>
      <p:sp>
        <p:nvSpPr>
          <p:cNvPr id="7" name="object 7"/>
          <p:cNvSpPr txBox="1"/>
          <p:nvPr/>
        </p:nvSpPr>
        <p:spPr>
          <a:xfrm>
            <a:off x="520700" y="3954042"/>
            <a:ext cx="11366500" cy="1120820"/>
          </a:xfrm>
          <a:prstGeom prst="rect">
            <a:avLst/>
          </a:prstGeom>
        </p:spPr>
        <p:txBody>
          <a:bodyPr vert="horz" wrap="square" lIns="0" tIns="12700" rIns="0" bIns="0" rtlCol="0">
            <a:spAutoFit/>
          </a:bodyPr>
          <a:lstStyle/>
          <a:p>
            <a:pPr marL="354965" indent="-342265">
              <a:lnSpc>
                <a:spcPct val="100000"/>
              </a:lnSpc>
              <a:spcBef>
                <a:spcPts val="100"/>
              </a:spcBef>
              <a:buFont typeface="Arial MT"/>
              <a:buChar char="•"/>
              <a:tabLst>
                <a:tab pos="354965" algn="l"/>
              </a:tabLst>
            </a:pPr>
            <a:r>
              <a:rPr lang="fr-FR" sz="2400" dirty="0" smtClean="0"/>
              <a:t>Les logiciels de gestion de versions sont quasiment incontournables aujourd’hui car ils facilitent grandement la gestion de projets et car ils permettent de travailler en équipe de manière beaucoup plus efficace.</a:t>
            </a:r>
            <a:endParaRPr sz="2400" dirty="0">
              <a:latin typeface="Calibri"/>
              <a:cs typeface="Calibri"/>
            </a:endParaRPr>
          </a:p>
        </p:txBody>
      </p:sp>
      <p:sp>
        <p:nvSpPr>
          <p:cNvPr id="9" name="object 7"/>
          <p:cNvSpPr txBox="1"/>
          <p:nvPr/>
        </p:nvSpPr>
        <p:spPr>
          <a:xfrm>
            <a:off x="520700" y="5414971"/>
            <a:ext cx="11366500" cy="751488"/>
          </a:xfrm>
          <a:prstGeom prst="rect">
            <a:avLst/>
          </a:prstGeom>
        </p:spPr>
        <p:txBody>
          <a:bodyPr vert="horz" wrap="square" lIns="0" tIns="12700" rIns="0" bIns="0" rtlCol="0">
            <a:spAutoFit/>
          </a:bodyPr>
          <a:lstStyle/>
          <a:p>
            <a:pPr marL="354965" indent="-342265">
              <a:lnSpc>
                <a:spcPct val="100000"/>
              </a:lnSpc>
              <a:spcBef>
                <a:spcPts val="100"/>
              </a:spcBef>
              <a:buFont typeface="Arial MT"/>
              <a:buChar char="•"/>
              <a:tabLst>
                <a:tab pos="354965" algn="l"/>
              </a:tabLst>
            </a:pPr>
            <a:r>
              <a:rPr lang="fr-FR" sz="2400" dirty="0" smtClean="0"/>
              <a:t>Parmi les logiciels de gestion de versions, Git et il est donc indispensable pour tout développeur de savoir utiliser Git.</a:t>
            </a:r>
            <a:endParaRPr sz="2400" dirty="0">
              <a:latin typeface="Calibri"/>
              <a:cs typeface="Calibri"/>
            </a:endParaRPr>
          </a:p>
        </p:txBody>
      </p:sp>
    </p:spTree>
    <p:extLst>
      <p:ext uri="{BB962C8B-B14F-4D97-AF65-F5344CB8AC3E}">
        <p14:creationId xmlns:p14="http://schemas.microsoft.com/office/powerpoint/2010/main" val="226852906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lang="fr-FR" dirty="0" smtClean="0"/>
              <a:t>Introduction git/</a:t>
            </a:r>
            <a:r>
              <a:rPr lang="fr-FR" dirty="0" err="1" smtClean="0"/>
              <a:t>github</a:t>
            </a:r>
            <a:endParaRPr spc="-25" dirty="0"/>
          </a:p>
        </p:txBody>
      </p:sp>
      <p:sp>
        <p:nvSpPr>
          <p:cNvPr id="4" name="object 4"/>
          <p:cNvSpPr txBox="1"/>
          <p:nvPr/>
        </p:nvSpPr>
        <p:spPr>
          <a:xfrm>
            <a:off x="558800" y="1692634"/>
            <a:ext cx="11366500" cy="382156"/>
          </a:xfrm>
          <a:prstGeom prst="rect">
            <a:avLst/>
          </a:prstGeom>
        </p:spPr>
        <p:txBody>
          <a:bodyPr vert="horz" wrap="square" lIns="0" tIns="12700" rIns="0" bIns="0" rtlCol="0">
            <a:spAutoFit/>
          </a:bodyPr>
          <a:lstStyle/>
          <a:p>
            <a:pPr marL="354965" indent="-342265">
              <a:lnSpc>
                <a:spcPct val="100000"/>
              </a:lnSpc>
              <a:spcBef>
                <a:spcPts val="100"/>
              </a:spcBef>
              <a:buFont typeface="Arial MT"/>
              <a:buChar char="•"/>
              <a:tabLst>
                <a:tab pos="354965" algn="l"/>
              </a:tabLst>
            </a:pPr>
            <a:r>
              <a:rPr lang="fr-FR" sz="2400" dirty="0" err="1" smtClean="0"/>
              <a:t>GitHub</a:t>
            </a:r>
            <a:r>
              <a:rPr lang="fr-FR" sz="2400" dirty="0" smtClean="0"/>
              <a:t> est un service en ligne qui permet d’héberger des repos Git. </a:t>
            </a:r>
            <a:endParaRPr sz="2400" dirty="0">
              <a:latin typeface="Calibri"/>
              <a:cs typeface="Calibri"/>
            </a:endParaRPr>
          </a:p>
        </p:txBody>
      </p:sp>
      <p:sp>
        <p:nvSpPr>
          <p:cNvPr id="5" name="object 5"/>
          <p:cNvSpPr txBox="1"/>
          <p:nvPr/>
        </p:nvSpPr>
        <p:spPr>
          <a:xfrm>
            <a:off x="558800" y="3053354"/>
            <a:ext cx="11442700" cy="1120820"/>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dirty="0" smtClean="0"/>
              <a:t>Une grande partie des repos hébergés sur </a:t>
            </a:r>
            <a:r>
              <a:rPr lang="fr-FR" sz="2400" dirty="0" err="1" smtClean="0"/>
              <a:t>GitHub</a:t>
            </a:r>
            <a:r>
              <a:rPr lang="fr-FR" sz="2400" dirty="0" smtClean="0"/>
              <a:t> sont publics, c’est-à-dire que n’importe qui peut cloner le code de ces repos et contribuer à leur développement en créant de nouvelles fonctionnalités.</a:t>
            </a:r>
            <a:endParaRPr sz="2400" dirty="0">
              <a:latin typeface="Calibri"/>
              <a:cs typeface="Calibri"/>
            </a:endParaRPr>
          </a:p>
        </p:txBody>
      </p:sp>
      <p:sp>
        <p:nvSpPr>
          <p:cNvPr id="7" name="object 7"/>
          <p:cNvSpPr txBox="1"/>
          <p:nvPr/>
        </p:nvSpPr>
        <p:spPr>
          <a:xfrm>
            <a:off x="558800" y="4876800"/>
            <a:ext cx="11366500" cy="751488"/>
          </a:xfrm>
          <a:prstGeom prst="rect">
            <a:avLst/>
          </a:prstGeom>
        </p:spPr>
        <p:txBody>
          <a:bodyPr vert="horz" wrap="square" lIns="0" tIns="12700" rIns="0" bIns="0" rtlCol="0">
            <a:spAutoFit/>
          </a:bodyPr>
          <a:lstStyle/>
          <a:p>
            <a:pPr marL="354965" indent="-342265">
              <a:lnSpc>
                <a:spcPct val="100000"/>
              </a:lnSpc>
              <a:spcBef>
                <a:spcPts val="100"/>
              </a:spcBef>
              <a:buFont typeface="Arial MT"/>
              <a:buChar char="•"/>
              <a:tabLst>
                <a:tab pos="354965" algn="l"/>
              </a:tabLst>
            </a:pPr>
            <a:r>
              <a:rPr lang="fr-FR" sz="2400" dirty="0" smtClean="0"/>
              <a:t>Git est un logiciel de gestion de version tandis que </a:t>
            </a:r>
            <a:r>
              <a:rPr lang="fr-FR" sz="2400" dirty="0" err="1" smtClean="0"/>
              <a:t>GitHub</a:t>
            </a:r>
            <a:r>
              <a:rPr lang="fr-FR" sz="2400" dirty="0" smtClean="0"/>
              <a:t> est un service en ligne d’hébergement de repos Git.</a:t>
            </a:r>
            <a:endParaRPr sz="2400" dirty="0">
              <a:latin typeface="Calibri"/>
              <a:cs typeface="Calibri"/>
            </a:endParaRPr>
          </a:p>
        </p:txBody>
      </p:sp>
    </p:spTree>
    <p:extLst>
      <p:ext uri="{BB962C8B-B14F-4D97-AF65-F5344CB8AC3E}">
        <p14:creationId xmlns:p14="http://schemas.microsoft.com/office/powerpoint/2010/main" val="387477077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lang="fr-FR" dirty="0" smtClean="0"/>
              <a:t>Création d’un repo sur </a:t>
            </a:r>
            <a:r>
              <a:rPr lang="fr-FR" dirty="0" err="1" smtClean="0"/>
              <a:t>github</a:t>
            </a:r>
            <a:endParaRPr spc="-25" dirty="0"/>
          </a:p>
        </p:txBody>
      </p:sp>
      <p:sp>
        <p:nvSpPr>
          <p:cNvPr id="4" name="object 4"/>
          <p:cNvSpPr txBox="1"/>
          <p:nvPr/>
        </p:nvSpPr>
        <p:spPr>
          <a:xfrm>
            <a:off x="558800" y="722744"/>
            <a:ext cx="11366500" cy="382156"/>
          </a:xfrm>
          <a:prstGeom prst="rect">
            <a:avLst/>
          </a:prstGeom>
        </p:spPr>
        <p:txBody>
          <a:bodyPr vert="horz" wrap="square" lIns="0" tIns="12700" rIns="0" bIns="0" rtlCol="0">
            <a:spAutoFit/>
          </a:bodyPr>
          <a:lstStyle/>
          <a:p>
            <a:pPr marL="12700">
              <a:lnSpc>
                <a:spcPct val="100000"/>
              </a:lnSpc>
              <a:spcBef>
                <a:spcPts val="100"/>
              </a:spcBef>
              <a:tabLst>
                <a:tab pos="354965" algn="l"/>
              </a:tabLst>
            </a:pPr>
            <a:r>
              <a:rPr lang="fr-FR" sz="2400" dirty="0" smtClean="0"/>
              <a:t>Nous allons maintenant créer un repo distant sur </a:t>
            </a:r>
            <a:r>
              <a:rPr lang="fr-FR" sz="2400" dirty="0" err="1" smtClean="0"/>
              <a:t>GitHub</a:t>
            </a:r>
            <a:r>
              <a:rPr lang="fr-FR" sz="2400" dirty="0" smtClean="0"/>
              <a:t> : </a:t>
            </a:r>
            <a:endParaRPr sz="2400" dirty="0">
              <a:latin typeface="Calibri"/>
              <a:cs typeface="Calibri"/>
            </a:endParaRPr>
          </a:p>
        </p:txBody>
      </p:sp>
      <p:sp>
        <p:nvSpPr>
          <p:cNvPr id="5" name="object 5"/>
          <p:cNvSpPr txBox="1"/>
          <p:nvPr/>
        </p:nvSpPr>
        <p:spPr>
          <a:xfrm>
            <a:off x="558800" y="1141266"/>
            <a:ext cx="11442700" cy="382156"/>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dirty="0" smtClean="0"/>
              <a:t>Cliquez sur le “+” en haut à droite de la page, puis “New </a:t>
            </a:r>
            <a:r>
              <a:rPr lang="fr-FR" sz="2400" dirty="0" err="1" smtClean="0"/>
              <a:t>repository</a:t>
            </a:r>
            <a:r>
              <a:rPr lang="fr-FR" sz="2400" dirty="0" smtClean="0"/>
              <a:t>”.</a:t>
            </a:r>
            <a:endParaRPr sz="2400" dirty="0">
              <a:latin typeface="Calibri"/>
              <a:cs typeface="Calibri"/>
            </a:endParaRPr>
          </a:p>
        </p:txBody>
      </p:sp>
      <p:sp>
        <p:nvSpPr>
          <p:cNvPr id="7" name="object 7"/>
          <p:cNvSpPr txBox="1"/>
          <p:nvPr/>
        </p:nvSpPr>
        <p:spPr>
          <a:xfrm>
            <a:off x="558800" y="1683839"/>
            <a:ext cx="11366500" cy="1120820"/>
          </a:xfrm>
          <a:prstGeom prst="rect">
            <a:avLst/>
          </a:prstGeom>
        </p:spPr>
        <p:txBody>
          <a:bodyPr vert="horz" wrap="square" lIns="0" tIns="12700" rIns="0" bIns="0" rtlCol="0">
            <a:spAutoFit/>
          </a:bodyPr>
          <a:lstStyle/>
          <a:p>
            <a:pPr marL="354965" indent="-342265">
              <a:lnSpc>
                <a:spcPct val="100000"/>
              </a:lnSpc>
              <a:spcBef>
                <a:spcPts val="100"/>
              </a:spcBef>
              <a:buFont typeface="Arial MT"/>
              <a:buChar char="•"/>
              <a:tabLst>
                <a:tab pos="354965" algn="l"/>
              </a:tabLst>
            </a:pPr>
            <a:r>
              <a:rPr lang="fr-FR" sz="2400" dirty="0" smtClean="0"/>
              <a:t>Attribuez un nom à votre repo. Par défaut, votre repo est public et tout le monde a accès à votre code (droits de lecture seulement). Puis cliquez sur “</a:t>
            </a:r>
            <a:r>
              <a:rPr lang="fr-FR" sz="2400" dirty="0" err="1" smtClean="0"/>
              <a:t>Create</a:t>
            </a:r>
            <a:r>
              <a:rPr lang="fr-FR" sz="2400" dirty="0" smtClean="0"/>
              <a:t> </a:t>
            </a:r>
            <a:r>
              <a:rPr lang="fr-FR" sz="2400" dirty="0" err="1" smtClean="0"/>
              <a:t>repository</a:t>
            </a:r>
            <a:r>
              <a:rPr lang="fr-FR" sz="2400" dirty="0" smtClean="0"/>
              <a:t>”.</a:t>
            </a:r>
            <a:endParaRPr sz="2400" dirty="0">
              <a:latin typeface="Calibri"/>
              <a:cs typeface="Calibri"/>
            </a:endParaRPr>
          </a:p>
        </p:txBody>
      </p:sp>
      <p:pic>
        <p:nvPicPr>
          <p:cNvPr id="3" name="Image 2"/>
          <p:cNvPicPr>
            <a:picLocks noChangeAspect="1"/>
          </p:cNvPicPr>
          <p:nvPr/>
        </p:nvPicPr>
        <p:blipFill>
          <a:blip r:embed="rId2"/>
          <a:stretch>
            <a:fillRect/>
          </a:stretch>
        </p:blipFill>
        <p:spPr>
          <a:xfrm>
            <a:off x="3048000" y="2514600"/>
            <a:ext cx="5396118" cy="4217259"/>
          </a:xfrm>
          <a:prstGeom prst="rect">
            <a:avLst/>
          </a:prstGeom>
        </p:spPr>
      </p:pic>
    </p:spTree>
    <p:extLst>
      <p:ext uri="{BB962C8B-B14F-4D97-AF65-F5344CB8AC3E}">
        <p14:creationId xmlns:p14="http://schemas.microsoft.com/office/powerpoint/2010/main" val="209496444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lang="fr-FR" dirty="0" smtClean="0"/>
              <a:t>La structure générale de git</a:t>
            </a:r>
            <a:endParaRPr spc="-25" dirty="0"/>
          </a:p>
        </p:txBody>
      </p:sp>
      <p:sp>
        <p:nvSpPr>
          <p:cNvPr id="5" name="object 5"/>
          <p:cNvSpPr txBox="1"/>
          <p:nvPr/>
        </p:nvSpPr>
        <p:spPr>
          <a:xfrm>
            <a:off x="558800" y="1141266"/>
            <a:ext cx="11442700" cy="382156"/>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dirty="0" err="1" smtClean="0"/>
              <a:t>Working</a:t>
            </a:r>
            <a:r>
              <a:rPr lang="fr-FR" sz="2400" dirty="0" smtClean="0"/>
              <a:t> area: l’endroit où tu modifies les fichiers localement.</a:t>
            </a:r>
            <a:endParaRPr sz="2400" dirty="0">
              <a:latin typeface="Calibri"/>
              <a:cs typeface="Calibri"/>
            </a:endParaRPr>
          </a:p>
        </p:txBody>
      </p:sp>
      <p:sp>
        <p:nvSpPr>
          <p:cNvPr id="7" name="object 7"/>
          <p:cNvSpPr txBox="1"/>
          <p:nvPr/>
        </p:nvSpPr>
        <p:spPr>
          <a:xfrm>
            <a:off x="558800" y="1683839"/>
            <a:ext cx="11366500" cy="382156"/>
          </a:xfrm>
          <a:prstGeom prst="rect">
            <a:avLst/>
          </a:prstGeom>
        </p:spPr>
        <p:txBody>
          <a:bodyPr vert="horz" wrap="square" lIns="0" tIns="12700" rIns="0" bIns="0" rtlCol="0">
            <a:spAutoFit/>
          </a:bodyPr>
          <a:lstStyle/>
          <a:p>
            <a:pPr marL="354965" indent="-342265">
              <a:lnSpc>
                <a:spcPct val="100000"/>
              </a:lnSpc>
              <a:spcBef>
                <a:spcPts val="100"/>
              </a:spcBef>
              <a:buFont typeface="Arial MT"/>
              <a:buChar char="•"/>
              <a:tabLst>
                <a:tab pos="354965" algn="l"/>
              </a:tabLst>
            </a:pPr>
            <a:r>
              <a:rPr lang="fr-FR" sz="2400" dirty="0" err="1" smtClean="0"/>
              <a:t>Staging</a:t>
            </a:r>
            <a:r>
              <a:rPr lang="fr-FR" sz="2400" dirty="0" smtClean="0"/>
              <a:t> area: l’endroit où tu prépares les fichiers avant de créer un commit.</a:t>
            </a:r>
            <a:endParaRPr sz="2400" dirty="0">
              <a:latin typeface="Calibri"/>
              <a:cs typeface="Calibri"/>
            </a:endParaRPr>
          </a:p>
        </p:txBody>
      </p:sp>
      <p:pic>
        <p:nvPicPr>
          <p:cNvPr id="6" name="Image 5"/>
          <p:cNvPicPr>
            <a:picLocks noChangeAspect="1"/>
          </p:cNvPicPr>
          <p:nvPr/>
        </p:nvPicPr>
        <p:blipFill>
          <a:blip r:embed="rId2"/>
          <a:stretch>
            <a:fillRect/>
          </a:stretch>
        </p:blipFill>
        <p:spPr>
          <a:xfrm>
            <a:off x="2474912" y="3429000"/>
            <a:ext cx="7534275" cy="2867025"/>
          </a:xfrm>
          <a:prstGeom prst="rect">
            <a:avLst/>
          </a:prstGeom>
        </p:spPr>
      </p:pic>
      <p:sp>
        <p:nvSpPr>
          <p:cNvPr id="8" name="object 7"/>
          <p:cNvSpPr txBox="1"/>
          <p:nvPr/>
        </p:nvSpPr>
        <p:spPr>
          <a:xfrm>
            <a:off x="558800" y="2276827"/>
            <a:ext cx="11366500" cy="751488"/>
          </a:xfrm>
          <a:prstGeom prst="rect">
            <a:avLst/>
          </a:prstGeom>
        </p:spPr>
        <p:txBody>
          <a:bodyPr vert="horz" wrap="square" lIns="0" tIns="12700" rIns="0" bIns="0" rtlCol="0">
            <a:spAutoFit/>
          </a:bodyPr>
          <a:lstStyle/>
          <a:p>
            <a:pPr marL="354965" indent="-342265">
              <a:lnSpc>
                <a:spcPct val="100000"/>
              </a:lnSpc>
              <a:spcBef>
                <a:spcPts val="100"/>
              </a:spcBef>
              <a:buFont typeface="Arial MT"/>
              <a:buChar char="•"/>
              <a:tabLst>
                <a:tab pos="354965" algn="l"/>
              </a:tabLst>
            </a:pPr>
            <a:r>
              <a:rPr lang="fr-FR" sz="2400" dirty="0" err="1" smtClean="0"/>
              <a:t>Repository</a:t>
            </a:r>
            <a:r>
              <a:rPr lang="fr-FR" sz="2400" dirty="0" smtClean="0"/>
              <a:t>: l’endroit où sont stockés définitivement les </a:t>
            </a:r>
            <a:r>
              <a:rPr lang="fr-FR" sz="2400" dirty="0" err="1" smtClean="0"/>
              <a:t>commits</a:t>
            </a:r>
            <a:r>
              <a:rPr lang="fr-FR" sz="2400" dirty="0" smtClean="0"/>
              <a:t> et l’historique du projet.</a:t>
            </a:r>
            <a:endParaRPr sz="2400" dirty="0">
              <a:latin typeface="Calibri"/>
              <a:cs typeface="Calibri"/>
            </a:endParaRPr>
          </a:p>
        </p:txBody>
      </p:sp>
    </p:spTree>
    <p:extLst>
      <p:ext uri="{BB962C8B-B14F-4D97-AF65-F5344CB8AC3E}">
        <p14:creationId xmlns:p14="http://schemas.microsoft.com/office/powerpoint/2010/main" val="338747125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0538" y="3504133"/>
            <a:ext cx="9300261" cy="936154"/>
          </a:xfrm>
          <a:prstGeom prst="rect">
            <a:avLst/>
          </a:prstGeom>
        </p:spPr>
        <p:txBody>
          <a:bodyPr vert="horz" wrap="square" lIns="0" tIns="12700" rIns="0" bIns="0" rtlCol="0">
            <a:spAutoFit/>
          </a:bodyPr>
          <a:lstStyle/>
          <a:p>
            <a:pPr marL="12700">
              <a:lnSpc>
                <a:spcPct val="100000"/>
              </a:lnSpc>
              <a:spcBef>
                <a:spcPts val="100"/>
              </a:spcBef>
            </a:pPr>
            <a:r>
              <a:rPr lang="fr-FR" sz="6000" dirty="0"/>
              <a:t>5</a:t>
            </a:r>
            <a:r>
              <a:rPr sz="6000" dirty="0" smtClean="0"/>
              <a:t>.</a:t>
            </a:r>
            <a:r>
              <a:rPr sz="6000" spc="-150" dirty="0" smtClean="0"/>
              <a:t> </a:t>
            </a:r>
            <a:r>
              <a:rPr lang="fr-FR" sz="6000" spc="-150" dirty="0" smtClean="0"/>
              <a:t>Les </a:t>
            </a:r>
            <a:r>
              <a:rPr lang="fr-FR" sz="6000" dirty="0" smtClean="0"/>
              <a:t>Commandes de base git</a:t>
            </a:r>
            <a:endParaRPr sz="6000" dirty="0"/>
          </a:p>
        </p:txBody>
      </p:sp>
      <p:sp>
        <p:nvSpPr>
          <p:cNvPr id="3" name="object 3"/>
          <p:cNvSpPr txBox="1"/>
          <p:nvPr/>
        </p:nvSpPr>
        <p:spPr>
          <a:xfrm>
            <a:off x="11176507" y="6419494"/>
            <a:ext cx="102870" cy="208279"/>
          </a:xfrm>
          <a:prstGeom prst="rect">
            <a:avLst/>
          </a:prstGeom>
        </p:spPr>
        <p:txBody>
          <a:bodyPr vert="horz" wrap="square" lIns="0" tIns="12700" rIns="0" bIns="0" rtlCol="0">
            <a:spAutoFit/>
          </a:bodyPr>
          <a:lstStyle/>
          <a:p>
            <a:pPr marL="12700">
              <a:lnSpc>
                <a:spcPct val="100000"/>
              </a:lnSpc>
              <a:spcBef>
                <a:spcPts val="100"/>
              </a:spcBef>
            </a:pPr>
            <a:r>
              <a:rPr sz="1200" spc="-50" dirty="0">
                <a:solidFill>
                  <a:srgbClr val="A3A3A3"/>
                </a:solidFill>
                <a:latin typeface="Calibri"/>
                <a:cs typeface="Calibri"/>
              </a:rPr>
              <a:t>3</a:t>
            </a:r>
            <a:endParaRPr sz="1200">
              <a:latin typeface="Calibri"/>
              <a:cs typeface="Calibri"/>
            </a:endParaRPr>
          </a:p>
        </p:txBody>
      </p:sp>
    </p:spTree>
    <p:extLst>
      <p:ext uri="{BB962C8B-B14F-4D97-AF65-F5344CB8AC3E}">
        <p14:creationId xmlns:p14="http://schemas.microsoft.com/office/powerpoint/2010/main" val="106736843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lang="fr-FR" dirty="0" smtClean="0"/>
              <a:t>Création d’une copie locale du repo</a:t>
            </a:r>
            <a:endParaRPr spc="-25" dirty="0"/>
          </a:p>
        </p:txBody>
      </p:sp>
      <p:sp>
        <p:nvSpPr>
          <p:cNvPr id="5" name="object 5"/>
          <p:cNvSpPr txBox="1"/>
          <p:nvPr/>
        </p:nvSpPr>
        <p:spPr>
          <a:xfrm>
            <a:off x="609600" y="1524000"/>
            <a:ext cx="11442700" cy="382156"/>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b="1" dirty="0">
                <a:solidFill>
                  <a:srgbClr val="0070C0"/>
                </a:solidFill>
              </a:rPr>
              <a:t>g</a:t>
            </a:r>
            <a:r>
              <a:rPr lang="fr-FR" sz="2400" b="1" dirty="0" smtClean="0">
                <a:solidFill>
                  <a:srgbClr val="0070C0"/>
                </a:solidFill>
              </a:rPr>
              <a:t>it </a:t>
            </a:r>
            <a:r>
              <a:rPr lang="fr-FR" sz="2400" b="1" dirty="0" err="1" smtClean="0">
                <a:solidFill>
                  <a:srgbClr val="0070C0"/>
                </a:solidFill>
              </a:rPr>
              <a:t>init</a:t>
            </a:r>
            <a:r>
              <a:rPr lang="fr-FR" sz="2400" b="1" dirty="0" smtClean="0">
                <a:solidFill>
                  <a:srgbClr val="0070C0"/>
                </a:solidFill>
              </a:rPr>
              <a:t>: </a:t>
            </a:r>
            <a:r>
              <a:rPr lang="fr-FR" sz="2400" dirty="0" smtClean="0"/>
              <a:t>Permet d’initialiser un repo local vide dans votre répertoire courant.</a:t>
            </a:r>
            <a:endParaRPr sz="2400" dirty="0">
              <a:latin typeface="Calibri"/>
              <a:cs typeface="Calibri"/>
            </a:endParaRPr>
          </a:p>
        </p:txBody>
      </p:sp>
      <p:pic>
        <p:nvPicPr>
          <p:cNvPr id="3" name="Image 2"/>
          <p:cNvPicPr>
            <a:picLocks noChangeAspect="1"/>
          </p:cNvPicPr>
          <p:nvPr/>
        </p:nvPicPr>
        <p:blipFill>
          <a:blip r:embed="rId2"/>
          <a:stretch>
            <a:fillRect/>
          </a:stretch>
        </p:blipFill>
        <p:spPr>
          <a:xfrm>
            <a:off x="1828800" y="2971800"/>
            <a:ext cx="8763000" cy="2880533"/>
          </a:xfrm>
          <a:prstGeom prst="rect">
            <a:avLst/>
          </a:prstGeom>
        </p:spPr>
      </p:pic>
    </p:spTree>
    <p:extLst>
      <p:ext uri="{BB962C8B-B14F-4D97-AF65-F5344CB8AC3E}">
        <p14:creationId xmlns:p14="http://schemas.microsoft.com/office/powerpoint/2010/main" val="109688895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lang="fr-FR" dirty="0" smtClean="0"/>
              <a:t>Création d’une copie locale du repo</a:t>
            </a:r>
            <a:endParaRPr spc="-25" dirty="0"/>
          </a:p>
        </p:txBody>
      </p:sp>
      <p:sp>
        <p:nvSpPr>
          <p:cNvPr id="5" name="object 5"/>
          <p:cNvSpPr txBox="1"/>
          <p:nvPr/>
        </p:nvSpPr>
        <p:spPr>
          <a:xfrm>
            <a:off x="609600" y="1524000"/>
            <a:ext cx="11442700" cy="751488"/>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b="1" dirty="0" smtClean="0">
                <a:solidFill>
                  <a:srgbClr val="0070C0"/>
                </a:solidFill>
              </a:rPr>
              <a:t>git </a:t>
            </a:r>
            <a:r>
              <a:rPr lang="fr-FR" sz="2400" b="1" dirty="0" err="1" smtClean="0">
                <a:solidFill>
                  <a:srgbClr val="0070C0"/>
                </a:solidFill>
              </a:rPr>
              <a:t>status</a:t>
            </a:r>
            <a:r>
              <a:rPr lang="fr-FR" sz="2400" b="1" dirty="0" smtClean="0">
                <a:solidFill>
                  <a:srgbClr val="0070C0"/>
                </a:solidFill>
              </a:rPr>
              <a:t>: </a:t>
            </a:r>
            <a:r>
              <a:rPr lang="fr-FR" sz="2400" dirty="0" smtClean="0"/>
              <a:t>permet d’afficher l’état actuel du dépôt: fichiers </a:t>
            </a:r>
            <a:r>
              <a:rPr lang="fr-FR" sz="2400" dirty="0" err="1" smtClean="0"/>
              <a:t>modifiés,les</a:t>
            </a:r>
            <a:r>
              <a:rPr lang="fr-FR" sz="2400" dirty="0" smtClean="0"/>
              <a:t> fichiers prêts pour commit(dans la </a:t>
            </a:r>
            <a:r>
              <a:rPr lang="fr-FR" sz="2400" dirty="0" err="1" smtClean="0"/>
              <a:t>staging</a:t>
            </a:r>
            <a:r>
              <a:rPr lang="fr-FR" sz="2400" dirty="0" smtClean="0"/>
              <a:t> area),la branche sur laquelle tu travailles…</a:t>
            </a:r>
            <a:endParaRPr sz="2400" dirty="0">
              <a:latin typeface="Calibri"/>
              <a:cs typeface="Calibri"/>
            </a:endParaRPr>
          </a:p>
        </p:txBody>
      </p:sp>
      <p:pic>
        <p:nvPicPr>
          <p:cNvPr id="4" name="Image 3"/>
          <p:cNvPicPr>
            <a:picLocks noChangeAspect="1"/>
          </p:cNvPicPr>
          <p:nvPr/>
        </p:nvPicPr>
        <p:blipFill>
          <a:blip r:embed="rId2"/>
          <a:stretch>
            <a:fillRect/>
          </a:stretch>
        </p:blipFill>
        <p:spPr>
          <a:xfrm>
            <a:off x="1856989" y="3352800"/>
            <a:ext cx="8947921" cy="1918390"/>
          </a:xfrm>
          <a:prstGeom prst="rect">
            <a:avLst/>
          </a:prstGeom>
        </p:spPr>
      </p:pic>
    </p:spTree>
    <p:extLst>
      <p:ext uri="{BB962C8B-B14F-4D97-AF65-F5344CB8AC3E}">
        <p14:creationId xmlns:p14="http://schemas.microsoft.com/office/powerpoint/2010/main" val="189796921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lang="fr-FR" dirty="0" smtClean="0"/>
              <a:t>Création d’une copie locale du repo</a:t>
            </a:r>
            <a:endParaRPr spc="-25" dirty="0"/>
          </a:p>
        </p:txBody>
      </p:sp>
      <p:sp>
        <p:nvSpPr>
          <p:cNvPr id="5" name="object 5"/>
          <p:cNvSpPr txBox="1"/>
          <p:nvPr/>
        </p:nvSpPr>
        <p:spPr>
          <a:xfrm>
            <a:off x="609600" y="1524000"/>
            <a:ext cx="11442700" cy="382156"/>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b="1" dirty="0" smtClean="0">
                <a:solidFill>
                  <a:schemeClr val="tx1"/>
                </a:solidFill>
              </a:rPr>
              <a:t>Ajouter un fichier java qui permet d’afficher « Hello World » </a:t>
            </a:r>
            <a:endParaRPr lang="fr-FR" sz="2400" dirty="0">
              <a:solidFill>
                <a:schemeClr val="tx1"/>
              </a:solidFill>
              <a:latin typeface="Calibri"/>
              <a:cs typeface="Calibri"/>
            </a:endParaRPr>
          </a:p>
        </p:txBody>
      </p:sp>
      <p:pic>
        <p:nvPicPr>
          <p:cNvPr id="6" name="Image 5"/>
          <p:cNvPicPr>
            <a:picLocks noChangeAspect="1"/>
          </p:cNvPicPr>
          <p:nvPr/>
        </p:nvPicPr>
        <p:blipFill>
          <a:blip r:embed="rId2"/>
          <a:stretch>
            <a:fillRect/>
          </a:stretch>
        </p:blipFill>
        <p:spPr>
          <a:xfrm>
            <a:off x="1981200" y="2133600"/>
            <a:ext cx="8504158" cy="1855915"/>
          </a:xfrm>
          <a:prstGeom prst="rect">
            <a:avLst/>
          </a:prstGeom>
        </p:spPr>
      </p:pic>
      <p:pic>
        <p:nvPicPr>
          <p:cNvPr id="3" name="Image 2"/>
          <p:cNvPicPr>
            <a:picLocks noChangeAspect="1"/>
          </p:cNvPicPr>
          <p:nvPr/>
        </p:nvPicPr>
        <p:blipFill>
          <a:blip r:embed="rId3"/>
          <a:stretch>
            <a:fillRect/>
          </a:stretch>
        </p:blipFill>
        <p:spPr>
          <a:xfrm>
            <a:off x="2590800" y="4194963"/>
            <a:ext cx="7391400" cy="2292465"/>
          </a:xfrm>
          <a:prstGeom prst="rect">
            <a:avLst/>
          </a:prstGeom>
        </p:spPr>
      </p:pic>
    </p:spTree>
    <p:extLst>
      <p:ext uri="{BB962C8B-B14F-4D97-AF65-F5344CB8AC3E}">
        <p14:creationId xmlns:p14="http://schemas.microsoft.com/office/powerpoint/2010/main" val="46231165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lang="fr-FR" dirty="0" smtClean="0"/>
              <a:t>Création d’une copie locale du repo</a:t>
            </a:r>
            <a:endParaRPr spc="-25" dirty="0"/>
          </a:p>
        </p:txBody>
      </p:sp>
      <p:sp>
        <p:nvSpPr>
          <p:cNvPr id="5" name="object 5"/>
          <p:cNvSpPr txBox="1"/>
          <p:nvPr/>
        </p:nvSpPr>
        <p:spPr>
          <a:xfrm>
            <a:off x="609600" y="1524000"/>
            <a:ext cx="11442700" cy="751488"/>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b="1" dirty="0">
                <a:solidFill>
                  <a:srgbClr val="0070C0"/>
                </a:solidFill>
              </a:rPr>
              <a:t>g</a:t>
            </a:r>
            <a:r>
              <a:rPr lang="fr-FR" sz="2400" b="1" dirty="0" smtClean="0">
                <a:solidFill>
                  <a:srgbClr val="0070C0"/>
                </a:solidFill>
              </a:rPr>
              <a:t>it </a:t>
            </a:r>
            <a:r>
              <a:rPr lang="fr-FR" sz="2400" b="1" dirty="0" err="1" smtClean="0">
                <a:solidFill>
                  <a:srgbClr val="0070C0"/>
                </a:solidFill>
              </a:rPr>
              <a:t>add</a:t>
            </a:r>
            <a:r>
              <a:rPr lang="fr-FR" sz="2400" b="1" dirty="0" smtClean="0">
                <a:solidFill>
                  <a:srgbClr val="0070C0"/>
                </a:solidFill>
              </a:rPr>
              <a:t>: </a:t>
            </a:r>
            <a:r>
              <a:rPr lang="fr-FR" sz="2400" dirty="0" smtClean="0"/>
              <a:t>met les fichiers que tu as modifiés dans le </a:t>
            </a:r>
            <a:r>
              <a:rPr lang="fr-FR" sz="2400" dirty="0" err="1" smtClean="0"/>
              <a:t>staging</a:t>
            </a:r>
            <a:r>
              <a:rPr lang="fr-FR" sz="2400" dirty="0" smtClean="0"/>
              <a:t> area pour les préparer à être inclus dans le prochain commit.</a:t>
            </a:r>
            <a:endParaRPr sz="2400" dirty="0">
              <a:latin typeface="Calibri"/>
              <a:cs typeface="Calibri"/>
            </a:endParaRPr>
          </a:p>
        </p:txBody>
      </p:sp>
      <p:pic>
        <p:nvPicPr>
          <p:cNvPr id="4" name="Image 3"/>
          <p:cNvPicPr>
            <a:picLocks noChangeAspect="1"/>
          </p:cNvPicPr>
          <p:nvPr/>
        </p:nvPicPr>
        <p:blipFill>
          <a:blip r:embed="rId2"/>
          <a:stretch>
            <a:fillRect/>
          </a:stretch>
        </p:blipFill>
        <p:spPr>
          <a:xfrm>
            <a:off x="2133600" y="3085417"/>
            <a:ext cx="7309666" cy="614363"/>
          </a:xfrm>
          <a:prstGeom prst="rect">
            <a:avLst/>
          </a:prstGeom>
        </p:spPr>
      </p:pic>
      <p:sp>
        <p:nvSpPr>
          <p:cNvPr id="6" name="object 5"/>
          <p:cNvSpPr txBox="1"/>
          <p:nvPr/>
        </p:nvSpPr>
        <p:spPr>
          <a:xfrm>
            <a:off x="609600" y="4343400"/>
            <a:ext cx="11442700" cy="751488"/>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b="1" dirty="0">
                <a:solidFill>
                  <a:srgbClr val="0070C0"/>
                </a:solidFill>
              </a:rPr>
              <a:t>g</a:t>
            </a:r>
            <a:r>
              <a:rPr lang="fr-FR" sz="2400" b="1" dirty="0" smtClean="0">
                <a:solidFill>
                  <a:srgbClr val="0070C0"/>
                </a:solidFill>
              </a:rPr>
              <a:t>it </a:t>
            </a:r>
            <a:r>
              <a:rPr lang="fr-FR" sz="2400" b="1" dirty="0" err="1" smtClean="0">
                <a:solidFill>
                  <a:srgbClr val="0070C0"/>
                </a:solidFill>
              </a:rPr>
              <a:t>add</a:t>
            </a:r>
            <a:r>
              <a:rPr lang="fr-FR" sz="2400" b="1" dirty="0" smtClean="0">
                <a:solidFill>
                  <a:srgbClr val="0070C0"/>
                </a:solidFill>
              </a:rPr>
              <a:t> .  : </a:t>
            </a:r>
            <a:r>
              <a:rPr lang="fr-FR" sz="2400" dirty="0" smtClean="0"/>
              <a:t>le « . » pour dire ajouter tous les fichiers modifiés, créés ou supprimés du dossier courant et de ses sous-dossiers au </a:t>
            </a:r>
            <a:r>
              <a:rPr lang="fr-FR" sz="2400" dirty="0" err="1" smtClean="0"/>
              <a:t>staging</a:t>
            </a:r>
            <a:r>
              <a:rPr lang="fr-FR" sz="2400" dirty="0" smtClean="0"/>
              <a:t> area.</a:t>
            </a:r>
            <a:endParaRPr sz="2400" dirty="0">
              <a:latin typeface="Calibri"/>
              <a:cs typeface="Calibri"/>
            </a:endParaRPr>
          </a:p>
        </p:txBody>
      </p:sp>
    </p:spTree>
    <p:extLst>
      <p:ext uri="{BB962C8B-B14F-4D97-AF65-F5344CB8AC3E}">
        <p14:creationId xmlns:p14="http://schemas.microsoft.com/office/powerpoint/2010/main" val="55862979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lang="fr-FR" dirty="0" smtClean="0"/>
              <a:t>Création d’une copie locale du repo</a:t>
            </a:r>
            <a:endParaRPr spc="-25" dirty="0"/>
          </a:p>
        </p:txBody>
      </p:sp>
      <p:pic>
        <p:nvPicPr>
          <p:cNvPr id="7" name="Image 6"/>
          <p:cNvPicPr>
            <a:picLocks noChangeAspect="1"/>
          </p:cNvPicPr>
          <p:nvPr/>
        </p:nvPicPr>
        <p:blipFill>
          <a:blip r:embed="rId2"/>
          <a:stretch>
            <a:fillRect/>
          </a:stretch>
        </p:blipFill>
        <p:spPr>
          <a:xfrm>
            <a:off x="2514600" y="2133600"/>
            <a:ext cx="7760729" cy="2895600"/>
          </a:xfrm>
          <a:prstGeom prst="rect">
            <a:avLst/>
          </a:prstGeom>
        </p:spPr>
      </p:pic>
    </p:spTree>
    <p:extLst>
      <p:ext uri="{BB962C8B-B14F-4D97-AF65-F5344CB8AC3E}">
        <p14:creationId xmlns:p14="http://schemas.microsoft.com/office/powerpoint/2010/main" val="19927994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lang="fr-FR" dirty="0" smtClean="0"/>
              <a:t>Création d’une copie locale du repo</a:t>
            </a:r>
            <a:endParaRPr spc="-25" dirty="0"/>
          </a:p>
        </p:txBody>
      </p:sp>
      <p:sp>
        <p:nvSpPr>
          <p:cNvPr id="5" name="object 5"/>
          <p:cNvSpPr txBox="1"/>
          <p:nvPr/>
        </p:nvSpPr>
        <p:spPr>
          <a:xfrm>
            <a:off x="609600" y="1524000"/>
            <a:ext cx="11442700" cy="751488"/>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b="1" dirty="0">
                <a:solidFill>
                  <a:srgbClr val="0070C0"/>
                </a:solidFill>
              </a:rPr>
              <a:t>g</a:t>
            </a:r>
            <a:r>
              <a:rPr lang="fr-FR" sz="2400" b="1" dirty="0" smtClean="0">
                <a:solidFill>
                  <a:srgbClr val="0070C0"/>
                </a:solidFill>
              </a:rPr>
              <a:t>it commit –m « message »: </a:t>
            </a:r>
            <a:r>
              <a:rPr lang="fr-FR" sz="2400" dirty="0" smtClean="0"/>
              <a:t>Permet de valider ce qui se trouve dans le </a:t>
            </a:r>
            <a:r>
              <a:rPr lang="fr-FR" sz="2400" dirty="0" err="1" smtClean="0"/>
              <a:t>staging</a:t>
            </a:r>
            <a:r>
              <a:rPr lang="fr-FR" sz="2400" dirty="0" smtClean="0"/>
              <a:t> area, en ajoutant un message descriptif pour expliquer le changement.</a:t>
            </a:r>
            <a:endParaRPr sz="2400" dirty="0">
              <a:latin typeface="Calibri"/>
              <a:cs typeface="Calibri"/>
            </a:endParaRPr>
          </a:p>
        </p:txBody>
      </p:sp>
      <p:pic>
        <p:nvPicPr>
          <p:cNvPr id="6" name="Image 5"/>
          <p:cNvPicPr>
            <a:picLocks noChangeAspect="1"/>
          </p:cNvPicPr>
          <p:nvPr/>
        </p:nvPicPr>
        <p:blipFill>
          <a:blip r:embed="rId2"/>
          <a:stretch>
            <a:fillRect/>
          </a:stretch>
        </p:blipFill>
        <p:spPr>
          <a:xfrm>
            <a:off x="891391" y="3810000"/>
            <a:ext cx="10808229" cy="1428750"/>
          </a:xfrm>
          <a:prstGeom prst="rect">
            <a:avLst/>
          </a:prstGeom>
        </p:spPr>
      </p:pic>
    </p:spTree>
    <p:extLst>
      <p:ext uri="{BB962C8B-B14F-4D97-AF65-F5344CB8AC3E}">
        <p14:creationId xmlns:p14="http://schemas.microsoft.com/office/powerpoint/2010/main" val="114824866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lang="fr-FR" dirty="0" smtClean="0"/>
              <a:t>Création d’une copie locale du repo</a:t>
            </a:r>
            <a:endParaRPr spc="-25" dirty="0"/>
          </a:p>
        </p:txBody>
      </p:sp>
      <p:sp>
        <p:nvSpPr>
          <p:cNvPr id="5" name="object 5"/>
          <p:cNvSpPr txBox="1"/>
          <p:nvPr/>
        </p:nvSpPr>
        <p:spPr>
          <a:xfrm>
            <a:off x="609600" y="1524000"/>
            <a:ext cx="11442700" cy="382156"/>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b="1" dirty="0">
                <a:solidFill>
                  <a:srgbClr val="0070C0"/>
                </a:solidFill>
              </a:rPr>
              <a:t>g</a:t>
            </a:r>
            <a:r>
              <a:rPr lang="fr-FR" sz="2400" b="1" dirty="0" smtClean="0">
                <a:solidFill>
                  <a:srgbClr val="0070C0"/>
                </a:solidFill>
              </a:rPr>
              <a:t>it </a:t>
            </a:r>
            <a:r>
              <a:rPr lang="fr-FR" sz="2400" b="1" dirty="0" err="1" smtClean="0">
                <a:solidFill>
                  <a:srgbClr val="0070C0"/>
                </a:solidFill>
              </a:rPr>
              <a:t>branch</a:t>
            </a:r>
            <a:r>
              <a:rPr lang="fr-FR" sz="2400" b="1" dirty="0" smtClean="0">
                <a:solidFill>
                  <a:srgbClr val="0070C0"/>
                </a:solidFill>
              </a:rPr>
              <a:t>: </a:t>
            </a:r>
            <a:r>
              <a:rPr lang="fr-FR" sz="2400" dirty="0" smtClean="0"/>
              <a:t>lister les branches existantes.</a:t>
            </a:r>
            <a:endParaRPr sz="2400" dirty="0">
              <a:latin typeface="Calibri"/>
              <a:cs typeface="Calibri"/>
            </a:endParaRPr>
          </a:p>
        </p:txBody>
      </p:sp>
      <p:sp>
        <p:nvSpPr>
          <p:cNvPr id="7" name="object 5"/>
          <p:cNvSpPr txBox="1"/>
          <p:nvPr/>
        </p:nvSpPr>
        <p:spPr>
          <a:xfrm>
            <a:off x="627668" y="2133600"/>
            <a:ext cx="11442700" cy="751488"/>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b="1" dirty="0">
                <a:solidFill>
                  <a:srgbClr val="0070C0"/>
                </a:solidFill>
              </a:rPr>
              <a:t>g</a:t>
            </a:r>
            <a:r>
              <a:rPr lang="fr-FR" sz="2400" b="1" dirty="0" smtClean="0">
                <a:solidFill>
                  <a:srgbClr val="0070C0"/>
                </a:solidFill>
              </a:rPr>
              <a:t>it </a:t>
            </a:r>
            <a:r>
              <a:rPr lang="fr-FR" sz="2400" b="1" dirty="0" err="1" smtClean="0">
                <a:solidFill>
                  <a:srgbClr val="0070C0"/>
                </a:solidFill>
              </a:rPr>
              <a:t>branch</a:t>
            </a:r>
            <a:r>
              <a:rPr lang="fr-FR" sz="2400" b="1" dirty="0" smtClean="0">
                <a:solidFill>
                  <a:srgbClr val="0070C0"/>
                </a:solidFill>
              </a:rPr>
              <a:t> –M main: </a:t>
            </a:r>
            <a:r>
              <a:rPr lang="fr-FR" sz="2400" dirty="0" smtClean="0"/>
              <a:t>changer le nom de la branche par défaut qui est master (devenue main depuis 2020).</a:t>
            </a:r>
            <a:endParaRPr sz="2400" dirty="0">
              <a:latin typeface="Calibri"/>
              <a:cs typeface="Calibri"/>
            </a:endParaRPr>
          </a:p>
        </p:txBody>
      </p:sp>
      <p:pic>
        <p:nvPicPr>
          <p:cNvPr id="3" name="Image 2"/>
          <p:cNvPicPr>
            <a:picLocks noChangeAspect="1"/>
          </p:cNvPicPr>
          <p:nvPr/>
        </p:nvPicPr>
        <p:blipFill>
          <a:blip r:embed="rId2"/>
          <a:stretch>
            <a:fillRect/>
          </a:stretch>
        </p:blipFill>
        <p:spPr>
          <a:xfrm>
            <a:off x="1828800" y="3657600"/>
            <a:ext cx="9012326" cy="1676400"/>
          </a:xfrm>
          <a:prstGeom prst="rect">
            <a:avLst/>
          </a:prstGeom>
        </p:spPr>
      </p:pic>
    </p:spTree>
    <p:extLst>
      <p:ext uri="{BB962C8B-B14F-4D97-AF65-F5344CB8AC3E}">
        <p14:creationId xmlns:p14="http://schemas.microsoft.com/office/powerpoint/2010/main" val="181504132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lang="fr-FR" dirty="0" smtClean="0"/>
              <a:t>Création d’une copie locale du repo</a:t>
            </a:r>
            <a:endParaRPr spc="-25" dirty="0"/>
          </a:p>
        </p:txBody>
      </p:sp>
      <p:sp>
        <p:nvSpPr>
          <p:cNvPr id="5" name="object 5"/>
          <p:cNvSpPr txBox="1"/>
          <p:nvPr/>
        </p:nvSpPr>
        <p:spPr>
          <a:xfrm>
            <a:off x="609600" y="990600"/>
            <a:ext cx="11442700" cy="1120820"/>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b="1" dirty="0" smtClean="0">
                <a:solidFill>
                  <a:srgbClr val="0070C0"/>
                </a:solidFill>
              </a:rPr>
              <a:t>git </a:t>
            </a:r>
            <a:r>
              <a:rPr lang="fr-FR" sz="2400" b="1" dirty="0" err="1" smtClean="0">
                <a:solidFill>
                  <a:srgbClr val="0070C0"/>
                </a:solidFill>
              </a:rPr>
              <a:t>remote</a:t>
            </a:r>
            <a:r>
              <a:rPr lang="fr-FR" sz="2400" b="1" dirty="0" smtClean="0">
                <a:solidFill>
                  <a:srgbClr val="0070C0"/>
                </a:solidFill>
              </a:rPr>
              <a:t> </a:t>
            </a:r>
            <a:r>
              <a:rPr lang="fr-FR" sz="2400" b="1" dirty="0" err="1" smtClean="0">
                <a:solidFill>
                  <a:srgbClr val="0070C0"/>
                </a:solidFill>
              </a:rPr>
              <a:t>add</a:t>
            </a:r>
            <a:r>
              <a:rPr lang="fr-FR" sz="2400" b="1" dirty="0" smtClean="0">
                <a:solidFill>
                  <a:srgbClr val="0070C0"/>
                </a:solidFill>
              </a:rPr>
              <a:t> &lt;nom&gt; &lt;url&gt;: </a:t>
            </a:r>
            <a:r>
              <a:rPr lang="fr-FR" sz="2400" dirty="0" smtClean="0"/>
              <a:t>Permet de lier le repo local (initié par </a:t>
            </a:r>
            <a:r>
              <a:rPr lang="fr-FR" sz="2400" dirty="0" err="1" smtClean="0"/>
              <a:t>init</a:t>
            </a:r>
            <a:r>
              <a:rPr lang="fr-FR" sz="2400" dirty="0" smtClean="0"/>
              <a:t>) à un repo distant (url sur </a:t>
            </a:r>
            <a:r>
              <a:rPr lang="fr-FR" sz="2400" dirty="0" err="1" smtClean="0"/>
              <a:t>GitHub</a:t>
            </a:r>
            <a:r>
              <a:rPr lang="fr-FR" sz="2400" dirty="0" smtClean="0"/>
              <a:t>). Tu dis à Git où envoyer (push) et d’où récupérer (pull) ton code.</a:t>
            </a:r>
          </a:p>
        </p:txBody>
      </p:sp>
      <p:pic>
        <p:nvPicPr>
          <p:cNvPr id="3" name="Image 2"/>
          <p:cNvPicPr>
            <a:picLocks noChangeAspect="1"/>
          </p:cNvPicPr>
          <p:nvPr/>
        </p:nvPicPr>
        <p:blipFill>
          <a:blip r:embed="rId2"/>
          <a:stretch>
            <a:fillRect/>
          </a:stretch>
        </p:blipFill>
        <p:spPr>
          <a:xfrm>
            <a:off x="1460245" y="2514600"/>
            <a:ext cx="10239375" cy="381000"/>
          </a:xfrm>
          <a:prstGeom prst="rect">
            <a:avLst/>
          </a:prstGeom>
        </p:spPr>
      </p:pic>
      <p:sp>
        <p:nvSpPr>
          <p:cNvPr id="7" name="object 5"/>
          <p:cNvSpPr txBox="1"/>
          <p:nvPr/>
        </p:nvSpPr>
        <p:spPr>
          <a:xfrm>
            <a:off x="609600" y="3124200"/>
            <a:ext cx="11442700" cy="751488"/>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b="1" dirty="0" smtClean="0">
                <a:solidFill>
                  <a:srgbClr val="0070C0"/>
                </a:solidFill>
              </a:rPr>
              <a:t>git push –u </a:t>
            </a:r>
            <a:r>
              <a:rPr lang="fr-FR" sz="2400" b="1" dirty="0" err="1" smtClean="0">
                <a:solidFill>
                  <a:srgbClr val="0070C0"/>
                </a:solidFill>
              </a:rPr>
              <a:t>origin</a:t>
            </a:r>
            <a:r>
              <a:rPr lang="fr-FR" sz="2400" b="1" dirty="0" smtClean="0">
                <a:solidFill>
                  <a:srgbClr val="0070C0"/>
                </a:solidFill>
              </a:rPr>
              <a:t> main: </a:t>
            </a:r>
            <a:r>
              <a:rPr lang="fr-FR" sz="2400" dirty="0" smtClean="0">
                <a:solidFill>
                  <a:schemeClr val="tx1"/>
                </a:solidFill>
              </a:rPr>
              <a:t>Permet</a:t>
            </a:r>
            <a:r>
              <a:rPr lang="fr-FR" sz="2400" b="1" dirty="0" smtClean="0">
                <a:solidFill>
                  <a:srgbClr val="0070C0"/>
                </a:solidFill>
              </a:rPr>
              <a:t> </a:t>
            </a:r>
            <a:r>
              <a:rPr lang="fr-FR" sz="2400" dirty="0" smtClean="0">
                <a:solidFill>
                  <a:schemeClr val="tx1"/>
                </a:solidFill>
              </a:rPr>
              <a:t>d’</a:t>
            </a:r>
            <a:r>
              <a:rPr lang="fr-FR" sz="2400" dirty="0" smtClean="0"/>
              <a:t>envoyer ton code sur </a:t>
            </a:r>
            <a:r>
              <a:rPr lang="fr-FR" sz="2400" dirty="0" err="1" smtClean="0"/>
              <a:t>GitHub</a:t>
            </a:r>
            <a:r>
              <a:rPr lang="fr-FR" sz="2400" dirty="0" smtClean="0"/>
              <a:t>(repo distant défini par </a:t>
            </a:r>
            <a:r>
              <a:rPr lang="fr-FR" sz="2400" dirty="0" err="1" smtClean="0"/>
              <a:t>origin</a:t>
            </a:r>
            <a:r>
              <a:rPr lang="fr-FR" sz="2400" dirty="0" smtClean="0"/>
              <a:t>) et associer ta branche locale à la branche distante( le rôle de –u)</a:t>
            </a:r>
          </a:p>
        </p:txBody>
      </p:sp>
      <p:pic>
        <p:nvPicPr>
          <p:cNvPr id="4" name="Image 3"/>
          <p:cNvPicPr>
            <a:picLocks noChangeAspect="1"/>
          </p:cNvPicPr>
          <p:nvPr/>
        </p:nvPicPr>
        <p:blipFill>
          <a:blip r:embed="rId3"/>
          <a:stretch>
            <a:fillRect/>
          </a:stretch>
        </p:blipFill>
        <p:spPr>
          <a:xfrm>
            <a:off x="2949575" y="4191000"/>
            <a:ext cx="6762750" cy="2495550"/>
          </a:xfrm>
          <a:prstGeom prst="rect">
            <a:avLst/>
          </a:prstGeom>
        </p:spPr>
      </p:pic>
    </p:spTree>
    <p:extLst>
      <p:ext uri="{BB962C8B-B14F-4D97-AF65-F5344CB8AC3E}">
        <p14:creationId xmlns:p14="http://schemas.microsoft.com/office/powerpoint/2010/main" val="119607453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lang="fr-FR" dirty="0" smtClean="0"/>
              <a:t>Création d’une copie locale du repo</a:t>
            </a:r>
            <a:endParaRPr spc="-25" dirty="0"/>
          </a:p>
        </p:txBody>
      </p:sp>
      <p:pic>
        <p:nvPicPr>
          <p:cNvPr id="8" name="Image 7"/>
          <p:cNvPicPr>
            <a:picLocks noChangeAspect="1"/>
          </p:cNvPicPr>
          <p:nvPr/>
        </p:nvPicPr>
        <p:blipFill>
          <a:blip r:embed="rId2"/>
          <a:stretch>
            <a:fillRect/>
          </a:stretch>
        </p:blipFill>
        <p:spPr>
          <a:xfrm>
            <a:off x="685800" y="2133601"/>
            <a:ext cx="11271493" cy="2820126"/>
          </a:xfrm>
          <a:prstGeom prst="rect">
            <a:avLst/>
          </a:prstGeom>
        </p:spPr>
      </p:pic>
    </p:spTree>
    <p:extLst>
      <p:ext uri="{BB962C8B-B14F-4D97-AF65-F5344CB8AC3E}">
        <p14:creationId xmlns:p14="http://schemas.microsoft.com/office/powerpoint/2010/main" val="86494344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0538" y="3504133"/>
            <a:ext cx="9986061" cy="1859483"/>
          </a:xfrm>
          <a:prstGeom prst="rect">
            <a:avLst/>
          </a:prstGeom>
        </p:spPr>
        <p:txBody>
          <a:bodyPr vert="horz" wrap="square" lIns="0" tIns="12700" rIns="0" bIns="0" rtlCol="0">
            <a:spAutoFit/>
          </a:bodyPr>
          <a:lstStyle/>
          <a:p>
            <a:pPr marL="12700">
              <a:lnSpc>
                <a:spcPct val="100000"/>
              </a:lnSpc>
              <a:spcBef>
                <a:spcPts val="100"/>
              </a:spcBef>
            </a:pPr>
            <a:r>
              <a:rPr lang="fr-FR" sz="6000" dirty="0"/>
              <a:t>5</a:t>
            </a:r>
            <a:r>
              <a:rPr sz="6000" dirty="0" smtClean="0"/>
              <a:t>.</a:t>
            </a:r>
            <a:r>
              <a:rPr sz="6000" spc="-150" dirty="0" smtClean="0"/>
              <a:t> </a:t>
            </a:r>
            <a:r>
              <a:rPr lang="fr-FR" sz="6000" dirty="0" smtClean="0"/>
              <a:t>Les branches et la gestion de conflits</a:t>
            </a:r>
            <a:endParaRPr sz="6000" dirty="0"/>
          </a:p>
        </p:txBody>
      </p:sp>
      <p:sp>
        <p:nvSpPr>
          <p:cNvPr id="3" name="object 3"/>
          <p:cNvSpPr txBox="1"/>
          <p:nvPr/>
        </p:nvSpPr>
        <p:spPr>
          <a:xfrm>
            <a:off x="11176507" y="6419494"/>
            <a:ext cx="102870" cy="208279"/>
          </a:xfrm>
          <a:prstGeom prst="rect">
            <a:avLst/>
          </a:prstGeom>
        </p:spPr>
        <p:txBody>
          <a:bodyPr vert="horz" wrap="square" lIns="0" tIns="12700" rIns="0" bIns="0" rtlCol="0">
            <a:spAutoFit/>
          </a:bodyPr>
          <a:lstStyle/>
          <a:p>
            <a:pPr marL="12700">
              <a:lnSpc>
                <a:spcPct val="100000"/>
              </a:lnSpc>
              <a:spcBef>
                <a:spcPts val="100"/>
              </a:spcBef>
            </a:pPr>
            <a:r>
              <a:rPr sz="1200" spc="-50" dirty="0">
                <a:solidFill>
                  <a:srgbClr val="A3A3A3"/>
                </a:solidFill>
                <a:latin typeface="Calibri"/>
                <a:cs typeface="Calibri"/>
              </a:rPr>
              <a:t>3</a:t>
            </a:r>
            <a:endParaRPr sz="1200">
              <a:latin typeface="Calibri"/>
              <a:cs typeface="Calibri"/>
            </a:endParaRPr>
          </a:p>
        </p:txBody>
      </p:sp>
    </p:spTree>
    <p:extLst>
      <p:ext uri="{BB962C8B-B14F-4D97-AF65-F5344CB8AC3E}">
        <p14:creationId xmlns:p14="http://schemas.microsoft.com/office/powerpoint/2010/main" val="62250149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dirty="0"/>
              <a:t>Le</a:t>
            </a:r>
            <a:r>
              <a:rPr spc="-10" dirty="0"/>
              <a:t> </a:t>
            </a:r>
            <a:r>
              <a:rPr dirty="0"/>
              <a:t>branchement</a:t>
            </a:r>
            <a:r>
              <a:rPr spc="-30" dirty="0"/>
              <a:t> </a:t>
            </a:r>
            <a:r>
              <a:rPr dirty="0"/>
              <a:t>-</a:t>
            </a:r>
            <a:r>
              <a:rPr spc="5" dirty="0"/>
              <a:t> </a:t>
            </a:r>
            <a:r>
              <a:rPr spc="-10" dirty="0"/>
              <a:t>principe</a:t>
            </a:r>
          </a:p>
        </p:txBody>
      </p:sp>
      <p:sp>
        <p:nvSpPr>
          <p:cNvPr id="3" name="object 3"/>
          <p:cNvSpPr txBox="1"/>
          <p:nvPr/>
        </p:nvSpPr>
        <p:spPr>
          <a:xfrm>
            <a:off x="520700" y="1143380"/>
            <a:ext cx="11381105" cy="3317875"/>
          </a:xfrm>
          <a:prstGeom prst="rect">
            <a:avLst/>
          </a:prstGeom>
        </p:spPr>
        <p:txBody>
          <a:bodyPr vert="horz" wrap="square" lIns="0" tIns="12700" rIns="0" bIns="0" rtlCol="0">
            <a:spAutoFit/>
          </a:bodyPr>
          <a:lstStyle/>
          <a:p>
            <a:pPr marL="353060" marR="5080" indent="-340360" algn="just">
              <a:lnSpc>
                <a:spcPct val="100000"/>
              </a:lnSpc>
              <a:spcBef>
                <a:spcPts val="100"/>
              </a:spcBef>
              <a:buFont typeface="Arial MT"/>
              <a:buChar char="•"/>
              <a:tabLst>
                <a:tab pos="355600" algn="l"/>
              </a:tabLst>
            </a:pPr>
            <a:r>
              <a:rPr sz="2400" dirty="0">
                <a:latin typeface="Calibri"/>
                <a:cs typeface="Calibri"/>
              </a:rPr>
              <a:t>Vous</a:t>
            </a:r>
            <a:r>
              <a:rPr sz="2400" spc="170" dirty="0">
                <a:latin typeface="Calibri"/>
                <a:cs typeface="Calibri"/>
              </a:rPr>
              <a:t> </a:t>
            </a:r>
            <a:r>
              <a:rPr sz="2400" dirty="0">
                <a:latin typeface="Calibri"/>
                <a:cs typeface="Calibri"/>
              </a:rPr>
              <a:t>pouvez</a:t>
            </a:r>
            <a:r>
              <a:rPr sz="2400" spc="170" dirty="0">
                <a:latin typeface="Calibri"/>
                <a:cs typeface="Calibri"/>
              </a:rPr>
              <a:t> </a:t>
            </a:r>
            <a:r>
              <a:rPr sz="2400" dirty="0">
                <a:latin typeface="Calibri"/>
                <a:cs typeface="Calibri"/>
              </a:rPr>
              <a:t>créer</a:t>
            </a:r>
            <a:r>
              <a:rPr sz="2400" spc="180" dirty="0">
                <a:latin typeface="Calibri"/>
                <a:cs typeface="Calibri"/>
              </a:rPr>
              <a:t> </a:t>
            </a:r>
            <a:r>
              <a:rPr sz="2400" dirty="0">
                <a:latin typeface="Calibri"/>
                <a:cs typeface="Calibri"/>
              </a:rPr>
              <a:t>plusieurs</a:t>
            </a:r>
            <a:r>
              <a:rPr sz="2400" spc="170" dirty="0">
                <a:latin typeface="Calibri"/>
                <a:cs typeface="Calibri"/>
              </a:rPr>
              <a:t> </a:t>
            </a:r>
            <a:r>
              <a:rPr sz="2400" dirty="0">
                <a:latin typeface="Calibri"/>
                <a:cs typeface="Calibri"/>
              </a:rPr>
              <a:t>branches</a:t>
            </a:r>
            <a:r>
              <a:rPr sz="2400" spc="175" dirty="0">
                <a:latin typeface="Calibri"/>
                <a:cs typeface="Calibri"/>
              </a:rPr>
              <a:t> </a:t>
            </a:r>
            <a:r>
              <a:rPr sz="2400" dirty="0">
                <a:latin typeface="Calibri"/>
                <a:cs typeface="Calibri"/>
              </a:rPr>
              <a:t>pour</a:t>
            </a:r>
            <a:r>
              <a:rPr sz="2400" spc="165" dirty="0">
                <a:latin typeface="Calibri"/>
                <a:cs typeface="Calibri"/>
              </a:rPr>
              <a:t> </a:t>
            </a:r>
            <a:r>
              <a:rPr sz="2400" dirty="0">
                <a:latin typeface="Calibri"/>
                <a:cs typeface="Calibri"/>
              </a:rPr>
              <a:t>travailler</a:t>
            </a:r>
            <a:r>
              <a:rPr sz="2400" spc="185" dirty="0">
                <a:latin typeface="Calibri"/>
                <a:cs typeface="Calibri"/>
              </a:rPr>
              <a:t> </a:t>
            </a:r>
            <a:r>
              <a:rPr sz="2400" dirty="0">
                <a:latin typeface="Calibri"/>
                <a:cs typeface="Calibri"/>
              </a:rPr>
              <a:t>sur</a:t>
            </a:r>
            <a:r>
              <a:rPr sz="2400" spc="170" dirty="0">
                <a:latin typeface="Calibri"/>
                <a:cs typeface="Calibri"/>
              </a:rPr>
              <a:t> </a:t>
            </a:r>
            <a:r>
              <a:rPr sz="2400" dirty="0">
                <a:latin typeface="Calibri"/>
                <a:cs typeface="Calibri"/>
              </a:rPr>
              <a:t>différentes</a:t>
            </a:r>
            <a:r>
              <a:rPr sz="2400" spc="175" dirty="0">
                <a:latin typeface="Calibri"/>
                <a:cs typeface="Calibri"/>
              </a:rPr>
              <a:t> </a:t>
            </a:r>
            <a:r>
              <a:rPr sz="2400" dirty="0">
                <a:latin typeface="Calibri"/>
                <a:cs typeface="Calibri"/>
              </a:rPr>
              <a:t>fonctionnalités</a:t>
            </a:r>
            <a:r>
              <a:rPr sz="2400" spc="170" dirty="0">
                <a:latin typeface="Calibri"/>
                <a:cs typeface="Calibri"/>
              </a:rPr>
              <a:t> </a:t>
            </a:r>
            <a:r>
              <a:rPr sz="2400" spc="-25" dirty="0">
                <a:latin typeface="Calibri"/>
                <a:cs typeface="Calibri"/>
              </a:rPr>
              <a:t>ou 	</a:t>
            </a:r>
            <a:r>
              <a:rPr sz="2400" dirty="0">
                <a:latin typeface="Calibri"/>
                <a:cs typeface="Calibri"/>
              </a:rPr>
              <a:t>correctifs</a:t>
            </a:r>
            <a:r>
              <a:rPr sz="2400" spc="195" dirty="0">
                <a:latin typeface="Calibri"/>
                <a:cs typeface="Calibri"/>
              </a:rPr>
              <a:t> </a:t>
            </a:r>
            <a:r>
              <a:rPr sz="2400" dirty="0">
                <a:latin typeface="Calibri"/>
                <a:cs typeface="Calibri"/>
              </a:rPr>
              <a:t>en</a:t>
            </a:r>
            <a:r>
              <a:rPr sz="2400" spc="204" dirty="0">
                <a:latin typeface="Calibri"/>
                <a:cs typeface="Calibri"/>
              </a:rPr>
              <a:t> </a:t>
            </a:r>
            <a:r>
              <a:rPr sz="2400" dirty="0">
                <a:latin typeface="Calibri"/>
                <a:cs typeface="Calibri"/>
              </a:rPr>
              <a:t>même</a:t>
            </a:r>
            <a:r>
              <a:rPr sz="2400" spc="190" dirty="0">
                <a:latin typeface="Calibri"/>
                <a:cs typeface="Calibri"/>
              </a:rPr>
              <a:t> </a:t>
            </a:r>
            <a:r>
              <a:rPr sz="2400" dirty="0">
                <a:latin typeface="Calibri"/>
                <a:cs typeface="Calibri"/>
              </a:rPr>
              <a:t>temps.</a:t>
            </a:r>
            <a:r>
              <a:rPr sz="2400" spc="195" dirty="0">
                <a:latin typeface="Calibri"/>
                <a:cs typeface="Calibri"/>
              </a:rPr>
              <a:t> </a:t>
            </a:r>
            <a:r>
              <a:rPr sz="2400" dirty="0">
                <a:latin typeface="Calibri"/>
                <a:cs typeface="Calibri"/>
              </a:rPr>
              <a:t>La</a:t>
            </a:r>
            <a:r>
              <a:rPr sz="2400" spc="195" dirty="0">
                <a:latin typeface="Calibri"/>
                <a:cs typeface="Calibri"/>
              </a:rPr>
              <a:t> </a:t>
            </a:r>
            <a:r>
              <a:rPr sz="2400" dirty="0">
                <a:latin typeface="Calibri"/>
                <a:cs typeface="Calibri"/>
              </a:rPr>
              <a:t>commande</a:t>
            </a:r>
            <a:r>
              <a:rPr sz="2400" spc="195" dirty="0">
                <a:latin typeface="Calibri"/>
                <a:cs typeface="Calibri"/>
              </a:rPr>
              <a:t> </a:t>
            </a:r>
            <a:r>
              <a:rPr sz="2400" b="1" dirty="0">
                <a:solidFill>
                  <a:schemeClr val="accent1"/>
                </a:solidFill>
                <a:latin typeface="Calibri"/>
                <a:cs typeface="Calibri"/>
              </a:rPr>
              <a:t>git</a:t>
            </a:r>
            <a:r>
              <a:rPr sz="2400" b="1" spc="200" dirty="0">
                <a:solidFill>
                  <a:schemeClr val="accent1"/>
                </a:solidFill>
                <a:latin typeface="Calibri"/>
                <a:cs typeface="Calibri"/>
              </a:rPr>
              <a:t> </a:t>
            </a:r>
            <a:r>
              <a:rPr sz="2400" b="1" dirty="0">
                <a:solidFill>
                  <a:schemeClr val="accent1"/>
                </a:solidFill>
                <a:latin typeface="Calibri"/>
                <a:cs typeface="Calibri"/>
              </a:rPr>
              <a:t>branch</a:t>
            </a:r>
            <a:r>
              <a:rPr sz="2400" b="1" spc="190" dirty="0">
                <a:solidFill>
                  <a:schemeClr val="accent1"/>
                </a:solidFill>
                <a:latin typeface="Calibri"/>
                <a:cs typeface="Calibri"/>
              </a:rPr>
              <a:t> </a:t>
            </a:r>
            <a:r>
              <a:rPr sz="2400" b="1" dirty="0">
                <a:solidFill>
                  <a:schemeClr val="accent1"/>
                </a:solidFill>
                <a:latin typeface="Calibri"/>
                <a:cs typeface="Calibri"/>
              </a:rPr>
              <a:t>&lt;nom_de_la_branche&gt;</a:t>
            </a:r>
            <a:r>
              <a:rPr sz="2400" b="1" spc="195" dirty="0">
                <a:solidFill>
                  <a:schemeClr val="accent1"/>
                </a:solidFill>
                <a:latin typeface="Calibri"/>
                <a:cs typeface="Calibri"/>
              </a:rPr>
              <a:t>  </a:t>
            </a:r>
            <a:r>
              <a:rPr sz="2400" dirty="0">
                <a:latin typeface="Calibri"/>
                <a:cs typeface="Calibri"/>
              </a:rPr>
              <a:t>crée</a:t>
            </a:r>
            <a:r>
              <a:rPr sz="2400" spc="210" dirty="0">
                <a:latin typeface="Calibri"/>
                <a:cs typeface="Calibri"/>
              </a:rPr>
              <a:t> </a:t>
            </a:r>
            <a:r>
              <a:rPr sz="2400" spc="-25" dirty="0">
                <a:latin typeface="Calibri"/>
                <a:cs typeface="Calibri"/>
              </a:rPr>
              <a:t>une 	</a:t>
            </a:r>
            <a:r>
              <a:rPr sz="2400" dirty="0">
                <a:latin typeface="Calibri"/>
                <a:cs typeface="Calibri"/>
              </a:rPr>
              <a:t>nouvelle</a:t>
            </a:r>
            <a:r>
              <a:rPr sz="2400" spc="-35" dirty="0">
                <a:latin typeface="Calibri"/>
                <a:cs typeface="Calibri"/>
              </a:rPr>
              <a:t> </a:t>
            </a:r>
            <a:r>
              <a:rPr sz="2400" dirty="0">
                <a:latin typeface="Calibri"/>
                <a:cs typeface="Calibri"/>
              </a:rPr>
              <a:t>branche</a:t>
            </a:r>
            <a:r>
              <a:rPr sz="2400" spc="-60" dirty="0">
                <a:latin typeface="Calibri"/>
                <a:cs typeface="Calibri"/>
              </a:rPr>
              <a:t> </a:t>
            </a:r>
            <a:r>
              <a:rPr sz="2400" dirty="0">
                <a:latin typeface="Calibri"/>
                <a:cs typeface="Calibri"/>
              </a:rPr>
              <a:t>à</a:t>
            </a:r>
            <a:r>
              <a:rPr sz="2400" spc="-50" dirty="0">
                <a:latin typeface="Calibri"/>
                <a:cs typeface="Calibri"/>
              </a:rPr>
              <a:t> </a:t>
            </a:r>
            <a:r>
              <a:rPr sz="2400" dirty="0">
                <a:latin typeface="Calibri"/>
                <a:cs typeface="Calibri"/>
              </a:rPr>
              <a:t>partir</a:t>
            </a:r>
            <a:r>
              <a:rPr sz="2400" spc="-55" dirty="0">
                <a:latin typeface="Calibri"/>
                <a:cs typeface="Calibri"/>
              </a:rPr>
              <a:t> </a:t>
            </a:r>
            <a:r>
              <a:rPr sz="2400" dirty="0">
                <a:latin typeface="Calibri"/>
                <a:cs typeface="Calibri"/>
              </a:rPr>
              <a:t>du</a:t>
            </a:r>
            <a:r>
              <a:rPr sz="2400" spc="-55" dirty="0">
                <a:latin typeface="Calibri"/>
                <a:cs typeface="Calibri"/>
              </a:rPr>
              <a:t> </a:t>
            </a:r>
            <a:r>
              <a:rPr sz="2400" dirty="0">
                <a:latin typeface="Calibri"/>
                <a:cs typeface="Calibri"/>
              </a:rPr>
              <a:t>dernier</a:t>
            </a:r>
            <a:r>
              <a:rPr sz="2400" spc="-40" dirty="0">
                <a:latin typeface="Calibri"/>
                <a:cs typeface="Calibri"/>
              </a:rPr>
              <a:t> </a:t>
            </a:r>
            <a:r>
              <a:rPr sz="2400" spc="-10" dirty="0">
                <a:latin typeface="Calibri"/>
                <a:cs typeface="Calibri"/>
              </a:rPr>
              <a:t>commit.</a:t>
            </a:r>
            <a:endParaRPr sz="2400" dirty="0">
              <a:latin typeface="Calibri"/>
              <a:cs typeface="Calibri"/>
            </a:endParaRPr>
          </a:p>
          <a:p>
            <a:pPr marL="353060" marR="5080" indent="-340360" algn="just">
              <a:lnSpc>
                <a:spcPct val="100000"/>
              </a:lnSpc>
              <a:spcBef>
                <a:spcPts val="2880"/>
              </a:spcBef>
              <a:buFont typeface="Arial MT"/>
              <a:buChar char="•"/>
              <a:tabLst>
                <a:tab pos="355600" algn="l"/>
              </a:tabLst>
            </a:pPr>
            <a:r>
              <a:rPr sz="2400" dirty="0">
                <a:latin typeface="Calibri"/>
                <a:cs typeface="Calibri"/>
              </a:rPr>
              <a:t>Chaque</a:t>
            </a:r>
            <a:r>
              <a:rPr sz="2400" spc="75" dirty="0">
                <a:latin typeface="Calibri"/>
                <a:cs typeface="Calibri"/>
              </a:rPr>
              <a:t>  </a:t>
            </a:r>
            <a:r>
              <a:rPr sz="2400" dirty="0">
                <a:latin typeface="Calibri"/>
                <a:cs typeface="Calibri"/>
              </a:rPr>
              <a:t>branche</a:t>
            </a:r>
            <a:r>
              <a:rPr sz="2400" spc="70" dirty="0">
                <a:latin typeface="Calibri"/>
                <a:cs typeface="Calibri"/>
              </a:rPr>
              <a:t>  </a:t>
            </a:r>
            <a:r>
              <a:rPr sz="2400" dirty="0">
                <a:latin typeface="Calibri"/>
                <a:cs typeface="Calibri"/>
              </a:rPr>
              <a:t>évolue</a:t>
            </a:r>
            <a:r>
              <a:rPr sz="2400" spc="75" dirty="0">
                <a:latin typeface="Calibri"/>
                <a:cs typeface="Calibri"/>
              </a:rPr>
              <a:t>  </a:t>
            </a:r>
            <a:r>
              <a:rPr sz="2400" dirty="0">
                <a:latin typeface="Calibri"/>
                <a:cs typeface="Calibri"/>
              </a:rPr>
              <a:t>de</a:t>
            </a:r>
            <a:r>
              <a:rPr sz="2400" spc="75" dirty="0">
                <a:latin typeface="Calibri"/>
                <a:cs typeface="Calibri"/>
              </a:rPr>
              <a:t>  </a:t>
            </a:r>
            <a:r>
              <a:rPr sz="2400" dirty="0">
                <a:latin typeface="Calibri"/>
                <a:cs typeface="Calibri"/>
              </a:rPr>
              <a:t>manière</a:t>
            </a:r>
            <a:r>
              <a:rPr sz="2400" spc="80" dirty="0">
                <a:latin typeface="Calibri"/>
                <a:cs typeface="Calibri"/>
              </a:rPr>
              <a:t>  </a:t>
            </a:r>
            <a:r>
              <a:rPr sz="2400" dirty="0">
                <a:latin typeface="Calibri"/>
                <a:cs typeface="Calibri"/>
              </a:rPr>
              <a:t>indépendante,</a:t>
            </a:r>
            <a:r>
              <a:rPr sz="2400" spc="70" dirty="0">
                <a:latin typeface="Calibri"/>
                <a:cs typeface="Calibri"/>
              </a:rPr>
              <a:t>  </a:t>
            </a:r>
            <a:r>
              <a:rPr sz="2400" dirty="0">
                <a:latin typeface="Calibri"/>
                <a:cs typeface="Calibri"/>
              </a:rPr>
              <a:t>avec</a:t>
            </a:r>
            <a:r>
              <a:rPr sz="2400" spc="80" dirty="0">
                <a:latin typeface="Calibri"/>
                <a:cs typeface="Calibri"/>
              </a:rPr>
              <a:t>  </a:t>
            </a:r>
            <a:r>
              <a:rPr sz="2400" dirty="0">
                <a:latin typeface="Calibri"/>
                <a:cs typeface="Calibri"/>
              </a:rPr>
              <a:t>son</a:t>
            </a:r>
            <a:r>
              <a:rPr sz="2400" spc="70" dirty="0">
                <a:latin typeface="Calibri"/>
                <a:cs typeface="Calibri"/>
              </a:rPr>
              <a:t>  </a:t>
            </a:r>
            <a:r>
              <a:rPr sz="2400" dirty="0">
                <a:latin typeface="Calibri"/>
                <a:cs typeface="Calibri"/>
              </a:rPr>
              <a:t>propre</a:t>
            </a:r>
            <a:r>
              <a:rPr sz="2400" spc="75" dirty="0">
                <a:latin typeface="Calibri"/>
                <a:cs typeface="Calibri"/>
              </a:rPr>
              <a:t>  </a:t>
            </a:r>
            <a:r>
              <a:rPr sz="2400" dirty="0">
                <a:latin typeface="Calibri"/>
                <a:cs typeface="Calibri"/>
              </a:rPr>
              <a:t>historique</a:t>
            </a:r>
            <a:r>
              <a:rPr sz="2400" spc="80" dirty="0">
                <a:latin typeface="Calibri"/>
                <a:cs typeface="Calibri"/>
              </a:rPr>
              <a:t>  </a:t>
            </a:r>
            <a:r>
              <a:rPr sz="2400" spc="-25" dirty="0">
                <a:latin typeface="Calibri"/>
                <a:cs typeface="Calibri"/>
              </a:rPr>
              <a:t>de 	</a:t>
            </a:r>
            <a:r>
              <a:rPr sz="2400" spc="-10" dirty="0">
                <a:latin typeface="Calibri"/>
                <a:cs typeface="Calibri"/>
              </a:rPr>
              <a:t>commits.</a:t>
            </a:r>
            <a:endParaRPr sz="2400" dirty="0">
              <a:latin typeface="Calibri"/>
              <a:cs typeface="Calibri"/>
            </a:endParaRPr>
          </a:p>
          <a:p>
            <a:pPr marL="353060" marR="5080" indent="-340360" algn="just">
              <a:lnSpc>
                <a:spcPct val="100000"/>
              </a:lnSpc>
              <a:spcBef>
                <a:spcPts val="2885"/>
              </a:spcBef>
              <a:buFont typeface="Arial MT"/>
              <a:buChar char="•"/>
              <a:tabLst>
                <a:tab pos="355600" algn="l"/>
              </a:tabLst>
            </a:pPr>
            <a:r>
              <a:rPr sz="2400" dirty="0">
                <a:latin typeface="Calibri"/>
                <a:cs typeface="Calibri"/>
              </a:rPr>
              <a:t>Cela</a:t>
            </a:r>
            <a:r>
              <a:rPr sz="2400" spc="290" dirty="0">
                <a:latin typeface="Calibri"/>
                <a:cs typeface="Calibri"/>
              </a:rPr>
              <a:t> </a:t>
            </a:r>
            <a:r>
              <a:rPr sz="2400" dirty="0">
                <a:latin typeface="Calibri"/>
                <a:cs typeface="Calibri"/>
              </a:rPr>
              <a:t>évite</a:t>
            </a:r>
            <a:r>
              <a:rPr sz="2400" spc="300" dirty="0">
                <a:latin typeface="Calibri"/>
                <a:cs typeface="Calibri"/>
              </a:rPr>
              <a:t> </a:t>
            </a:r>
            <a:r>
              <a:rPr sz="2400" dirty="0">
                <a:latin typeface="Calibri"/>
                <a:cs typeface="Calibri"/>
              </a:rPr>
              <a:t>les</a:t>
            </a:r>
            <a:r>
              <a:rPr sz="2400" spc="300" dirty="0">
                <a:latin typeface="Calibri"/>
                <a:cs typeface="Calibri"/>
              </a:rPr>
              <a:t> </a:t>
            </a:r>
            <a:r>
              <a:rPr sz="2400" dirty="0">
                <a:latin typeface="Calibri"/>
                <a:cs typeface="Calibri"/>
              </a:rPr>
              <a:t>conflits</a:t>
            </a:r>
            <a:r>
              <a:rPr sz="2400" spc="285" dirty="0">
                <a:latin typeface="Calibri"/>
                <a:cs typeface="Calibri"/>
              </a:rPr>
              <a:t> </a:t>
            </a:r>
            <a:r>
              <a:rPr sz="2400" dirty="0">
                <a:latin typeface="Calibri"/>
                <a:cs typeface="Calibri"/>
              </a:rPr>
              <a:t>potentiels</a:t>
            </a:r>
            <a:r>
              <a:rPr sz="2400" spc="300" dirty="0">
                <a:latin typeface="Calibri"/>
                <a:cs typeface="Calibri"/>
              </a:rPr>
              <a:t> </a:t>
            </a:r>
            <a:r>
              <a:rPr sz="2400" dirty="0">
                <a:latin typeface="Calibri"/>
                <a:cs typeface="Calibri"/>
              </a:rPr>
              <a:t>entre</a:t>
            </a:r>
            <a:r>
              <a:rPr sz="2400" spc="305" dirty="0">
                <a:latin typeface="Calibri"/>
                <a:cs typeface="Calibri"/>
              </a:rPr>
              <a:t> </a:t>
            </a:r>
            <a:r>
              <a:rPr sz="2400" dirty="0">
                <a:latin typeface="Calibri"/>
                <a:cs typeface="Calibri"/>
              </a:rPr>
              <a:t>les</a:t>
            </a:r>
            <a:r>
              <a:rPr sz="2400" spc="300" dirty="0">
                <a:latin typeface="Calibri"/>
                <a:cs typeface="Calibri"/>
              </a:rPr>
              <a:t> </a:t>
            </a:r>
            <a:r>
              <a:rPr sz="2400" dirty="0">
                <a:latin typeface="Calibri"/>
                <a:cs typeface="Calibri"/>
              </a:rPr>
              <a:t>développeurs</a:t>
            </a:r>
            <a:r>
              <a:rPr sz="2400" spc="305" dirty="0">
                <a:latin typeface="Calibri"/>
                <a:cs typeface="Calibri"/>
              </a:rPr>
              <a:t> </a:t>
            </a:r>
            <a:r>
              <a:rPr sz="2400" dirty="0">
                <a:latin typeface="Calibri"/>
                <a:cs typeface="Calibri"/>
              </a:rPr>
              <a:t>qui</a:t>
            </a:r>
            <a:r>
              <a:rPr sz="2400" spc="290" dirty="0">
                <a:latin typeface="Calibri"/>
                <a:cs typeface="Calibri"/>
              </a:rPr>
              <a:t> </a:t>
            </a:r>
            <a:r>
              <a:rPr sz="2400" dirty="0">
                <a:latin typeface="Calibri"/>
                <a:cs typeface="Calibri"/>
              </a:rPr>
              <a:t>travaillent</a:t>
            </a:r>
            <a:r>
              <a:rPr sz="2400" spc="285" dirty="0">
                <a:latin typeface="Calibri"/>
                <a:cs typeface="Calibri"/>
              </a:rPr>
              <a:t> </a:t>
            </a:r>
            <a:r>
              <a:rPr sz="2400" dirty="0">
                <a:latin typeface="Calibri"/>
                <a:cs typeface="Calibri"/>
              </a:rPr>
              <a:t>sur</a:t>
            </a:r>
            <a:r>
              <a:rPr sz="2400" spc="290" dirty="0">
                <a:latin typeface="Calibri"/>
                <a:cs typeface="Calibri"/>
              </a:rPr>
              <a:t> </a:t>
            </a:r>
            <a:r>
              <a:rPr sz="2400" spc="-10" dirty="0">
                <a:latin typeface="Calibri"/>
                <a:cs typeface="Calibri"/>
              </a:rPr>
              <a:t>différentes 	</a:t>
            </a:r>
            <a:r>
              <a:rPr sz="2400" dirty="0">
                <a:latin typeface="Calibri"/>
                <a:cs typeface="Calibri"/>
              </a:rPr>
              <a:t>parties</a:t>
            </a:r>
            <a:r>
              <a:rPr sz="2400" spc="-65" dirty="0">
                <a:latin typeface="Calibri"/>
                <a:cs typeface="Calibri"/>
              </a:rPr>
              <a:t> </a:t>
            </a:r>
            <a:r>
              <a:rPr sz="2400" dirty="0">
                <a:latin typeface="Calibri"/>
                <a:cs typeface="Calibri"/>
              </a:rPr>
              <a:t>du</a:t>
            </a:r>
            <a:r>
              <a:rPr sz="2400" spc="-45" dirty="0">
                <a:latin typeface="Calibri"/>
                <a:cs typeface="Calibri"/>
              </a:rPr>
              <a:t> </a:t>
            </a:r>
            <a:r>
              <a:rPr sz="2400" spc="-10" dirty="0">
                <a:latin typeface="Calibri"/>
                <a:cs typeface="Calibri"/>
              </a:rPr>
              <a:t>projet.</a:t>
            </a:r>
            <a:endParaRPr sz="2400" dirty="0">
              <a:latin typeface="Calibri"/>
              <a:cs typeface="Calibri"/>
            </a:endParaRPr>
          </a:p>
        </p:txBody>
      </p:sp>
      <p:pic>
        <p:nvPicPr>
          <p:cNvPr id="4" name="object 4"/>
          <p:cNvPicPr/>
          <p:nvPr/>
        </p:nvPicPr>
        <p:blipFill>
          <a:blip r:embed="rId2" cstate="print"/>
          <a:stretch>
            <a:fillRect/>
          </a:stretch>
        </p:blipFill>
        <p:spPr>
          <a:xfrm>
            <a:off x="3168269" y="4343463"/>
            <a:ext cx="8947531" cy="2372487"/>
          </a:xfrm>
          <a:prstGeom prst="rect">
            <a:avLst/>
          </a:prstGeom>
        </p:spPr>
      </p:pic>
    </p:spTree>
    <p:extLst>
      <p:ext uri="{BB962C8B-B14F-4D97-AF65-F5344CB8AC3E}">
        <p14:creationId xmlns:p14="http://schemas.microsoft.com/office/powerpoint/2010/main" val="207562067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lang="fr-FR" dirty="0"/>
              <a:t>La création et le changement de branches</a:t>
            </a:r>
            <a:endParaRPr spc="-25" dirty="0"/>
          </a:p>
        </p:txBody>
      </p:sp>
      <p:sp>
        <p:nvSpPr>
          <p:cNvPr id="5" name="object 5"/>
          <p:cNvSpPr txBox="1"/>
          <p:nvPr/>
        </p:nvSpPr>
        <p:spPr>
          <a:xfrm>
            <a:off x="609600" y="990600"/>
            <a:ext cx="11442700" cy="1490152"/>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dirty="0" smtClean="0"/>
              <a:t>La plupart des systèmes de gestion de versions offrent la possibilité de gérer des branches. Lorsqu’on crée une nouvelle branche, on se sépare de la ligne principale de développement pour pouvoir travailler indépendamment, sans affecter cette ligne principale.</a:t>
            </a:r>
          </a:p>
        </p:txBody>
      </p:sp>
      <p:pic>
        <p:nvPicPr>
          <p:cNvPr id="6" name="Image 5"/>
          <p:cNvPicPr>
            <a:picLocks noChangeAspect="1"/>
          </p:cNvPicPr>
          <p:nvPr/>
        </p:nvPicPr>
        <p:blipFill>
          <a:blip r:embed="rId2"/>
          <a:stretch>
            <a:fillRect/>
          </a:stretch>
        </p:blipFill>
        <p:spPr>
          <a:xfrm>
            <a:off x="1828800" y="3581400"/>
            <a:ext cx="8395682" cy="1738313"/>
          </a:xfrm>
          <a:prstGeom prst="rect">
            <a:avLst/>
          </a:prstGeom>
        </p:spPr>
      </p:pic>
    </p:spTree>
    <p:extLst>
      <p:ext uri="{BB962C8B-B14F-4D97-AF65-F5344CB8AC3E}">
        <p14:creationId xmlns:p14="http://schemas.microsoft.com/office/powerpoint/2010/main" val="336913156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lang="fr-FR" dirty="0"/>
              <a:t>La création et le changement de branches</a:t>
            </a:r>
            <a:endParaRPr spc="-25" dirty="0"/>
          </a:p>
        </p:txBody>
      </p:sp>
      <p:sp>
        <p:nvSpPr>
          <p:cNvPr id="5" name="object 5"/>
          <p:cNvSpPr txBox="1"/>
          <p:nvPr/>
        </p:nvSpPr>
        <p:spPr>
          <a:xfrm>
            <a:off x="609600" y="1524000"/>
            <a:ext cx="11442700" cy="382156"/>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b="1" dirty="0">
                <a:solidFill>
                  <a:srgbClr val="0070C0"/>
                </a:solidFill>
              </a:rPr>
              <a:t>g</a:t>
            </a:r>
            <a:r>
              <a:rPr lang="fr-FR" sz="2400" b="1" dirty="0" smtClean="0">
                <a:solidFill>
                  <a:srgbClr val="0070C0"/>
                </a:solidFill>
              </a:rPr>
              <a:t>it </a:t>
            </a:r>
            <a:r>
              <a:rPr lang="fr-FR" sz="2400" b="1" dirty="0" err="1" smtClean="0">
                <a:solidFill>
                  <a:srgbClr val="0070C0"/>
                </a:solidFill>
              </a:rPr>
              <a:t>branch</a:t>
            </a:r>
            <a:r>
              <a:rPr lang="fr-FR" sz="2400" b="1" dirty="0" smtClean="0">
                <a:solidFill>
                  <a:srgbClr val="0070C0"/>
                </a:solidFill>
              </a:rPr>
              <a:t> &lt;nom de la branche&gt;: </a:t>
            </a:r>
            <a:r>
              <a:rPr lang="fr-FR" sz="2400" dirty="0" smtClean="0"/>
              <a:t>créer une nouvelle branche.</a:t>
            </a:r>
            <a:endParaRPr sz="2400" dirty="0">
              <a:latin typeface="Calibri"/>
              <a:cs typeface="Calibri"/>
            </a:endParaRPr>
          </a:p>
        </p:txBody>
      </p:sp>
      <p:sp>
        <p:nvSpPr>
          <p:cNvPr id="7" name="object 5"/>
          <p:cNvSpPr txBox="1"/>
          <p:nvPr/>
        </p:nvSpPr>
        <p:spPr>
          <a:xfrm>
            <a:off x="627668" y="2133600"/>
            <a:ext cx="11442700" cy="382156"/>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b="1" dirty="0">
                <a:solidFill>
                  <a:srgbClr val="0070C0"/>
                </a:solidFill>
              </a:rPr>
              <a:t>g</a:t>
            </a:r>
            <a:r>
              <a:rPr lang="fr-FR" sz="2400" b="1" dirty="0" smtClean="0">
                <a:solidFill>
                  <a:srgbClr val="0070C0"/>
                </a:solidFill>
              </a:rPr>
              <a:t>it </a:t>
            </a:r>
            <a:r>
              <a:rPr lang="fr-FR" sz="2400" b="1" dirty="0" err="1" smtClean="0">
                <a:solidFill>
                  <a:srgbClr val="0070C0"/>
                </a:solidFill>
              </a:rPr>
              <a:t>checkout</a:t>
            </a:r>
            <a:r>
              <a:rPr lang="fr-FR" sz="2400" b="1" dirty="0" smtClean="0">
                <a:solidFill>
                  <a:srgbClr val="0070C0"/>
                </a:solidFill>
              </a:rPr>
              <a:t> &lt;nom de la branche&gt;: </a:t>
            </a:r>
            <a:r>
              <a:rPr lang="fr-FR" sz="2400" dirty="0" smtClean="0"/>
              <a:t>basculer vers la nouvelle branche.</a:t>
            </a:r>
            <a:endParaRPr sz="2400" dirty="0">
              <a:latin typeface="Calibri"/>
              <a:cs typeface="Calibri"/>
            </a:endParaRPr>
          </a:p>
        </p:txBody>
      </p:sp>
      <p:pic>
        <p:nvPicPr>
          <p:cNvPr id="4" name="Image 3"/>
          <p:cNvPicPr>
            <a:picLocks noChangeAspect="1"/>
          </p:cNvPicPr>
          <p:nvPr/>
        </p:nvPicPr>
        <p:blipFill>
          <a:blip r:embed="rId2"/>
          <a:stretch>
            <a:fillRect/>
          </a:stretch>
        </p:blipFill>
        <p:spPr>
          <a:xfrm>
            <a:off x="2057400" y="3352800"/>
            <a:ext cx="8167480" cy="2171700"/>
          </a:xfrm>
          <a:prstGeom prst="rect">
            <a:avLst/>
          </a:prstGeom>
        </p:spPr>
      </p:pic>
    </p:spTree>
    <p:extLst>
      <p:ext uri="{BB962C8B-B14F-4D97-AF65-F5344CB8AC3E}">
        <p14:creationId xmlns:p14="http://schemas.microsoft.com/office/powerpoint/2010/main" val="264838186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lang="fr-FR" dirty="0"/>
              <a:t>La création et le changement de branches</a:t>
            </a:r>
            <a:endParaRPr spc="-25" dirty="0"/>
          </a:p>
        </p:txBody>
      </p:sp>
      <p:sp>
        <p:nvSpPr>
          <p:cNvPr id="7" name="object 5"/>
          <p:cNvSpPr txBox="1"/>
          <p:nvPr/>
        </p:nvSpPr>
        <p:spPr>
          <a:xfrm>
            <a:off x="609600" y="1482197"/>
            <a:ext cx="11442700" cy="751488"/>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b="1" dirty="0">
                <a:solidFill>
                  <a:srgbClr val="0070C0"/>
                </a:solidFill>
              </a:rPr>
              <a:t>g</a:t>
            </a:r>
            <a:r>
              <a:rPr lang="fr-FR" sz="2400" b="1" dirty="0" smtClean="0">
                <a:solidFill>
                  <a:srgbClr val="0070C0"/>
                </a:solidFill>
              </a:rPr>
              <a:t>it </a:t>
            </a:r>
            <a:r>
              <a:rPr lang="fr-FR" sz="2400" b="1" dirty="0" err="1" smtClean="0">
                <a:solidFill>
                  <a:srgbClr val="0070C0"/>
                </a:solidFill>
              </a:rPr>
              <a:t>checkout</a:t>
            </a:r>
            <a:r>
              <a:rPr lang="fr-FR" sz="2400" b="1" dirty="0" smtClean="0">
                <a:solidFill>
                  <a:srgbClr val="0070C0"/>
                </a:solidFill>
              </a:rPr>
              <a:t> -b &lt;nom de la branche&gt;: </a:t>
            </a:r>
            <a:r>
              <a:rPr lang="fr-FR" sz="2400" dirty="0" smtClean="0">
                <a:solidFill>
                  <a:schemeClr val="tx1"/>
                </a:solidFill>
              </a:rPr>
              <a:t>créer et </a:t>
            </a:r>
            <a:r>
              <a:rPr lang="fr-FR" sz="2400" dirty="0" smtClean="0"/>
              <a:t>basculer vers la nouvelle branche.</a:t>
            </a:r>
            <a:endParaRPr sz="2400" dirty="0">
              <a:latin typeface="Calibri"/>
              <a:cs typeface="Calibri"/>
            </a:endParaRPr>
          </a:p>
        </p:txBody>
      </p:sp>
      <p:pic>
        <p:nvPicPr>
          <p:cNvPr id="3" name="Image 2"/>
          <p:cNvPicPr>
            <a:picLocks noChangeAspect="1"/>
          </p:cNvPicPr>
          <p:nvPr/>
        </p:nvPicPr>
        <p:blipFill>
          <a:blip r:embed="rId2"/>
          <a:stretch>
            <a:fillRect/>
          </a:stretch>
        </p:blipFill>
        <p:spPr>
          <a:xfrm>
            <a:off x="1600200" y="3276600"/>
            <a:ext cx="9218396" cy="1833563"/>
          </a:xfrm>
          <a:prstGeom prst="rect">
            <a:avLst/>
          </a:prstGeom>
        </p:spPr>
      </p:pic>
    </p:spTree>
    <p:extLst>
      <p:ext uri="{BB962C8B-B14F-4D97-AF65-F5344CB8AC3E}">
        <p14:creationId xmlns:p14="http://schemas.microsoft.com/office/powerpoint/2010/main" val="233602069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lang="fr-FR" dirty="0"/>
              <a:t>La création et le changement de branches</a:t>
            </a:r>
            <a:endParaRPr spc="-25" dirty="0"/>
          </a:p>
        </p:txBody>
      </p:sp>
      <p:sp>
        <p:nvSpPr>
          <p:cNvPr id="7" name="object 5"/>
          <p:cNvSpPr txBox="1"/>
          <p:nvPr/>
        </p:nvSpPr>
        <p:spPr>
          <a:xfrm>
            <a:off x="609600" y="1482197"/>
            <a:ext cx="11442700" cy="382156"/>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b="1" dirty="0">
                <a:solidFill>
                  <a:srgbClr val="0070C0"/>
                </a:solidFill>
              </a:rPr>
              <a:t>g</a:t>
            </a:r>
            <a:r>
              <a:rPr lang="fr-FR" sz="2400" b="1" dirty="0" smtClean="0">
                <a:solidFill>
                  <a:srgbClr val="0070C0"/>
                </a:solidFill>
              </a:rPr>
              <a:t>it push –u </a:t>
            </a:r>
            <a:r>
              <a:rPr lang="fr-FR" sz="2400" b="1" dirty="0" err="1" smtClean="0">
                <a:solidFill>
                  <a:srgbClr val="0070C0"/>
                </a:solidFill>
              </a:rPr>
              <a:t>origin</a:t>
            </a:r>
            <a:r>
              <a:rPr lang="fr-FR" sz="2400" b="1" dirty="0" smtClean="0">
                <a:solidFill>
                  <a:srgbClr val="0070C0"/>
                </a:solidFill>
              </a:rPr>
              <a:t> feature1: </a:t>
            </a:r>
            <a:r>
              <a:rPr lang="fr-FR" sz="2400" dirty="0" smtClean="0">
                <a:solidFill>
                  <a:schemeClr val="tx1"/>
                </a:solidFill>
              </a:rPr>
              <a:t>créer la branche feature1 dans le repo distant</a:t>
            </a:r>
            <a:r>
              <a:rPr lang="fr-FR" sz="2400" dirty="0" smtClean="0"/>
              <a:t>.</a:t>
            </a:r>
            <a:endParaRPr sz="2400" dirty="0">
              <a:latin typeface="Calibri"/>
              <a:cs typeface="Calibri"/>
            </a:endParaRPr>
          </a:p>
        </p:txBody>
      </p:sp>
      <p:pic>
        <p:nvPicPr>
          <p:cNvPr id="4" name="Image 3"/>
          <p:cNvPicPr>
            <a:picLocks noChangeAspect="1"/>
          </p:cNvPicPr>
          <p:nvPr/>
        </p:nvPicPr>
        <p:blipFill>
          <a:blip r:embed="rId2"/>
          <a:stretch>
            <a:fillRect/>
          </a:stretch>
        </p:blipFill>
        <p:spPr>
          <a:xfrm>
            <a:off x="3657600" y="2362200"/>
            <a:ext cx="4195762" cy="3884965"/>
          </a:xfrm>
          <a:prstGeom prst="rect">
            <a:avLst/>
          </a:prstGeom>
        </p:spPr>
      </p:pic>
    </p:spTree>
    <p:extLst>
      <p:ext uri="{BB962C8B-B14F-4D97-AF65-F5344CB8AC3E}">
        <p14:creationId xmlns:p14="http://schemas.microsoft.com/office/powerpoint/2010/main" val="350317377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lang="fr-FR" dirty="0"/>
              <a:t>La création et le changement de branches</a:t>
            </a:r>
            <a:endParaRPr spc="-25" dirty="0"/>
          </a:p>
        </p:txBody>
      </p:sp>
      <p:sp>
        <p:nvSpPr>
          <p:cNvPr id="7" name="object 5"/>
          <p:cNvSpPr txBox="1"/>
          <p:nvPr/>
        </p:nvSpPr>
        <p:spPr>
          <a:xfrm>
            <a:off x="609600" y="1482197"/>
            <a:ext cx="11442700" cy="382156"/>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b="1" dirty="0">
                <a:solidFill>
                  <a:srgbClr val="0070C0"/>
                </a:solidFill>
              </a:rPr>
              <a:t>g</a:t>
            </a:r>
            <a:r>
              <a:rPr lang="fr-FR" sz="2400" b="1" dirty="0" smtClean="0">
                <a:solidFill>
                  <a:srgbClr val="0070C0"/>
                </a:solidFill>
              </a:rPr>
              <a:t>it push –u </a:t>
            </a:r>
            <a:r>
              <a:rPr lang="fr-FR" sz="2400" b="1" dirty="0" err="1" smtClean="0">
                <a:solidFill>
                  <a:srgbClr val="0070C0"/>
                </a:solidFill>
              </a:rPr>
              <a:t>origin</a:t>
            </a:r>
            <a:r>
              <a:rPr lang="fr-FR" sz="2400" b="1" dirty="0" smtClean="0">
                <a:solidFill>
                  <a:srgbClr val="0070C0"/>
                </a:solidFill>
              </a:rPr>
              <a:t> feature1: </a:t>
            </a:r>
            <a:r>
              <a:rPr lang="fr-FR" sz="2400" dirty="0" smtClean="0">
                <a:solidFill>
                  <a:schemeClr val="tx1"/>
                </a:solidFill>
              </a:rPr>
              <a:t>créer la branche feature1 dans le repo distant</a:t>
            </a:r>
            <a:r>
              <a:rPr lang="fr-FR" sz="2400" dirty="0" smtClean="0"/>
              <a:t>.</a:t>
            </a:r>
            <a:endParaRPr sz="2400" dirty="0">
              <a:latin typeface="Calibri"/>
              <a:cs typeface="Calibri"/>
            </a:endParaRPr>
          </a:p>
        </p:txBody>
      </p:sp>
      <p:pic>
        <p:nvPicPr>
          <p:cNvPr id="5" name="Image 4"/>
          <p:cNvPicPr>
            <a:picLocks noChangeAspect="1"/>
          </p:cNvPicPr>
          <p:nvPr/>
        </p:nvPicPr>
        <p:blipFill>
          <a:blip r:embed="rId2"/>
          <a:stretch>
            <a:fillRect/>
          </a:stretch>
        </p:blipFill>
        <p:spPr>
          <a:xfrm>
            <a:off x="616670" y="3276600"/>
            <a:ext cx="6874933" cy="2209800"/>
          </a:xfrm>
          <a:prstGeom prst="rect">
            <a:avLst/>
          </a:prstGeom>
        </p:spPr>
      </p:pic>
      <p:pic>
        <p:nvPicPr>
          <p:cNvPr id="6" name="Image 5"/>
          <p:cNvPicPr>
            <a:picLocks noChangeAspect="1"/>
          </p:cNvPicPr>
          <p:nvPr/>
        </p:nvPicPr>
        <p:blipFill>
          <a:blip r:embed="rId3"/>
          <a:stretch>
            <a:fillRect/>
          </a:stretch>
        </p:blipFill>
        <p:spPr>
          <a:xfrm>
            <a:off x="7848600" y="2364581"/>
            <a:ext cx="3635811" cy="4033837"/>
          </a:xfrm>
          <a:prstGeom prst="rect">
            <a:avLst/>
          </a:prstGeom>
        </p:spPr>
      </p:pic>
    </p:spTree>
    <p:extLst>
      <p:ext uri="{BB962C8B-B14F-4D97-AF65-F5344CB8AC3E}">
        <p14:creationId xmlns:p14="http://schemas.microsoft.com/office/powerpoint/2010/main" val="262157391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lang="fr-FR" dirty="0"/>
              <a:t>La création et le changement de branches</a:t>
            </a:r>
            <a:endParaRPr spc="-25" dirty="0"/>
          </a:p>
        </p:txBody>
      </p:sp>
      <p:sp>
        <p:nvSpPr>
          <p:cNvPr id="7" name="object 5"/>
          <p:cNvSpPr txBox="1"/>
          <p:nvPr/>
        </p:nvSpPr>
        <p:spPr>
          <a:xfrm>
            <a:off x="609600" y="850601"/>
            <a:ext cx="11442700" cy="382156"/>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dirty="0" smtClean="0">
                <a:solidFill>
                  <a:schemeClr val="tx1"/>
                </a:solidFill>
              </a:rPr>
              <a:t>on va créer une nouvelle commit sur la branche feature1</a:t>
            </a:r>
            <a:r>
              <a:rPr lang="fr-FR" sz="2400" dirty="0" smtClean="0"/>
              <a:t>.</a:t>
            </a:r>
            <a:endParaRPr sz="2400" dirty="0">
              <a:latin typeface="Calibri"/>
              <a:cs typeface="Calibri"/>
            </a:endParaRPr>
          </a:p>
        </p:txBody>
      </p:sp>
      <p:pic>
        <p:nvPicPr>
          <p:cNvPr id="3" name="Image 2"/>
          <p:cNvPicPr>
            <a:picLocks noChangeAspect="1"/>
          </p:cNvPicPr>
          <p:nvPr/>
        </p:nvPicPr>
        <p:blipFill>
          <a:blip r:embed="rId2"/>
          <a:stretch>
            <a:fillRect/>
          </a:stretch>
        </p:blipFill>
        <p:spPr>
          <a:xfrm>
            <a:off x="2834261" y="1239042"/>
            <a:ext cx="6993377" cy="5502853"/>
          </a:xfrm>
          <a:prstGeom prst="rect">
            <a:avLst/>
          </a:prstGeom>
        </p:spPr>
      </p:pic>
    </p:spTree>
    <p:extLst>
      <p:ext uri="{BB962C8B-B14F-4D97-AF65-F5344CB8AC3E}">
        <p14:creationId xmlns:p14="http://schemas.microsoft.com/office/powerpoint/2010/main" val="280735761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lang="fr-FR" dirty="0"/>
              <a:t>La création et le changement de branches</a:t>
            </a:r>
            <a:endParaRPr spc="-25" dirty="0"/>
          </a:p>
        </p:txBody>
      </p:sp>
      <p:sp>
        <p:nvSpPr>
          <p:cNvPr id="7" name="object 5"/>
          <p:cNvSpPr txBox="1"/>
          <p:nvPr/>
        </p:nvSpPr>
        <p:spPr>
          <a:xfrm>
            <a:off x="609600" y="850601"/>
            <a:ext cx="11442700" cy="751488"/>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dirty="0" smtClean="0"/>
              <a:t>On va maintenant basculer vers la branche principale « main » pour intégrer les modifications faites par la branche « feature1 »</a:t>
            </a:r>
            <a:endParaRPr sz="2400" dirty="0">
              <a:latin typeface="Calibri"/>
              <a:cs typeface="Calibri"/>
            </a:endParaRPr>
          </a:p>
        </p:txBody>
      </p:sp>
      <p:pic>
        <p:nvPicPr>
          <p:cNvPr id="4" name="Image 3"/>
          <p:cNvPicPr>
            <a:picLocks noChangeAspect="1"/>
          </p:cNvPicPr>
          <p:nvPr/>
        </p:nvPicPr>
        <p:blipFill>
          <a:blip r:embed="rId2"/>
          <a:stretch>
            <a:fillRect/>
          </a:stretch>
        </p:blipFill>
        <p:spPr>
          <a:xfrm>
            <a:off x="1828800" y="2895600"/>
            <a:ext cx="8392538" cy="2266950"/>
          </a:xfrm>
          <a:prstGeom prst="rect">
            <a:avLst/>
          </a:prstGeom>
        </p:spPr>
      </p:pic>
      <p:sp>
        <p:nvSpPr>
          <p:cNvPr id="6" name="object 5"/>
          <p:cNvSpPr txBox="1"/>
          <p:nvPr/>
        </p:nvSpPr>
        <p:spPr>
          <a:xfrm>
            <a:off x="749300" y="5715000"/>
            <a:ext cx="11442700" cy="751488"/>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b="1" dirty="0">
                <a:solidFill>
                  <a:srgbClr val="0070C0"/>
                </a:solidFill>
              </a:rPr>
              <a:t>g</a:t>
            </a:r>
            <a:r>
              <a:rPr lang="fr-FR" sz="2400" b="1" dirty="0" smtClean="0">
                <a:solidFill>
                  <a:srgbClr val="0070C0"/>
                </a:solidFill>
              </a:rPr>
              <a:t>it </a:t>
            </a:r>
            <a:r>
              <a:rPr lang="fr-FR" sz="2400" b="1" dirty="0" err="1" smtClean="0">
                <a:solidFill>
                  <a:srgbClr val="0070C0"/>
                </a:solidFill>
              </a:rPr>
              <a:t>merge</a:t>
            </a:r>
            <a:r>
              <a:rPr lang="fr-FR" sz="2400" b="1" dirty="0" smtClean="0">
                <a:solidFill>
                  <a:srgbClr val="0070C0"/>
                </a:solidFill>
              </a:rPr>
              <a:t> feature1: </a:t>
            </a:r>
            <a:r>
              <a:rPr lang="fr-FR" sz="2400" dirty="0" smtClean="0"/>
              <a:t>intégrer les changements de la branche feature1 dans la branche main.</a:t>
            </a:r>
            <a:endParaRPr sz="2400" dirty="0">
              <a:latin typeface="Calibri"/>
              <a:cs typeface="Calibri"/>
            </a:endParaRPr>
          </a:p>
        </p:txBody>
      </p:sp>
    </p:spTree>
    <p:extLst>
      <p:ext uri="{BB962C8B-B14F-4D97-AF65-F5344CB8AC3E}">
        <p14:creationId xmlns:p14="http://schemas.microsoft.com/office/powerpoint/2010/main" val="311637079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lang="fr-FR" dirty="0"/>
              <a:t>La Gestion des conflits</a:t>
            </a:r>
            <a:endParaRPr spc="-25" dirty="0"/>
          </a:p>
        </p:txBody>
      </p:sp>
      <p:sp>
        <p:nvSpPr>
          <p:cNvPr id="7" name="object 5"/>
          <p:cNvSpPr txBox="1"/>
          <p:nvPr/>
        </p:nvSpPr>
        <p:spPr>
          <a:xfrm>
            <a:off x="609600" y="1981200"/>
            <a:ext cx="11442700" cy="2598147"/>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dirty="0" smtClean="0"/>
              <a:t>Les conflits apparaissent généralement lorsque deux développeurs modifient les mêmes lignes d’un fichier ou lorsqu’un fichier est supprimé par un développeur alors qu’un autre le modifie. Dans ces situations, Git ne peut pas choisir automatiquement quelle version garder. Seul le développeur qui effectue le </a:t>
            </a:r>
            <a:r>
              <a:rPr lang="fr-FR" sz="2400" dirty="0" err="1" smtClean="0"/>
              <a:t>merge</a:t>
            </a:r>
            <a:r>
              <a:rPr lang="fr-FR" sz="2400" dirty="0" smtClean="0"/>
              <a:t> est affecté par le conflit, les autres membres de l’équipe ne le voient pas. Git signalera le fichier en conflit et interrompra le </a:t>
            </a:r>
            <a:r>
              <a:rPr lang="fr-FR" sz="2400" dirty="0" err="1" smtClean="0"/>
              <a:t>merge</a:t>
            </a:r>
            <a:r>
              <a:rPr lang="fr-FR" sz="2400" dirty="0" smtClean="0"/>
              <a:t>, laissant au développeur la responsabilité de résoudre le problème.</a:t>
            </a:r>
            <a:endParaRPr sz="2400" dirty="0">
              <a:latin typeface="Calibri"/>
              <a:cs typeface="Calibri"/>
            </a:endParaRPr>
          </a:p>
        </p:txBody>
      </p:sp>
    </p:spTree>
    <p:extLst>
      <p:ext uri="{BB962C8B-B14F-4D97-AF65-F5344CB8AC3E}">
        <p14:creationId xmlns:p14="http://schemas.microsoft.com/office/powerpoint/2010/main" val="168561183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lang="fr-FR" dirty="0"/>
              <a:t>La Gestion des conflits</a:t>
            </a:r>
            <a:endParaRPr spc="-25" dirty="0"/>
          </a:p>
        </p:txBody>
      </p:sp>
      <p:sp>
        <p:nvSpPr>
          <p:cNvPr id="7" name="object 5"/>
          <p:cNvSpPr txBox="1"/>
          <p:nvPr/>
        </p:nvSpPr>
        <p:spPr>
          <a:xfrm>
            <a:off x="609600" y="1066800"/>
            <a:ext cx="11442700" cy="751488"/>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dirty="0" smtClean="0"/>
              <a:t>On a effectué une modification sur la première ligne du fichier test1.txt en étant sur la branche feature1 et aussi feature2 .</a:t>
            </a:r>
            <a:endParaRPr sz="2400" dirty="0">
              <a:latin typeface="Calibri"/>
              <a:cs typeface="Calibri"/>
            </a:endParaRPr>
          </a:p>
        </p:txBody>
      </p:sp>
      <p:pic>
        <p:nvPicPr>
          <p:cNvPr id="3" name="Image 2"/>
          <p:cNvPicPr>
            <a:picLocks noChangeAspect="1"/>
          </p:cNvPicPr>
          <p:nvPr/>
        </p:nvPicPr>
        <p:blipFill>
          <a:blip r:embed="rId2"/>
          <a:stretch>
            <a:fillRect/>
          </a:stretch>
        </p:blipFill>
        <p:spPr>
          <a:xfrm>
            <a:off x="2286000" y="3124200"/>
            <a:ext cx="7889289" cy="2362200"/>
          </a:xfrm>
          <a:prstGeom prst="rect">
            <a:avLst/>
          </a:prstGeom>
        </p:spPr>
      </p:pic>
    </p:spTree>
    <p:extLst>
      <p:ext uri="{BB962C8B-B14F-4D97-AF65-F5344CB8AC3E}">
        <p14:creationId xmlns:p14="http://schemas.microsoft.com/office/powerpoint/2010/main" val="332559584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lang="fr-FR" dirty="0"/>
              <a:t>La Gestion des conflits</a:t>
            </a:r>
            <a:endParaRPr spc="-25" dirty="0"/>
          </a:p>
        </p:txBody>
      </p:sp>
      <p:pic>
        <p:nvPicPr>
          <p:cNvPr id="4" name="Image 3"/>
          <p:cNvPicPr>
            <a:picLocks noChangeAspect="1"/>
          </p:cNvPicPr>
          <p:nvPr/>
        </p:nvPicPr>
        <p:blipFill>
          <a:blip r:embed="rId2"/>
          <a:stretch>
            <a:fillRect/>
          </a:stretch>
        </p:blipFill>
        <p:spPr>
          <a:xfrm>
            <a:off x="1342709" y="914400"/>
            <a:ext cx="9375896" cy="5867400"/>
          </a:xfrm>
          <a:prstGeom prst="rect">
            <a:avLst/>
          </a:prstGeom>
        </p:spPr>
      </p:pic>
    </p:spTree>
    <p:extLst>
      <p:ext uri="{BB962C8B-B14F-4D97-AF65-F5344CB8AC3E}">
        <p14:creationId xmlns:p14="http://schemas.microsoft.com/office/powerpoint/2010/main" val="171013579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lang="fr-FR" dirty="0"/>
              <a:t>La Gestion des conflits</a:t>
            </a:r>
            <a:endParaRPr spc="-25" dirty="0"/>
          </a:p>
        </p:txBody>
      </p:sp>
      <p:pic>
        <p:nvPicPr>
          <p:cNvPr id="5" name="Image 4"/>
          <p:cNvPicPr>
            <a:picLocks noChangeAspect="1"/>
          </p:cNvPicPr>
          <p:nvPr/>
        </p:nvPicPr>
        <p:blipFill>
          <a:blip r:embed="rId2"/>
          <a:stretch>
            <a:fillRect/>
          </a:stretch>
        </p:blipFill>
        <p:spPr>
          <a:xfrm>
            <a:off x="978987" y="1905000"/>
            <a:ext cx="10744200" cy="3310805"/>
          </a:xfrm>
          <a:prstGeom prst="rect">
            <a:avLst/>
          </a:prstGeom>
        </p:spPr>
      </p:pic>
    </p:spTree>
    <p:extLst>
      <p:ext uri="{BB962C8B-B14F-4D97-AF65-F5344CB8AC3E}">
        <p14:creationId xmlns:p14="http://schemas.microsoft.com/office/powerpoint/2010/main" val="304120158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0539" y="3504133"/>
            <a:ext cx="8479790" cy="936154"/>
          </a:xfrm>
          <a:prstGeom prst="rect">
            <a:avLst/>
          </a:prstGeom>
        </p:spPr>
        <p:txBody>
          <a:bodyPr vert="horz" wrap="square" lIns="0" tIns="12700" rIns="0" bIns="0" rtlCol="0">
            <a:spAutoFit/>
          </a:bodyPr>
          <a:lstStyle/>
          <a:p>
            <a:pPr marL="12700">
              <a:lnSpc>
                <a:spcPct val="100000"/>
              </a:lnSpc>
              <a:spcBef>
                <a:spcPts val="100"/>
              </a:spcBef>
            </a:pPr>
            <a:r>
              <a:rPr lang="fr-FR" sz="6000" dirty="0"/>
              <a:t>6</a:t>
            </a:r>
            <a:r>
              <a:rPr sz="6000" dirty="0" smtClean="0"/>
              <a:t>.</a:t>
            </a:r>
            <a:r>
              <a:rPr sz="6000" spc="-150" dirty="0" smtClean="0"/>
              <a:t> </a:t>
            </a:r>
            <a:r>
              <a:rPr lang="fr-FR" sz="6000" dirty="0" smtClean="0"/>
              <a:t>Le Pull </a:t>
            </a:r>
            <a:r>
              <a:rPr lang="fr-FR" sz="6000" dirty="0" err="1" smtClean="0"/>
              <a:t>Request</a:t>
            </a:r>
            <a:endParaRPr sz="6000" dirty="0"/>
          </a:p>
        </p:txBody>
      </p:sp>
      <p:sp>
        <p:nvSpPr>
          <p:cNvPr id="3" name="object 3"/>
          <p:cNvSpPr txBox="1"/>
          <p:nvPr/>
        </p:nvSpPr>
        <p:spPr>
          <a:xfrm>
            <a:off x="11176507" y="6419494"/>
            <a:ext cx="102870" cy="208279"/>
          </a:xfrm>
          <a:prstGeom prst="rect">
            <a:avLst/>
          </a:prstGeom>
        </p:spPr>
        <p:txBody>
          <a:bodyPr vert="horz" wrap="square" lIns="0" tIns="12700" rIns="0" bIns="0" rtlCol="0">
            <a:spAutoFit/>
          </a:bodyPr>
          <a:lstStyle/>
          <a:p>
            <a:pPr marL="12700">
              <a:lnSpc>
                <a:spcPct val="100000"/>
              </a:lnSpc>
              <a:spcBef>
                <a:spcPts val="100"/>
              </a:spcBef>
            </a:pPr>
            <a:r>
              <a:rPr sz="1200" spc="-50" dirty="0">
                <a:solidFill>
                  <a:srgbClr val="A3A3A3"/>
                </a:solidFill>
                <a:latin typeface="Calibri"/>
                <a:cs typeface="Calibri"/>
              </a:rPr>
              <a:t>3</a:t>
            </a:r>
            <a:endParaRPr sz="1200">
              <a:latin typeface="Calibri"/>
              <a:cs typeface="Calibri"/>
            </a:endParaRPr>
          </a:p>
        </p:txBody>
      </p:sp>
    </p:spTree>
    <p:extLst>
      <p:ext uri="{BB962C8B-B14F-4D97-AF65-F5344CB8AC3E}">
        <p14:creationId xmlns:p14="http://schemas.microsoft.com/office/powerpoint/2010/main" val="88459988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lang="fr-FR" dirty="0" smtClean="0"/>
              <a:t>Le Pull </a:t>
            </a:r>
            <a:r>
              <a:rPr lang="fr-FR" dirty="0" err="1" smtClean="0"/>
              <a:t>Request</a:t>
            </a:r>
            <a:endParaRPr spc="-25" dirty="0"/>
          </a:p>
        </p:txBody>
      </p:sp>
      <p:sp>
        <p:nvSpPr>
          <p:cNvPr id="7" name="object 5"/>
          <p:cNvSpPr txBox="1"/>
          <p:nvPr/>
        </p:nvSpPr>
        <p:spPr>
          <a:xfrm>
            <a:off x="609600" y="797405"/>
            <a:ext cx="11442700" cy="1120820"/>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dirty="0" smtClean="0"/>
              <a:t>C’est une demande de fusion d’une branche dans une autre (souvent dans main) permettant aux autres développeurs de vérifier, commenter et valider les changements avant qu’ils ne soient intégrés.</a:t>
            </a:r>
            <a:endParaRPr sz="2400" dirty="0">
              <a:latin typeface="Calibri"/>
              <a:cs typeface="Calibri"/>
            </a:endParaRPr>
          </a:p>
        </p:txBody>
      </p:sp>
      <p:sp>
        <p:nvSpPr>
          <p:cNvPr id="8" name="object 5"/>
          <p:cNvSpPr txBox="1"/>
          <p:nvPr/>
        </p:nvSpPr>
        <p:spPr>
          <a:xfrm>
            <a:off x="591532" y="2142556"/>
            <a:ext cx="11442700" cy="751488"/>
          </a:xfrm>
          <a:prstGeom prst="rect">
            <a:avLst/>
          </a:prstGeom>
        </p:spPr>
        <p:txBody>
          <a:bodyPr vert="horz" wrap="square" lIns="0" tIns="12700" rIns="0" bIns="0" rtlCol="0">
            <a:spAutoFit/>
          </a:bodyPr>
          <a:lstStyle/>
          <a:p>
            <a:pPr marL="355600" marR="5080" indent="-342900">
              <a:spcBef>
                <a:spcPts val="100"/>
              </a:spcBef>
              <a:buFont typeface="Arial MT"/>
              <a:buChar char="•"/>
              <a:tabLst>
                <a:tab pos="355600" algn="l"/>
              </a:tabLst>
            </a:pPr>
            <a:r>
              <a:rPr lang="fr-FR" sz="2400" dirty="0" smtClean="0"/>
              <a:t>On va maintenant créer une nouvelle commit depuis la branche « feature3 » en ajoutant un nouveau fichier test2.txt.</a:t>
            </a:r>
            <a:endParaRPr sz="2400" dirty="0">
              <a:latin typeface="Calibri"/>
              <a:cs typeface="Calibri"/>
            </a:endParaRPr>
          </a:p>
        </p:txBody>
      </p:sp>
      <p:pic>
        <p:nvPicPr>
          <p:cNvPr id="6" name="Image 5"/>
          <p:cNvPicPr>
            <a:picLocks noChangeAspect="1"/>
          </p:cNvPicPr>
          <p:nvPr/>
        </p:nvPicPr>
        <p:blipFill>
          <a:blip r:embed="rId2"/>
          <a:stretch>
            <a:fillRect/>
          </a:stretch>
        </p:blipFill>
        <p:spPr>
          <a:xfrm>
            <a:off x="1143000" y="4953000"/>
            <a:ext cx="10070203" cy="1485900"/>
          </a:xfrm>
          <a:prstGeom prst="rect">
            <a:avLst/>
          </a:prstGeom>
        </p:spPr>
      </p:pic>
      <p:pic>
        <p:nvPicPr>
          <p:cNvPr id="9" name="Image 8"/>
          <p:cNvPicPr>
            <a:picLocks noChangeAspect="1"/>
          </p:cNvPicPr>
          <p:nvPr/>
        </p:nvPicPr>
        <p:blipFill>
          <a:blip r:embed="rId3"/>
          <a:stretch>
            <a:fillRect/>
          </a:stretch>
        </p:blipFill>
        <p:spPr>
          <a:xfrm>
            <a:off x="2206176" y="3011157"/>
            <a:ext cx="7943850" cy="1762125"/>
          </a:xfrm>
          <a:prstGeom prst="rect">
            <a:avLst/>
          </a:prstGeom>
        </p:spPr>
      </p:pic>
    </p:spTree>
    <p:extLst>
      <p:ext uri="{BB962C8B-B14F-4D97-AF65-F5344CB8AC3E}">
        <p14:creationId xmlns:p14="http://schemas.microsoft.com/office/powerpoint/2010/main" val="5936074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lang="fr-FR" dirty="0" smtClean="0"/>
              <a:t>Le Pull </a:t>
            </a:r>
            <a:r>
              <a:rPr lang="fr-FR" dirty="0" err="1" smtClean="0"/>
              <a:t>Request</a:t>
            </a:r>
            <a:endParaRPr spc="-25" dirty="0"/>
          </a:p>
        </p:txBody>
      </p:sp>
      <p:sp>
        <p:nvSpPr>
          <p:cNvPr id="7" name="object 5"/>
          <p:cNvSpPr txBox="1"/>
          <p:nvPr/>
        </p:nvSpPr>
        <p:spPr>
          <a:xfrm>
            <a:off x="609600" y="797405"/>
            <a:ext cx="11442700" cy="382156"/>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dirty="0" smtClean="0"/>
              <a:t>On va maintenant créer un Pull </a:t>
            </a:r>
            <a:r>
              <a:rPr lang="fr-FR" sz="2400" dirty="0" err="1" smtClean="0"/>
              <a:t>Request</a:t>
            </a:r>
            <a:r>
              <a:rPr lang="fr-FR" sz="2400" dirty="0" smtClean="0"/>
              <a:t> depuis notre </a:t>
            </a:r>
            <a:r>
              <a:rPr lang="fr-FR" sz="2400" dirty="0" err="1" smtClean="0"/>
              <a:t>repository</a:t>
            </a:r>
            <a:r>
              <a:rPr lang="fr-FR" sz="2400" dirty="0" smtClean="0"/>
              <a:t> git.</a:t>
            </a:r>
            <a:endParaRPr sz="2400" dirty="0">
              <a:latin typeface="Calibri"/>
              <a:cs typeface="Calibri"/>
            </a:endParaRPr>
          </a:p>
        </p:txBody>
      </p:sp>
      <p:pic>
        <p:nvPicPr>
          <p:cNvPr id="3" name="Image 2"/>
          <p:cNvPicPr>
            <a:picLocks noChangeAspect="1"/>
          </p:cNvPicPr>
          <p:nvPr/>
        </p:nvPicPr>
        <p:blipFill>
          <a:blip r:embed="rId2"/>
          <a:stretch>
            <a:fillRect/>
          </a:stretch>
        </p:blipFill>
        <p:spPr>
          <a:xfrm>
            <a:off x="1981200" y="1253128"/>
            <a:ext cx="8047689" cy="5604872"/>
          </a:xfrm>
          <a:prstGeom prst="rect">
            <a:avLst/>
          </a:prstGeom>
        </p:spPr>
      </p:pic>
    </p:spTree>
    <p:extLst>
      <p:ext uri="{BB962C8B-B14F-4D97-AF65-F5344CB8AC3E}">
        <p14:creationId xmlns:p14="http://schemas.microsoft.com/office/powerpoint/2010/main" val="160075698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lang="fr-FR" dirty="0" smtClean="0"/>
              <a:t>Le Pull </a:t>
            </a:r>
            <a:r>
              <a:rPr lang="fr-FR" dirty="0" err="1" smtClean="0"/>
              <a:t>Request</a:t>
            </a:r>
            <a:endParaRPr spc="-25" dirty="0"/>
          </a:p>
        </p:txBody>
      </p:sp>
      <p:sp>
        <p:nvSpPr>
          <p:cNvPr id="7" name="object 5"/>
          <p:cNvSpPr txBox="1"/>
          <p:nvPr/>
        </p:nvSpPr>
        <p:spPr>
          <a:xfrm>
            <a:off x="609600" y="797405"/>
            <a:ext cx="11442700" cy="382156"/>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dirty="0" smtClean="0"/>
              <a:t>Une notification de Pull </a:t>
            </a:r>
            <a:r>
              <a:rPr lang="fr-FR" sz="2400" dirty="0" err="1" smtClean="0"/>
              <a:t>Request</a:t>
            </a:r>
            <a:r>
              <a:rPr lang="fr-FR" sz="2400" dirty="0" smtClean="0"/>
              <a:t> apparait.</a:t>
            </a:r>
            <a:endParaRPr sz="2400" dirty="0">
              <a:latin typeface="Calibri"/>
              <a:cs typeface="Calibri"/>
            </a:endParaRPr>
          </a:p>
        </p:txBody>
      </p:sp>
      <p:pic>
        <p:nvPicPr>
          <p:cNvPr id="4" name="Image 3"/>
          <p:cNvPicPr>
            <a:picLocks noChangeAspect="1"/>
          </p:cNvPicPr>
          <p:nvPr/>
        </p:nvPicPr>
        <p:blipFill>
          <a:blip r:embed="rId2"/>
          <a:stretch>
            <a:fillRect/>
          </a:stretch>
        </p:blipFill>
        <p:spPr>
          <a:xfrm>
            <a:off x="1066800" y="1981200"/>
            <a:ext cx="10384039" cy="4010025"/>
          </a:xfrm>
          <a:prstGeom prst="rect">
            <a:avLst/>
          </a:prstGeom>
        </p:spPr>
      </p:pic>
    </p:spTree>
    <p:extLst>
      <p:ext uri="{BB962C8B-B14F-4D97-AF65-F5344CB8AC3E}">
        <p14:creationId xmlns:p14="http://schemas.microsoft.com/office/powerpoint/2010/main" val="1718275990"/>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lang="fr-FR" dirty="0" smtClean="0"/>
              <a:t>Le Pull </a:t>
            </a:r>
            <a:r>
              <a:rPr lang="fr-FR" dirty="0" err="1" smtClean="0"/>
              <a:t>Request</a:t>
            </a:r>
            <a:endParaRPr spc="-25" dirty="0"/>
          </a:p>
        </p:txBody>
      </p:sp>
      <p:sp>
        <p:nvSpPr>
          <p:cNvPr id="7" name="object 5"/>
          <p:cNvSpPr txBox="1"/>
          <p:nvPr/>
        </p:nvSpPr>
        <p:spPr>
          <a:xfrm>
            <a:off x="609600" y="797405"/>
            <a:ext cx="11442700" cy="751488"/>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dirty="0" smtClean="0"/>
              <a:t>Aucun conflit n’est </a:t>
            </a:r>
            <a:r>
              <a:rPr lang="fr-FR" sz="2400" dirty="0" err="1" smtClean="0"/>
              <a:t>détécté,on</a:t>
            </a:r>
            <a:r>
              <a:rPr lang="fr-FR" sz="2400" dirty="0" smtClean="0"/>
              <a:t> peut faire un </a:t>
            </a:r>
            <a:r>
              <a:rPr lang="fr-FR" sz="2400" dirty="0" err="1" smtClean="0"/>
              <a:t>merge</a:t>
            </a:r>
            <a:r>
              <a:rPr lang="fr-FR" sz="2400" dirty="0" smtClean="0"/>
              <a:t> de ces modifications sur la branche main.</a:t>
            </a:r>
            <a:endParaRPr sz="2400" dirty="0">
              <a:latin typeface="Calibri"/>
              <a:cs typeface="Calibri"/>
            </a:endParaRPr>
          </a:p>
        </p:txBody>
      </p:sp>
      <p:pic>
        <p:nvPicPr>
          <p:cNvPr id="3" name="Image 2"/>
          <p:cNvPicPr>
            <a:picLocks noChangeAspect="1"/>
          </p:cNvPicPr>
          <p:nvPr/>
        </p:nvPicPr>
        <p:blipFill>
          <a:blip r:embed="rId2"/>
          <a:stretch>
            <a:fillRect/>
          </a:stretch>
        </p:blipFill>
        <p:spPr>
          <a:xfrm>
            <a:off x="2514600" y="1548893"/>
            <a:ext cx="6588159" cy="3928862"/>
          </a:xfrm>
          <a:prstGeom prst="rect">
            <a:avLst/>
          </a:prstGeom>
        </p:spPr>
      </p:pic>
      <p:pic>
        <p:nvPicPr>
          <p:cNvPr id="5" name="Image 4"/>
          <p:cNvPicPr>
            <a:picLocks noChangeAspect="1"/>
          </p:cNvPicPr>
          <p:nvPr/>
        </p:nvPicPr>
        <p:blipFill>
          <a:blip r:embed="rId3"/>
          <a:stretch>
            <a:fillRect/>
          </a:stretch>
        </p:blipFill>
        <p:spPr>
          <a:xfrm>
            <a:off x="914400" y="5512020"/>
            <a:ext cx="10553671" cy="1204913"/>
          </a:xfrm>
          <a:prstGeom prst="rect">
            <a:avLst/>
          </a:prstGeom>
        </p:spPr>
      </p:pic>
    </p:spTree>
    <p:extLst>
      <p:ext uri="{BB962C8B-B14F-4D97-AF65-F5344CB8AC3E}">
        <p14:creationId xmlns:p14="http://schemas.microsoft.com/office/powerpoint/2010/main" val="369466065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0538" y="3504133"/>
            <a:ext cx="9528861" cy="936154"/>
          </a:xfrm>
          <a:prstGeom prst="rect">
            <a:avLst/>
          </a:prstGeom>
        </p:spPr>
        <p:txBody>
          <a:bodyPr vert="horz" wrap="square" lIns="0" tIns="12700" rIns="0" bIns="0" rtlCol="0">
            <a:spAutoFit/>
          </a:bodyPr>
          <a:lstStyle/>
          <a:p>
            <a:pPr marL="12700">
              <a:lnSpc>
                <a:spcPct val="100000"/>
              </a:lnSpc>
              <a:spcBef>
                <a:spcPts val="100"/>
              </a:spcBef>
            </a:pPr>
            <a:r>
              <a:rPr lang="fr-FR" sz="6000" dirty="0"/>
              <a:t>7</a:t>
            </a:r>
            <a:r>
              <a:rPr sz="6000" dirty="0" smtClean="0"/>
              <a:t>.</a:t>
            </a:r>
            <a:r>
              <a:rPr sz="6000" spc="-150" dirty="0" smtClean="0"/>
              <a:t> </a:t>
            </a:r>
            <a:r>
              <a:rPr lang="fr-FR" sz="6000" dirty="0" smtClean="0"/>
              <a:t>Commandes git avancées</a:t>
            </a:r>
            <a:endParaRPr sz="6000" dirty="0"/>
          </a:p>
        </p:txBody>
      </p:sp>
      <p:sp>
        <p:nvSpPr>
          <p:cNvPr id="3" name="object 3"/>
          <p:cNvSpPr txBox="1"/>
          <p:nvPr/>
        </p:nvSpPr>
        <p:spPr>
          <a:xfrm>
            <a:off x="11176507" y="6419494"/>
            <a:ext cx="102870" cy="208279"/>
          </a:xfrm>
          <a:prstGeom prst="rect">
            <a:avLst/>
          </a:prstGeom>
        </p:spPr>
        <p:txBody>
          <a:bodyPr vert="horz" wrap="square" lIns="0" tIns="12700" rIns="0" bIns="0" rtlCol="0">
            <a:spAutoFit/>
          </a:bodyPr>
          <a:lstStyle/>
          <a:p>
            <a:pPr marL="12700">
              <a:lnSpc>
                <a:spcPct val="100000"/>
              </a:lnSpc>
              <a:spcBef>
                <a:spcPts val="100"/>
              </a:spcBef>
            </a:pPr>
            <a:r>
              <a:rPr sz="1200" spc="-50" dirty="0">
                <a:solidFill>
                  <a:srgbClr val="A3A3A3"/>
                </a:solidFill>
                <a:latin typeface="Calibri"/>
                <a:cs typeface="Calibri"/>
              </a:rPr>
              <a:t>3</a:t>
            </a:r>
            <a:endParaRPr sz="1200">
              <a:latin typeface="Calibri"/>
              <a:cs typeface="Calibri"/>
            </a:endParaRPr>
          </a:p>
        </p:txBody>
      </p:sp>
    </p:spTree>
    <p:extLst>
      <p:ext uri="{BB962C8B-B14F-4D97-AF65-F5344CB8AC3E}">
        <p14:creationId xmlns:p14="http://schemas.microsoft.com/office/powerpoint/2010/main" val="265827718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lang="fr-FR" dirty="0" smtClean="0"/>
              <a:t>Autres commandes git</a:t>
            </a:r>
            <a:endParaRPr spc="-25" dirty="0"/>
          </a:p>
        </p:txBody>
      </p:sp>
      <p:sp>
        <p:nvSpPr>
          <p:cNvPr id="6" name="object 5"/>
          <p:cNvSpPr txBox="1"/>
          <p:nvPr/>
        </p:nvSpPr>
        <p:spPr>
          <a:xfrm>
            <a:off x="609600" y="1543391"/>
            <a:ext cx="11442700" cy="751488"/>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b="1" dirty="0">
                <a:solidFill>
                  <a:srgbClr val="0070C0"/>
                </a:solidFill>
              </a:rPr>
              <a:t>g</a:t>
            </a:r>
            <a:r>
              <a:rPr lang="fr-FR" sz="2400" b="1" dirty="0" smtClean="0">
                <a:solidFill>
                  <a:srgbClr val="0070C0"/>
                </a:solidFill>
              </a:rPr>
              <a:t>it log --</a:t>
            </a:r>
            <a:r>
              <a:rPr lang="fr-FR" sz="2400" b="1" dirty="0" err="1" smtClean="0">
                <a:solidFill>
                  <a:srgbClr val="0070C0"/>
                </a:solidFill>
              </a:rPr>
              <a:t>oneline</a:t>
            </a:r>
            <a:r>
              <a:rPr lang="fr-FR" sz="2400" b="1" dirty="0" smtClean="0">
                <a:solidFill>
                  <a:srgbClr val="0070C0"/>
                </a:solidFill>
              </a:rPr>
              <a:t>:</a:t>
            </a:r>
            <a:r>
              <a:rPr lang="fr-FR" sz="2400" dirty="0" smtClean="0"/>
              <a:t> voir l'historique de tous les </a:t>
            </a:r>
            <a:r>
              <a:rPr lang="fr-FR" sz="2400" dirty="0" err="1" smtClean="0"/>
              <a:t>commits</a:t>
            </a:r>
            <a:r>
              <a:rPr lang="fr-FR" sz="2400" dirty="0" smtClean="0"/>
              <a:t> effectués sur un repo dans une branche spécifique .</a:t>
            </a:r>
            <a:endParaRPr sz="2400" dirty="0">
              <a:latin typeface="Calibri"/>
              <a:cs typeface="Calibri"/>
            </a:endParaRPr>
          </a:p>
        </p:txBody>
      </p:sp>
      <p:pic>
        <p:nvPicPr>
          <p:cNvPr id="4" name="Image 3"/>
          <p:cNvPicPr>
            <a:picLocks noChangeAspect="1"/>
          </p:cNvPicPr>
          <p:nvPr/>
        </p:nvPicPr>
        <p:blipFill>
          <a:blip r:embed="rId2"/>
          <a:stretch>
            <a:fillRect/>
          </a:stretch>
        </p:blipFill>
        <p:spPr>
          <a:xfrm>
            <a:off x="1905000" y="3124200"/>
            <a:ext cx="8621406" cy="1928813"/>
          </a:xfrm>
          <a:prstGeom prst="rect">
            <a:avLst/>
          </a:prstGeom>
        </p:spPr>
      </p:pic>
    </p:spTree>
    <p:extLst>
      <p:ext uri="{BB962C8B-B14F-4D97-AF65-F5344CB8AC3E}">
        <p14:creationId xmlns:p14="http://schemas.microsoft.com/office/powerpoint/2010/main" val="204292311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lang="fr-FR" dirty="0" smtClean="0"/>
              <a:t>Autres commandes git</a:t>
            </a:r>
            <a:endParaRPr spc="-25" dirty="0"/>
          </a:p>
        </p:txBody>
      </p:sp>
      <p:sp>
        <p:nvSpPr>
          <p:cNvPr id="8" name="object 5"/>
          <p:cNvSpPr txBox="1"/>
          <p:nvPr/>
        </p:nvSpPr>
        <p:spPr>
          <a:xfrm>
            <a:off x="609600" y="1222094"/>
            <a:ext cx="11442700" cy="1120820"/>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b="1" dirty="0">
                <a:solidFill>
                  <a:srgbClr val="0070C0"/>
                </a:solidFill>
              </a:rPr>
              <a:t>g</a:t>
            </a:r>
            <a:r>
              <a:rPr lang="fr-FR" sz="2400" b="1" dirty="0" smtClean="0">
                <a:solidFill>
                  <a:srgbClr val="0070C0"/>
                </a:solidFill>
              </a:rPr>
              <a:t>it </a:t>
            </a:r>
            <a:r>
              <a:rPr lang="fr-FR" sz="2400" b="1" dirty="0" err="1" smtClean="0">
                <a:solidFill>
                  <a:srgbClr val="0070C0"/>
                </a:solidFill>
              </a:rPr>
              <a:t>checkout</a:t>
            </a:r>
            <a:r>
              <a:rPr lang="fr-FR" sz="2400" b="1" dirty="0" smtClean="0">
                <a:solidFill>
                  <a:srgbClr val="0070C0"/>
                </a:solidFill>
              </a:rPr>
              <a:t> &lt;</a:t>
            </a:r>
            <a:r>
              <a:rPr lang="fr-FR" sz="2400" b="1" dirty="0" err="1" smtClean="0">
                <a:solidFill>
                  <a:srgbClr val="0070C0"/>
                </a:solidFill>
              </a:rPr>
              <a:t>id_commit</a:t>
            </a:r>
            <a:r>
              <a:rPr lang="fr-FR" sz="2400" b="1" dirty="0" smtClean="0">
                <a:solidFill>
                  <a:srgbClr val="0070C0"/>
                </a:solidFill>
              </a:rPr>
              <a:t>&gt;:</a:t>
            </a:r>
            <a:r>
              <a:rPr lang="fr-FR" sz="2400" dirty="0" smtClean="0"/>
              <a:t> pointer à un commit spécifique ( en </a:t>
            </a:r>
            <a:r>
              <a:rPr lang="fr-FR" sz="2400" dirty="0" err="1" smtClean="0"/>
              <a:t>read</a:t>
            </a:r>
            <a:r>
              <a:rPr lang="fr-FR" sz="2400" dirty="0" smtClean="0"/>
              <a:t> </a:t>
            </a:r>
            <a:r>
              <a:rPr lang="fr-FR" sz="2400" dirty="0" err="1" smtClean="0"/>
              <a:t>only</a:t>
            </a:r>
            <a:r>
              <a:rPr lang="fr-FR" sz="2400" dirty="0" smtClean="0"/>
              <a:t>). Si vous voulez effectuer des changements vous devez créer une nouvelle branche (sinon ils ne vont être associés à aucune branche et seront perdus).</a:t>
            </a:r>
            <a:endParaRPr sz="2400" dirty="0">
              <a:latin typeface="Calibri"/>
              <a:cs typeface="Calibri"/>
            </a:endParaRPr>
          </a:p>
        </p:txBody>
      </p:sp>
      <p:pic>
        <p:nvPicPr>
          <p:cNvPr id="9" name="Image 8"/>
          <p:cNvPicPr>
            <a:picLocks noChangeAspect="1"/>
          </p:cNvPicPr>
          <p:nvPr/>
        </p:nvPicPr>
        <p:blipFill>
          <a:blip r:embed="rId2"/>
          <a:stretch>
            <a:fillRect/>
          </a:stretch>
        </p:blipFill>
        <p:spPr>
          <a:xfrm>
            <a:off x="2819400" y="2514600"/>
            <a:ext cx="6848475" cy="3895725"/>
          </a:xfrm>
          <a:prstGeom prst="rect">
            <a:avLst/>
          </a:prstGeom>
        </p:spPr>
      </p:pic>
    </p:spTree>
    <p:extLst>
      <p:ext uri="{BB962C8B-B14F-4D97-AF65-F5344CB8AC3E}">
        <p14:creationId xmlns:p14="http://schemas.microsoft.com/office/powerpoint/2010/main" val="118671738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lang="fr-FR" dirty="0" smtClean="0"/>
              <a:t>Autres commandes git</a:t>
            </a:r>
            <a:endParaRPr spc="-25" dirty="0"/>
          </a:p>
        </p:txBody>
      </p:sp>
      <p:sp>
        <p:nvSpPr>
          <p:cNvPr id="8" name="object 5"/>
          <p:cNvSpPr txBox="1"/>
          <p:nvPr/>
        </p:nvSpPr>
        <p:spPr>
          <a:xfrm>
            <a:off x="609600" y="1222094"/>
            <a:ext cx="11442700" cy="751488"/>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b="1" dirty="0">
                <a:solidFill>
                  <a:srgbClr val="0070C0"/>
                </a:solidFill>
              </a:rPr>
              <a:t>g</a:t>
            </a:r>
            <a:r>
              <a:rPr lang="fr-FR" sz="2400" b="1" dirty="0" smtClean="0">
                <a:solidFill>
                  <a:srgbClr val="0070C0"/>
                </a:solidFill>
              </a:rPr>
              <a:t>it </a:t>
            </a:r>
            <a:r>
              <a:rPr lang="fr-FR" sz="2400" b="1" dirty="0" err="1" smtClean="0">
                <a:solidFill>
                  <a:srgbClr val="0070C0"/>
                </a:solidFill>
              </a:rPr>
              <a:t>revert</a:t>
            </a:r>
            <a:r>
              <a:rPr lang="fr-FR" sz="2400" b="1" dirty="0" smtClean="0">
                <a:solidFill>
                  <a:srgbClr val="0070C0"/>
                </a:solidFill>
              </a:rPr>
              <a:t> &lt;</a:t>
            </a:r>
            <a:r>
              <a:rPr lang="fr-FR" sz="2400" b="1" dirty="0" err="1" smtClean="0">
                <a:solidFill>
                  <a:srgbClr val="0070C0"/>
                </a:solidFill>
              </a:rPr>
              <a:t>id_commit</a:t>
            </a:r>
            <a:r>
              <a:rPr lang="fr-FR" sz="2400" b="1" dirty="0" smtClean="0">
                <a:solidFill>
                  <a:srgbClr val="0070C0"/>
                </a:solidFill>
              </a:rPr>
              <a:t>&gt;: </a:t>
            </a:r>
            <a:r>
              <a:rPr lang="fr-FR" sz="2400" dirty="0" smtClean="0"/>
              <a:t>annuler les changements d’un commit spécifique en créant un nouveau commit.</a:t>
            </a:r>
            <a:endParaRPr sz="2400" dirty="0">
              <a:latin typeface="Calibri"/>
              <a:cs typeface="Calibri"/>
            </a:endParaRPr>
          </a:p>
        </p:txBody>
      </p:sp>
      <p:pic>
        <p:nvPicPr>
          <p:cNvPr id="3" name="Image 2"/>
          <p:cNvPicPr>
            <a:picLocks noChangeAspect="1"/>
          </p:cNvPicPr>
          <p:nvPr/>
        </p:nvPicPr>
        <p:blipFill>
          <a:blip r:embed="rId2"/>
          <a:stretch>
            <a:fillRect/>
          </a:stretch>
        </p:blipFill>
        <p:spPr>
          <a:xfrm>
            <a:off x="5410200" y="1828800"/>
            <a:ext cx="5924550" cy="2419350"/>
          </a:xfrm>
          <a:prstGeom prst="rect">
            <a:avLst/>
          </a:prstGeom>
        </p:spPr>
      </p:pic>
      <p:pic>
        <p:nvPicPr>
          <p:cNvPr id="5" name="Image 4"/>
          <p:cNvPicPr>
            <a:picLocks noChangeAspect="1"/>
          </p:cNvPicPr>
          <p:nvPr/>
        </p:nvPicPr>
        <p:blipFill>
          <a:blip r:embed="rId3"/>
          <a:stretch>
            <a:fillRect/>
          </a:stretch>
        </p:blipFill>
        <p:spPr>
          <a:xfrm>
            <a:off x="762001" y="4418225"/>
            <a:ext cx="6691022" cy="2287375"/>
          </a:xfrm>
          <a:prstGeom prst="rect">
            <a:avLst/>
          </a:prstGeom>
        </p:spPr>
      </p:pic>
    </p:spTree>
    <p:extLst>
      <p:ext uri="{BB962C8B-B14F-4D97-AF65-F5344CB8AC3E}">
        <p14:creationId xmlns:p14="http://schemas.microsoft.com/office/powerpoint/2010/main" val="316046342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lang="fr-FR" dirty="0" smtClean="0"/>
              <a:t>Autres commandes git</a:t>
            </a:r>
            <a:endParaRPr spc="-25" dirty="0"/>
          </a:p>
        </p:txBody>
      </p:sp>
      <p:sp>
        <p:nvSpPr>
          <p:cNvPr id="8" name="object 5"/>
          <p:cNvSpPr txBox="1"/>
          <p:nvPr/>
        </p:nvSpPr>
        <p:spPr>
          <a:xfrm>
            <a:off x="609600" y="1222094"/>
            <a:ext cx="11442700" cy="382156"/>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Lst>
            </a:pPr>
            <a:r>
              <a:rPr lang="fr-FR" sz="2400" b="1" dirty="0">
                <a:solidFill>
                  <a:srgbClr val="0070C0"/>
                </a:solidFill>
              </a:rPr>
              <a:t>g</a:t>
            </a:r>
            <a:r>
              <a:rPr lang="fr-FR" sz="2400" b="1" dirty="0" smtClean="0">
                <a:solidFill>
                  <a:srgbClr val="0070C0"/>
                </a:solidFill>
              </a:rPr>
              <a:t>it </a:t>
            </a:r>
            <a:r>
              <a:rPr lang="fr-FR" sz="2400" b="1" dirty="0" err="1" smtClean="0">
                <a:solidFill>
                  <a:srgbClr val="0070C0"/>
                </a:solidFill>
              </a:rPr>
              <a:t>revert</a:t>
            </a:r>
            <a:r>
              <a:rPr lang="fr-FR" sz="2400" b="1" dirty="0" smtClean="0">
                <a:solidFill>
                  <a:srgbClr val="0070C0"/>
                </a:solidFill>
              </a:rPr>
              <a:t> &lt;</a:t>
            </a:r>
            <a:r>
              <a:rPr lang="fr-FR" sz="2400" b="1" dirty="0" err="1" smtClean="0">
                <a:solidFill>
                  <a:srgbClr val="0070C0"/>
                </a:solidFill>
              </a:rPr>
              <a:t>id_commit</a:t>
            </a:r>
            <a:r>
              <a:rPr lang="fr-FR" sz="2400" b="1" dirty="0" smtClean="0">
                <a:solidFill>
                  <a:srgbClr val="0070C0"/>
                </a:solidFill>
              </a:rPr>
              <a:t>&gt;: </a:t>
            </a:r>
            <a:r>
              <a:rPr lang="fr-FR" sz="2400" dirty="0" smtClean="0"/>
              <a:t>un nouveau commit a été crée pour l’action </a:t>
            </a:r>
            <a:r>
              <a:rPr lang="fr-FR" sz="2400" dirty="0" err="1" smtClean="0"/>
              <a:t>revert</a:t>
            </a:r>
            <a:r>
              <a:rPr lang="fr-FR" sz="2400" dirty="0" smtClean="0"/>
              <a:t>.</a:t>
            </a:r>
            <a:endParaRPr sz="2400" dirty="0">
              <a:latin typeface="Calibri"/>
              <a:cs typeface="Calibri"/>
            </a:endParaRPr>
          </a:p>
        </p:txBody>
      </p:sp>
      <p:pic>
        <p:nvPicPr>
          <p:cNvPr id="6" name="Image 5"/>
          <p:cNvPicPr>
            <a:picLocks noChangeAspect="1"/>
          </p:cNvPicPr>
          <p:nvPr/>
        </p:nvPicPr>
        <p:blipFill>
          <a:blip r:embed="rId2"/>
          <a:stretch>
            <a:fillRect/>
          </a:stretch>
        </p:blipFill>
        <p:spPr>
          <a:xfrm>
            <a:off x="2438400" y="2895600"/>
            <a:ext cx="7551488" cy="2257425"/>
          </a:xfrm>
          <a:prstGeom prst="rect">
            <a:avLst/>
          </a:prstGeom>
        </p:spPr>
      </p:pic>
    </p:spTree>
    <p:extLst>
      <p:ext uri="{BB962C8B-B14F-4D97-AF65-F5344CB8AC3E}">
        <p14:creationId xmlns:p14="http://schemas.microsoft.com/office/powerpoint/2010/main" val="139595292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152" rIns="0" bIns="0" rtlCol="0">
            <a:spAutoFit/>
          </a:bodyPr>
          <a:lstStyle/>
          <a:p>
            <a:pPr marL="25400">
              <a:lnSpc>
                <a:spcPct val="100000"/>
              </a:lnSpc>
              <a:spcBef>
                <a:spcPts val="100"/>
              </a:spcBef>
            </a:pPr>
            <a:r>
              <a:rPr dirty="0"/>
              <a:t>Travail</a:t>
            </a:r>
            <a:r>
              <a:rPr spc="-80" dirty="0"/>
              <a:t> </a:t>
            </a:r>
            <a:r>
              <a:rPr dirty="0"/>
              <a:t>à</a:t>
            </a:r>
            <a:r>
              <a:rPr spc="-70" dirty="0"/>
              <a:t> </a:t>
            </a:r>
            <a:r>
              <a:rPr spc="-10" dirty="0"/>
              <a:t>faire</a:t>
            </a:r>
          </a:p>
        </p:txBody>
      </p:sp>
      <p:sp>
        <p:nvSpPr>
          <p:cNvPr id="3" name="object 3"/>
          <p:cNvSpPr txBox="1"/>
          <p:nvPr/>
        </p:nvSpPr>
        <p:spPr>
          <a:xfrm>
            <a:off x="749300" y="1643837"/>
            <a:ext cx="10187940" cy="382156"/>
          </a:xfrm>
          <a:prstGeom prst="rect">
            <a:avLst/>
          </a:prstGeom>
        </p:spPr>
        <p:txBody>
          <a:bodyPr vert="horz" wrap="square" lIns="0" tIns="12700" rIns="0" bIns="0" rtlCol="0">
            <a:spAutoFit/>
          </a:bodyPr>
          <a:lstStyle/>
          <a:p>
            <a:pPr marL="354965" indent="-342265">
              <a:lnSpc>
                <a:spcPct val="100000"/>
              </a:lnSpc>
              <a:spcBef>
                <a:spcPts val="100"/>
              </a:spcBef>
              <a:buFont typeface="Arial MT"/>
              <a:buChar char="•"/>
              <a:tabLst>
                <a:tab pos="354965" algn="l"/>
              </a:tabLst>
            </a:pPr>
            <a:r>
              <a:rPr lang="fr-FR" sz="2400" dirty="0" smtClean="0">
                <a:latin typeface="Calibri"/>
                <a:cs typeface="Calibri"/>
              </a:rPr>
              <a:t>TP1: Git/</a:t>
            </a:r>
            <a:r>
              <a:rPr lang="fr-FR" sz="2400" dirty="0" err="1" smtClean="0">
                <a:latin typeface="Calibri"/>
                <a:cs typeface="Calibri"/>
              </a:rPr>
              <a:t>Github</a:t>
            </a:r>
            <a:r>
              <a:rPr lang="fr-FR" sz="2400" dirty="0" smtClean="0">
                <a:latin typeface="Calibri"/>
                <a:cs typeface="Calibri"/>
              </a:rPr>
              <a:t>: Document Word sera partagé.</a:t>
            </a:r>
            <a:endParaRPr sz="2400" dirty="0">
              <a:latin typeface="Calibri"/>
              <a:cs typeface="Calibri"/>
            </a:endParaRPr>
          </a:p>
        </p:txBody>
      </p:sp>
    </p:spTree>
    <p:extLst>
      <p:ext uri="{BB962C8B-B14F-4D97-AF65-F5344CB8AC3E}">
        <p14:creationId xmlns:p14="http://schemas.microsoft.com/office/powerpoint/2010/main" val="27321275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7315</TotalTime>
  <Words>2366</Words>
  <Application>Microsoft Office PowerPoint</Application>
  <PresentationFormat>Grand écran</PresentationFormat>
  <Paragraphs>230</Paragraphs>
  <Slides>65</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65</vt:i4>
      </vt:variant>
    </vt:vector>
  </HeadingPairs>
  <TitlesOfParts>
    <vt:vector size="71" baseType="lpstr">
      <vt:lpstr>Arial</vt:lpstr>
      <vt:lpstr>Arial MT</vt:lpstr>
      <vt:lpstr>Calibri</vt:lpstr>
      <vt:lpstr>Calibri Light</vt:lpstr>
      <vt:lpstr>Wingdings</vt:lpstr>
      <vt:lpstr>Office Theme</vt:lpstr>
      <vt:lpstr>Présentation PowerPoint</vt:lpstr>
      <vt:lpstr>Effet Tunnel</vt:lpstr>
      <vt:lpstr>Le Mouvement Agile</vt:lpstr>
      <vt:lpstr>De l'Agile vers le DevOps</vt:lpstr>
      <vt:lpstr>La culture DevOps</vt:lpstr>
      <vt:lpstr>Modèle Cascade / Modèle V vs Agile / DevOps</vt:lpstr>
      <vt:lpstr>Présentation PowerPoint</vt:lpstr>
      <vt:lpstr>Présentation PowerPoint</vt:lpstr>
      <vt:lpstr>Présentation PowerPoint</vt:lpstr>
      <vt:lpstr>Présentation PowerPoint</vt:lpstr>
      <vt:lpstr>Présentation PowerPoint</vt:lpstr>
      <vt:lpstr>Plan</vt:lpstr>
      <vt:lpstr>1. L’importance de contrôle de versions</vt:lpstr>
      <vt:lpstr>Motivation</vt:lpstr>
      <vt:lpstr>2. Présentation d’un système de contrôle de versions</vt:lpstr>
      <vt:lpstr>C’est quoi le contrôle de version ?</vt:lpstr>
      <vt:lpstr>Système de contrôle de version - outils</vt:lpstr>
      <vt:lpstr>3. GIT introduction</vt:lpstr>
      <vt:lpstr>GIT c’est quoi</vt:lpstr>
      <vt:lpstr>Github le dépôt distant</vt:lpstr>
      <vt:lpstr>Les composants de GIT</vt:lpstr>
      <vt:lpstr>Comment fonctionne GIT ?</vt:lpstr>
      <vt:lpstr>Installation de WSL: Windows Subsystem for Linux (distribution Ubuntu)</vt:lpstr>
      <vt:lpstr>Installation de GIT sous WSL</vt:lpstr>
      <vt:lpstr>Configuration de GIT sous WSL</vt:lpstr>
      <vt:lpstr>Génération du token sur github</vt:lpstr>
      <vt:lpstr>4. Création d’un repo github</vt:lpstr>
      <vt:lpstr>Introduction git/github</vt:lpstr>
      <vt:lpstr>Introduction git/github</vt:lpstr>
      <vt:lpstr>Création d’un repo sur github</vt:lpstr>
      <vt:lpstr>La structure générale de git</vt:lpstr>
      <vt:lpstr>5. Les Commandes de base git</vt:lpstr>
      <vt:lpstr>Création d’une copie locale du repo</vt:lpstr>
      <vt:lpstr>Création d’une copie locale du repo</vt:lpstr>
      <vt:lpstr>Création d’une copie locale du repo</vt:lpstr>
      <vt:lpstr>Création d’une copie locale du repo</vt:lpstr>
      <vt:lpstr>Création d’une copie locale du repo</vt:lpstr>
      <vt:lpstr>Création d’une copie locale du repo</vt:lpstr>
      <vt:lpstr>Création d’une copie locale du repo</vt:lpstr>
      <vt:lpstr>Création d’une copie locale du repo</vt:lpstr>
      <vt:lpstr>Création d’une copie locale du repo</vt:lpstr>
      <vt:lpstr>5. Les branches et la gestion de conflits</vt:lpstr>
      <vt:lpstr>Le branchement - principe</vt:lpstr>
      <vt:lpstr>La création et le changement de branches</vt:lpstr>
      <vt:lpstr>La création et le changement de branches</vt:lpstr>
      <vt:lpstr>La création et le changement de branches</vt:lpstr>
      <vt:lpstr>La création et le changement de branches</vt:lpstr>
      <vt:lpstr>La création et le changement de branches</vt:lpstr>
      <vt:lpstr>La création et le changement de branches</vt:lpstr>
      <vt:lpstr>La création et le changement de branches</vt:lpstr>
      <vt:lpstr>La Gestion des conflits</vt:lpstr>
      <vt:lpstr>La Gestion des conflits</vt:lpstr>
      <vt:lpstr>La Gestion des conflits</vt:lpstr>
      <vt:lpstr>La Gestion des conflits</vt:lpstr>
      <vt:lpstr>6. Le Pull Request</vt:lpstr>
      <vt:lpstr>Le Pull Request</vt:lpstr>
      <vt:lpstr>Le Pull Request</vt:lpstr>
      <vt:lpstr>Le Pull Request</vt:lpstr>
      <vt:lpstr>Le Pull Request</vt:lpstr>
      <vt:lpstr>7. Commandes git avancées</vt:lpstr>
      <vt:lpstr>Autres commandes git</vt:lpstr>
      <vt:lpstr>Autres commandes git</vt:lpstr>
      <vt:lpstr>Autres commandes git</vt:lpstr>
      <vt:lpstr>Autres commandes git</vt:lpstr>
      <vt:lpstr>Travail à faire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Chapitre 1:  Cloud Cmputing</dc:title>
  <dc:creator>Animateur 82</dc:creator>
  <cp:lastModifiedBy>LENOVO I5</cp:lastModifiedBy>
  <cp:revision>88</cp:revision>
  <dcterms:created xsi:type="dcterms:W3CDTF">2025-11-25T23:03:59Z</dcterms:created>
  <dcterms:modified xsi:type="dcterms:W3CDTF">2025-12-17T21:12:26Z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2025-10-03T00:00:00Z</vt:filetime>
  </property>
  <property fmtid="{D5CDD505-2E9C-101B-9397-08002B2CF9AE}" pid="3" name="Creator">
    <vt:lpwstr>Microsoft® PowerPoint® LTSC</vt:lpwstr>
  </property>
  <property fmtid="{D5CDD505-2E9C-101B-9397-08002B2CF9AE}" pid="4" name="LastSaved">
    <vt:filetime>2025-11-25T00:00:00Z</vt:filetime>
  </property>
  <property fmtid="{D5CDD505-2E9C-101B-9397-08002B2CF9AE}" pid="5" name="Producer">
    <vt:lpwstr>Microsoft® PowerPoint® LTSC</vt:lpwstr>
  </property>
</Properties>
</file>